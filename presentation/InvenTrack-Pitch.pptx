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Biz 404 Found jamoasimiz. Bugun sizga InvenTrack — tashkilotdagi kompyuter va texnik vositalarni elektron hisobga olish tizimini taqdim etamiz. Shiorimiz: har bir jihoz hisobda, har bir o'zgarish tarixda.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Ko'pchilik tashkilotlarda jihozlar qog'oz yoki Excel'da yuritiladi. Natijada ma'lumot eskiradi, texnika yo'qoladi, inventarizatsiya esa juda ko'p vaqt oladi.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Maqsadimiz — jihozlarni bitta web-tizimda hisobga olish. Yechim: yagona baza, avtomatik inventar raqam, to'liq tarix va tez hisobot.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Funksiyalarni to'rt guruhga ajratdik: hisobga olish, joylashuv va mas'ul, holat va ta'mir, tarix va hisobot.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 yettita asosiy jihoz turini qo'llab-quvvatlaydi. Administrator istalgan vaqtda yangi tur qo'sha oladi.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Jarayon: foydalanuvchi kiradi, jihoz qo'shiladi va avtomatik raqam oladi, xona va mas'ulga biriktiriladi, holati yangilanadi, oxirida hisobot olinadi. Har bir qadam tarixga yoziladi.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ilovaning haqiqiy skrinshotlari: dashboard, jihozlar ro'yxati, jihoz kartochkasi QR-kod va tarix bilan, hamda qo'shish formasi. Ma'lumotlar sinov uchun.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bitta jihozning tarixi: kim, qachon, nima o'zgargani yozilgan. Misol uchun sinov ma'lumotlari ishlatilgan. Tarix yozuvlari o'zgartirilmaydi.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Tizimga AI yordamchi qo'shiladi: foydalanuvchi oddiy o'zbek tilida savol beradi, masalan qaysi bo'limda nosoz jihoz ko'p. Agent faqat oldindan belgilangan xavfsiz asboblarni chaqiradi, bazani o'zgartira olmaydi va foydalanuvchi roliga ko'ra ma'lumot oladi. Model OpenRouter orqali bepul modellar zanjiri bilan ishlaydi, biri javob bermasa keyingisi ishga tushadi.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Uch rol: Administrator hamma narsani boshqaradi, Mas'ul shaxs o'z jihozlarini yangilaydi, Xodim faqat ko'ra oladi. Ruxsatlar serverda tekshiriladi.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Xavfsizlik bo'yicha: parollar bcrypt bilan hashlanadi; JWT qisqa muddatli; ruxsatlar frontendda emas, serverda tekshiriladi; barcha kirish ma'lumotlari Zod bilan tekshiriladi, Prisma parametrlangan so'rovlar ishlatadi; Helmet, CORS va login urinishlari cheklanadi; barcha o'zgarishlar tarixga yoziladi; kalitlar kodda emas, .env faylida.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Frontend React va TypeScript, backend Node.js va Express, ma'lumotlar bazasi PostgreSQL, Prisma ORM orqali. Markazda equipment jadvali, unga turlar, xonalar, ta'mirlar va tarix bog'langan.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Hisobotni xona, bo'lim, tur va holat bo'yicha filtrlash mumkin. Natija Excel yoki PDF'ga yuklanadi, chop etishga qulay ko'rinishi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Natijada tashkilot jihozlarining yagona, xavfsiz va yangilanib turadigan hisobi paydo bo'ladi. Kelajakda QR skaner, bildirishnomalar va mobil ilova qo'shishni rejalashtirganmiz.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Jamoamiz 404 Found: dasturlash, dizayn va ma'lumotlar bo'yicha mutaxassislar. Biz tizimni pilot sifatida bitta bo'limda sinab ko'rishga tayyormiz.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beramiz.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6309360" y="-1097280"/>
            <a:ext cx="4206240" cy="4206240"/>
          </a:xfrm>
          <a:prstGeom prst="ellipse">
            <a:avLst/>
          </a:prstGeom>
          <a:solidFill>
            <a:srgbClr val="0E7C86"/>
          </a:solidFill>
          <a:ln w="12700">
            <a:solidFill>
              <a:srgbClr val="0E7C86"/>
            </a:solidFill>
            <a:prstDash val="solid"/>
          </a:ln>
        </p:spPr>
      </p:sp>
      <p:sp>
        <p:nvSpPr>
          <p:cNvPr id="3" name="Shape 1"/>
          <p:cNvSpPr/>
          <p:nvPr/>
        </p:nvSpPr>
        <p:spPr>
          <a:xfrm>
            <a:off x="7223760" y="2560320"/>
            <a:ext cx="2743200" cy="2743200"/>
          </a:xfrm>
          <a:prstGeom prst="ellipse">
            <a:avLst/>
          </a:prstGeom>
          <a:solidFill>
            <a:srgbClr val="14A3A8"/>
          </a:solidFill>
          <a:ln w="12700">
            <a:solidFill>
              <a:srgbClr val="14A3A8"/>
            </a:solidFill>
            <a:prstDash val="solid"/>
          </a:ln>
        </p:spPr>
      </p:sp>
      <p:sp>
        <p:nvSpPr>
          <p:cNvPr id="4" name="Shape 2"/>
          <p:cNvSpPr/>
          <p:nvPr/>
        </p:nvSpPr>
        <p:spPr>
          <a:xfrm>
            <a:off x="640080" y="640080"/>
            <a:ext cx="822960" cy="822960"/>
          </a:xfrm>
          <a:prstGeom prst="ellipse">
            <a:avLst/>
          </a:prstGeom>
          <a:solidFill>
            <a:srgbClr val="F2A541"/>
          </a:solidFill>
          <a:ln w="12700">
            <a:solidFill>
              <a:srgbClr val="F2A541"/>
            </a:solidFill>
            <a:prstDash val="solid"/>
          </a:ln>
        </p:spPr>
      </p:sp>
      <p:pic>
        <p:nvPicPr>
          <p:cNvPr id="5" name="Image 0" descr="preencoded.png">    </p:cNvPr>
          <p:cNvPicPr>
            <a:picLocks noChangeAspect="1"/>
          </p:cNvPicPr>
          <p:nvPr/>
        </p:nvPicPr>
        <p:blipFill>
          <a:blip r:embed="rId1"/>
          <a:stretch>
            <a:fillRect/>
          </a:stretch>
        </p:blipFill>
        <p:spPr>
          <a:xfrm>
            <a:off x="845820" y="845820"/>
            <a:ext cx="411480" cy="411480"/>
          </a:xfrm>
          <a:prstGeom prst="rect">
            <a:avLst/>
          </a:prstGeom>
        </p:spPr>
      </p:pic>
      <p:sp>
        <p:nvSpPr>
          <p:cNvPr id="6" name="Text 3"/>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InvenTrack</a:t>
            </a:r>
            <a:endParaRPr lang="en-US" sz="6000" dirty="0"/>
          </a:p>
        </p:txBody>
      </p:sp>
      <p:sp>
        <p:nvSpPr>
          <p:cNvPr id="7" name="Text 4"/>
          <p:cNvSpPr txBox="1"/>
          <p:nvPr/>
        </p:nvSpPr>
        <p:spPr>
          <a:xfrm>
            <a:off x="640080" y="2651760"/>
            <a:ext cx="6400800" cy="548640"/>
          </a:xfrm>
          <a:prstGeom prst="rect">
            <a:avLst/>
          </a:prstGeom>
          <a:noFill/>
          <a:ln/>
        </p:spPr>
        <p:txBody>
          <a:bodyPr wrap="square" lIns="0" tIns="0" rIns="0" bIns="0" rtlCol="0" anchor="ctr"/>
          <a:lstStyle/>
          <a:p>
            <a:pPr indent="0" marL="0">
              <a:buNone/>
            </a:pPr>
            <a:r>
              <a:rPr lang="en-US" sz="2200" i="1" dirty="0">
                <a:solidFill>
                  <a:srgbClr val="BFE6E4"/>
                </a:solidFill>
                <a:latin typeface="Calibri" pitchFamily="34" charset="0"/>
                <a:ea typeface="Calibri" pitchFamily="34" charset="-122"/>
                <a:cs typeface="Calibri" pitchFamily="34" charset="-120"/>
              </a:rPr>
              <a:t>Har bir jihoz hisobda, har bir o'zgarish tarixda.</a:t>
            </a:r>
            <a:endParaRPr lang="en-US" sz="2200" dirty="0"/>
          </a:p>
        </p:txBody>
      </p:sp>
      <p:sp>
        <p:nvSpPr>
          <p:cNvPr id="8" name="Text 5"/>
          <p:cNvSpPr txBox="1"/>
          <p:nvPr/>
        </p:nvSpPr>
        <p:spPr>
          <a:xfrm>
            <a:off x="640080" y="384048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Jamoa: 404 Found</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A'zo 1  ·  A'zo 2  ·  A'zo 3  ·  A'zo 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Muammo</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C8553D"/>
          </a:solidFill>
          <a:ln w="12700">
            <a:solidFill>
              <a:srgbClr val="C8553D"/>
            </a:solidFill>
            <a:prstDash val="solid"/>
          </a:ln>
        </p:spPr>
      </p:sp>
      <p:pic>
        <p:nvPicPr>
          <p:cNvPr id="5" name="Image 0" descr="preencoded.png">    </p:cNvPr>
          <p:cNvPicPr>
            <a:picLocks noChangeAspect="1"/>
          </p:cNvPicPr>
          <p:nvPr/>
        </p:nvPicPr>
        <p:blipFill>
          <a:blip r:embed="rId1"/>
          <a:stretch>
            <a:fillRect/>
          </a:stretch>
        </p:blipFill>
        <p:spPr>
          <a:xfrm>
            <a:off x="982980" y="1897380"/>
            <a:ext cx="411480" cy="411480"/>
          </a:xfrm>
          <a:prstGeom prst="rect">
            <a:avLst/>
          </a:prstGeom>
        </p:spPr>
      </p:pic>
      <p:sp>
        <p:nvSpPr>
          <p:cNvPr id="6" name="Text 3"/>
          <p:cNvSpPr txBox="1"/>
          <p:nvPr/>
        </p:nvSpPr>
        <p:spPr>
          <a:xfrm>
            <a:off x="1828800" y="169164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Qog'oz va Excel</a:t>
            </a:r>
            <a:endParaRPr lang="en-US" sz="2000" dirty="0"/>
          </a:p>
        </p:txBody>
      </p:sp>
      <p:sp>
        <p:nvSpPr>
          <p:cNvPr id="7" name="Text 4"/>
          <p:cNvSpPr txBox="1"/>
          <p:nvPr/>
        </p:nvSpPr>
        <p:spPr>
          <a:xfrm>
            <a:off x="1828800" y="214884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Hisob tarqoq fayllarda yuritiladi</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C8553D"/>
          </a:solidFill>
          <a:ln w="12700">
            <a:solidFill>
              <a:srgbClr val="C8553D"/>
            </a:solidFill>
            <a:prstDash val="solid"/>
          </a:ln>
        </p:spPr>
      </p:sp>
      <p:pic>
        <p:nvPicPr>
          <p:cNvPr id="10" name="Image 1" descr="preencoded.png">    </p:cNvPr>
          <p:cNvPicPr>
            <a:picLocks noChangeAspect="1"/>
          </p:cNvPicPr>
          <p:nvPr/>
        </p:nvPicPr>
        <p:blipFill>
          <a:blip r:embed="rId2"/>
          <a:stretch>
            <a:fillRect/>
          </a:stretch>
        </p:blipFill>
        <p:spPr>
          <a:xfrm>
            <a:off x="5097780" y="1897380"/>
            <a:ext cx="411480" cy="411480"/>
          </a:xfrm>
          <a:prstGeom prst="rect">
            <a:avLst/>
          </a:prstGeom>
        </p:spPr>
      </p:pic>
      <p:sp>
        <p:nvSpPr>
          <p:cNvPr id="11" name="Text 7"/>
          <p:cNvSpPr txBox="1"/>
          <p:nvPr/>
        </p:nvSpPr>
        <p:spPr>
          <a:xfrm>
            <a:off x="5943600" y="169164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Eskirgan ma'lumot</a:t>
            </a:r>
            <a:endParaRPr lang="en-US" sz="2000" dirty="0"/>
          </a:p>
        </p:txBody>
      </p:sp>
      <p:sp>
        <p:nvSpPr>
          <p:cNvPr id="12" name="Text 8"/>
          <p:cNvSpPr txBox="1"/>
          <p:nvPr/>
        </p:nvSpPr>
        <p:spPr>
          <a:xfrm>
            <a:off x="5943600" y="214884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Kim, qayerda — noma'lum</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C8553D"/>
          </a:solidFill>
          <a:ln w="12700">
            <a:solidFill>
              <a:srgbClr val="C8553D"/>
            </a:solidFill>
            <a:prstDash val="solid"/>
          </a:ln>
        </p:spPr>
      </p:sp>
      <p:pic>
        <p:nvPicPr>
          <p:cNvPr id="15" name="Image 2" descr="preencoded.png">    </p:cNvPr>
          <p:cNvPicPr>
            <a:picLocks noChangeAspect="1"/>
          </p:cNvPicPr>
          <p:nvPr/>
        </p:nvPicPr>
        <p:blipFill>
          <a:blip r:embed="rId3"/>
          <a:stretch>
            <a:fillRect/>
          </a:stretch>
        </p:blipFill>
        <p:spPr>
          <a:xfrm>
            <a:off x="982980" y="3634740"/>
            <a:ext cx="411480" cy="411480"/>
          </a:xfrm>
          <a:prstGeom prst="rect">
            <a:avLst/>
          </a:prstGeom>
        </p:spPr>
      </p:pic>
      <p:sp>
        <p:nvSpPr>
          <p:cNvPr id="16" name="Text 11"/>
          <p:cNvSpPr txBox="1"/>
          <p:nvPr/>
        </p:nvSpPr>
        <p:spPr>
          <a:xfrm>
            <a:off x="1828800" y="342900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Yo'qolgan texnika</a:t>
            </a:r>
            <a:endParaRPr lang="en-US" sz="2000" dirty="0"/>
          </a:p>
        </p:txBody>
      </p:sp>
      <p:sp>
        <p:nvSpPr>
          <p:cNvPr id="17" name="Text 12"/>
          <p:cNvSpPr txBox="1"/>
          <p:nvPr/>
        </p:nvSpPr>
        <p:spPr>
          <a:xfrm>
            <a:off x="1828800" y="388620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Jihozni topish qiyin</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C8553D"/>
          </a:solidFill>
          <a:ln w="12700">
            <a:solidFill>
              <a:srgbClr val="C8553D"/>
            </a:solidFill>
            <a:prstDash val="solid"/>
          </a:ln>
        </p:spPr>
      </p:sp>
      <p:pic>
        <p:nvPicPr>
          <p:cNvPr id="20" name="Image 3" descr="preencoded.png">    </p:cNvPr>
          <p:cNvPicPr>
            <a:picLocks noChangeAspect="1"/>
          </p:cNvPicPr>
          <p:nvPr/>
        </p:nvPicPr>
        <p:blipFill>
          <a:blip r:embed="rId4"/>
          <a:stretch>
            <a:fillRect/>
          </a:stretch>
        </p:blipFill>
        <p:spPr>
          <a:xfrm>
            <a:off x="5097780" y="3634740"/>
            <a:ext cx="411480" cy="411480"/>
          </a:xfrm>
          <a:prstGeom prst="rect">
            <a:avLst/>
          </a:prstGeom>
        </p:spPr>
      </p:pic>
      <p:sp>
        <p:nvSpPr>
          <p:cNvPr id="21" name="Text 15"/>
          <p:cNvSpPr txBox="1"/>
          <p:nvPr/>
        </p:nvSpPr>
        <p:spPr>
          <a:xfrm>
            <a:off x="5943600" y="342900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Uzoq inventarizatsiya</a:t>
            </a:r>
            <a:endParaRPr lang="en-US" sz="2000" dirty="0"/>
          </a:p>
        </p:txBody>
      </p:sp>
      <p:sp>
        <p:nvSpPr>
          <p:cNvPr id="22" name="Text 16"/>
          <p:cNvSpPr txBox="1"/>
          <p:nvPr/>
        </p:nvSpPr>
        <p:spPr>
          <a:xfrm>
            <a:off x="5943600" y="388620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Haftalab qo'lda sanash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Maqsad va yechim</a:t>
            </a:r>
            <a:endParaRPr lang="en-US" sz="3600" dirty="0"/>
          </a:p>
        </p:txBody>
      </p:sp>
      <p:sp>
        <p:nvSpPr>
          <p:cNvPr id="3" name="Shape 1"/>
          <p:cNvSpPr/>
          <p:nvPr/>
        </p:nvSpPr>
        <p:spPr>
          <a:xfrm>
            <a:off x="548640" y="1371600"/>
            <a:ext cx="3840480" cy="2926080"/>
          </a:xfrm>
          <a:prstGeom prst="roundRect">
            <a:avLst>
              <a:gd name="adj" fmla="val 3750"/>
            </a:avLst>
          </a:prstGeom>
          <a:solidFill>
            <a:srgbClr val="F6E3DE"/>
          </a:solidFill>
          <a:ln w="12700">
            <a:solidFill>
              <a:srgbClr val="F6E3DE"/>
            </a:solidFill>
            <a:prstDash val="solid"/>
          </a:ln>
        </p:spPr>
      </p:sp>
      <p:sp>
        <p:nvSpPr>
          <p:cNvPr id="4" name="Shape 2"/>
          <p:cNvSpPr/>
          <p:nvPr/>
        </p:nvSpPr>
        <p:spPr>
          <a:xfrm>
            <a:off x="4754880" y="1371600"/>
            <a:ext cx="3840480" cy="2926080"/>
          </a:xfrm>
          <a:prstGeom prst="roundRect">
            <a:avLst>
              <a:gd name="adj" fmla="val 3750"/>
            </a:avLst>
          </a:prstGeom>
          <a:solidFill>
            <a:srgbClr val="E8F4F3"/>
          </a:solidFill>
          <a:ln w="12700">
            <a:solidFill>
              <a:srgbClr val="E8F4F3"/>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indent="0" marL="0">
              <a:buNone/>
            </a:pPr>
            <a:r>
              <a:rPr lang="en-US" sz="2200" b="1" dirty="0">
                <a:solidFill>
                  <a:srgbClr val="C8553D"/>
                </a:solidFill>
                <a:latin typeface="Calibri" pitchFamily="34" charset="0"/>
                <a:ea typeface="Calibri" pitchFamily="34" charset="-122"/>
                <a:cs typeface="Calibri" pitchFamily="34" charset="-120"/>
              </a:rPr>
              <a:t>Maqsad</a:t>
            </a:r>
            <a:endParaRPr lang="en-US" sz="2200" dirty="0"/>
          </a:p>
        </p:txBody>
      </p:sp>
      <p:sp>
        <p:nvSpPr>
          <p:cNvPr id="6" name="Text 4"/>
          <p:cNvSpPr txBox="1"/>
          <p:nvPr/>
        </p:nvSpPr>
        <p:spPr>
          <a:xfrm>
            <a:off x="822960" y="2103120"/>
            <a:ext cx="3291840" cy="1463040"/>
          </a:xfrm>
          <a:prstGeom prst="rect">
            <a:avLst/>
          </a:prstGeom>
          <a:noFill/>
          <a:ln/>
        </p:spPr>
        <p:txBody>
          <a:bodyPr wrap="square" lIns="0" tIns="0" rIns="0" bIns="0" rtlCol="0" anchor="ctr"/>
          <a:lstStyle/>
          <a:p>
            <a:pPr indent="0" marL="0">
              <a:buNone/>
            </a:pPr>
            <a:r>
              <a:rPr lang="en-US" sz="2000" dirty="0">
                <a:solidFill>
                  <a:srgbClr val="1B2B34"/>
                </a:solidFill>
                <a:latin typeface="Calibri" pitchFamily="34" charset="0"/>
                <a:ea typeface="Calibri" pitchFamily="34" charset="-122"/>
                <a:cs typeface="Calibri" pitchFamily="34" charset="-120"/>
              </a:rPr>
              <a:t>Jihozlarni elektron hisobga olish web-tizimini yaratish</a:t>
            </a:r>
            <a:endParaRPr lang="en-US" sz="20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indent="0" marL="0">
              <a:buNone/>
            </a:pPr>
            <a:r>
              <a:rPr lang="en-US" sz="2200" b="1" dirty="0">
                <a:solidFill>
                  <a:srgbClr val="0E7C86"/>
                </a:solidFill>
                <a:latin typeface="Calibri" pitchFamily="34" charset="0"/>
                <a:ea typeface="Calibri" pitchFamily="34" charset="-122"/>
                <a:cs typeface="Calibri" pitchFamily="34" charset="-120"/>
              </a:rPr>
              <a:t>Yechim</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baza</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Avtomatik inventar raqam</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o'zgarishlar tarixi</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Bir tugmada hisobot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Asosiy funksiyalar</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0E7C86"/>
          </a:solidFill>
          <a:ln w="12700">
            <a:solidFill>
              <a:srgbClr val="0E7C86"/>
            </a:solidFill>
            <a:prstDash val="solid"/>
          </a:ln>
        </p:spPr>
      </p:sp>
      <p:pic>
        <p:nvPicPr>
          <p:cNvPr id="5" name="Image 0" descr="preencoded.png">    </p:cNvPr>
          <p:cNvPicPr>
            <a:picLocks noChangeAspect="1"/>
          </p:cNvPicPr>
          <p:nvPr/>
        </p:nvPicPr>
        <p:blipFill>
          <a:blip r:embed="rId1"/>
          <a:stretch>
            <a:fillRect/>
          </a:stretch>
        </p:blipFill>
        <p:spPr>
          <a:xfrm>
            <a:off x="982980" y="1897380"/>
            <a:ext cx="411480" cy="411480"/>
          </a:xfrm>
          <a:prstGeom prst="rect">
            <a:avLst/>
          </a:prstGeom>
        </p:spPr>
      </p:pic>
      <p:sp>
        <p:nvSpPr>
          <p:cNvPr id="6" name="Text 3"/>
          <p:cNvSpPr txBox="1"/>
          <p:nvPr/>
        </p:nvSpPr>
        <p:spPr>
          <a:xfrm>
            <a:off x="1828800" y="164592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Hisobga olish</a:t>
            </a:r>
            <a:endParaRPr lang="en-US" sz="2000" dirty="0"/>
          </a:p>
        </p:txBody>
      </p:sp>
      <p:sp>
        <p:nvSpPr>
          <p:cNvPr id="7" name="Text 4"/>
          <p:cNvSpPr txBox="1"/>
          <p:nvPr/>
        </p:nvSpPr>
        <p:spPr>
          <a:xfrm>
            <a:off x="1828800" y="210312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Qo'shish, tahrirlash, arxivlash, INV-2026-0001</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5097780" y="1897380"/>
            <a:ext cx="411480" cy="411480"/>
          </a:xfrm>
          <a:prstGeom prst="rect">
            <a:avLst/>
          </a:prstGeom>
        </p:spPr>
      </p:pic>
      <p:sp>
        <p:nvSpPr>
          <p:cNvPr id="11" name="Text 7"/>
          <p:cNvSpPr txBox="1"/>
          <p:nvPr/>
        </p:nvSpPr>
        <p:spPr>
          <a:xfrm>
            <a:off x="5943600" y="164592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Joylashuv va mas'ul</a:t>
            </a:r>
            <a:endParaRPr lang="en-US" sz="2000" dirty="0"/>
          </a:p>
        </p:txBody>
      </p:sp>
      <p:sp>
        <p:nvSpPr>
          <p:cNvPr id="12" name="Text 8"/>
          <p:cNvSpPr txBox="1"/>
          <p:nvPr/>
        </p:nvSpPr>
        <p:spPr>
          <a:xfrm>
            <a:off x="5943600" y="210312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Xona, bo'lim, mas'ul shaxs</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0E7C86"/>
          </a:solidFill>
          <a:ln w="12700">
            <a:solidFill>
              <a:srgbClr val="0E7C86"/>
            </a:solidFill>
            <a:prstDash val="solid"/>
          </a:ln>
        </p:spPr>
      </p:sp>
      <p:pic>
        <p:nvPicPr>
          <p:cNvPr id="15" name="Image 2" descr="preencoded.png">    </p:cNvPr>
          <p:cNvPicPr>
            <a:picLocks noChangeAspect="1"/>
          </p:cNvPicPr>
          <p:nvPr/>
        </p:nvPicPr>
        <p:blipFill>
          <a:blip r:embed="rId3"/>
          <a:stretch>
            <a:fillRect/>
          </a:stretch>
        </p:blipFill>
        <p:spPr>
          <a:xfrm>
            <a:off x="982980" y="3634740"/>
            <a:ext cx="411480" cy="411480"/>
          </a:xfrm>
          <a:prstGeom prst="rect">
            <a:avLst/>
          </a:prstGeom>
        </p:spPr>
      </p:pic>
      <p:sp>
        <p:nvSpPr>
          <p:cNvPr id="16" name="Text 11"/>
          <p:cNvSpPr txBox="1"/>
          <p:nvPr/>
        </p:nvSpPr>
        <p:spPr>
          <a:xfrm>
            <a:off x="1828800" y="338328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Holat va ta'mir</a:t>
            </a:r>
            <a:endParaRPr lang="en-US" sz="2000" dirty="0"/>
          </a:p>
        </p:txBody>
      </p:sp>
      <p:sp>
        <p:nvSpPr>
          <p:cNvPr id="17" name="Text 12"/>
          <p:cNvSpPr txBox="1"/>
          <p:nvPr/>
        </p:nvSpPr>
        <p:spPr>
          <a:xfrm>
            <a:off x="1828800" y="384048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Texnik holat, ta'mir qaydlari</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5097780" y="3634740"/>
            <a:ext cx="411480" cy="411480"/>
          </a:xfrm>
          <a:prstGeom prst="rect">
            <a:avLst/>
          </a:prstGeom>
        </p:spPr>
      </p:pic>
      <p:sp>
        <p:nvSpPr>
          <p:cNvPr id="21" name="Text 15"/>
          <p:cNvSpPr txBox="1"/>
          <p:nvPr/>
        </p:nvSpPr>
        <p:spPr>
          <a:xfrm>
            <a:off x="5943600" y="338328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Tarix va hisobot</a:t>
            </a:r>
            <a:endParaRPr lang="en-US" sz="2000" dirty="0"/>
          </a:p>
        </p:txBody>
      </p:sp>
      <p:sp>
        <p:nvSpPr>
          <p:cNvPr id="22" name="Text 16"/>
          <p:cNvSpPr txBox="1"/>
          <p:nvPr/>
        </p:nvSpPr>
        <p:spPr>
          <a:xfrm>
            <a:off x="5943600" y="384048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Timeline, Excel/PDF, QR-kod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Hisobga olinadigan jihozlar</a:t>
            </a:r>
            <a:endParaRPr lang="en-US" sz="3600" dirty="0"/>
          </a:p>
        </p:txBody>
      </p:sp>
      <p:sp>
        <p:nvSpPr>
          <p:cNvPr id="3" name="Shape 1"/>
          <p:cNvSpPr/>
          <p:nvPr/>
        </p:nvSpPr>
        <p:spPr>
          <a:xfrm>
            <a:off x="1143000" y="1463040"/>
            <a:ext cx="914400" cy="914400"/>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1371600" y="1691640"/>
            <a:ext cx="457200" cy="457200"/>
          </a:xfrm>
          <a:prstGeom prst="rect">
            <a:avLst/>
          </a:prstGeom>
        </p:spPr>
      </p:pic>
      <p:sp>
        <p:nvSpPr>
          <p:cNvPr id="5" name="Text 2"/>
          <p:cNvSpPr txBox="1"/>
          <p:nvPr/>
        </p:nvSpPr>
        <p:spPr>
          <a:xfrm>
            <a:off x="73152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Kompyuter</a:t>
            </a:r>
            <a:endParaRPr lang="en-US" sz="1600" dirty="0"/>
          </a:p>
        </p:txBody>
      </p:sp>
      <p:sp>
        <p:nvSpPr>
          <p:cNvPr id="6" name="Shape 3"/>
          <p:cNvSpPr/>
          <p:nvPr/>
        </p:nvSpPr>
        <p:spPr>
          <a:xfrm>
            <a:off x="3154680" y="1463040"/>
            <a:ext cx="914400" cy="914400"/>
          </a:xfrm>
          <a:prstGeom prst="ellipse">
            <a:avLst/>
          </a:prstGeom>
          <a:solidFill>
            <a:srgbClr val="0E7C86"/>
          </a:solidFill>
          <a:ln w="12700">
            <a:solidFill>
              <a:srgbClr val="0E7C86"/>
            </a:solidFill>
            <a:prstDash val="solid"/>
          </a:ln>
        </p:spPr>
      </p:sp>
      <p:pic>
        <p:nvPicPr>
          <p:cNvPr id="7" name="Image 1" descr="preencoded.png">    </p:cNvPr>
          <p:cNvPicPr>
            <a:picLocks noChangeAspect="1"/>
          </p:cNvPicPr>
          <p:nvPr/>
        </p:nvPicPr>
        <p:blipFill>
          <a:blip r:embed="rId2"/>
          <a:stretch>
            <a:fillRect/>
          </a:stretch>
        </p:blipFill>
        <p:spPr>
          <a:xfrm>
            <a:off x="3383280" y="1691640"/>
            <a:ext cx="457200" cy="457200"/>
          </a:xfrm>
          <a:prstGeom prst="rect">
            <a:avLst/>
          </a:prstGeom>
        </p:spPr>
      </p:pic>
      <p:sp>
        <p:nvSpPr>
          <p:cNvPr id="8" name="Text 4"/>
          <p:cNvSpPr txBox="1"/>
          <p:nvPr/>
        </p:nvSpPr>
        <p:spPr>
          <a:xfrm>
            <a:off x="274320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Monitor</a:t>
            </a:r>
            <a:endParaRPr lang="en-US" sz="1600" dirty="0"/>
          </a:p>
        </p:txBody>
      </p:sp>
      <p:sp>
        <p:nvSpPr>
          <p:cNvPr id="9" name="Shape 5"/>
          <p:cNvSpPr/>
          <p:nvPr/>
        </p:nvSpPr>
        <p:spPr>
          <a:xfrm>
            <a:off x="5166360" y="1463040"/>
            <a:ext cx="914400" cy="914400"/>
          </a:xfrm>
          <a:prstGeom prst="ellipse">
            <a:avLst/>
          </a:prstGeom>
          <a:solidFill>
            <a:srgbClr val="0E7C86"/>
          </a:solidFill>
          <a:ln w="12700">
            <a:solidFill>
              <a:srgbClr val="0E7C86"/>
            </a:solidFill>
            <a:prstDash val="solid"/>
          </a:ln>
        </p:spPr>
      </p:sp>
      <p:pic>
        <p:nvPicPr>
          <p:cNvPr id="10" name="Image 2" descr="preencoded.png">    </p:cNvPr>
          <p:cNvPicPr>
            <a:picLocks noChangeAspect="1"/>
          </p:cNvPicPr>
          <p:nvPr/>
        </p:nvPicPr>
        <p:blipFill>
          <a:blip r:embed="rId3"/>
          <a:stretch>
            <a:fillRect/>
          </a:stretch>
        </p:blipFill>
        <p:spPr>
          <a:xfrm>
            <a:off x="5394960" y="1691640"/>
            <a:ext cx="457200" cy="457200"/>
          </a:xfrm>
          <a:prstGeom prst="rect">
            <a:avLst/>
          </a:prstGeom>
        </p:spPr>
      </p:pic>
      <p:sp>
        <p:nvSpPr>
          <p:cNvPr id="11" name="Text 6"/>
          <p:cNvSpPr txBox="1"/>
          <p:nvPr/>
        </p:nvSpPr>
        <p:spPr>
          <a:xfrm>
            <a:off x="475488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Printer</a:t>
            </a:r>
            <a:endParaRPr lang="en-US" sz="1600" dirty="0"/>
          </a:p>
        </p:txBody>
      </p:sp>
      <p:sp>
        <p:nvSpPr>
          <p:cNvPr id="12" name="Shape 7"/>
          <p:cNvSpPr/>
          <p:nvPr/>
        </p:nvSpPr>
        <p:spPr>
          <a:xfrm>
            <a:off x="7178040" y="1463040"/>
            <a:ext cx="914400" cy="914400"/>
          </a:xfrm>
          <a:prstGeom prst="ellipse">
            <a:avLst/>
          </a:prstGeom>
          <a:solidFill>
            <a:srgbClr val="0E7C86"/>
          </a:solidFill>
          <a:ln w="12700">
            <a:solidFill>
              <a:srgbClr val="0E7C86"/>
            </a:solidFill>
            <a:prstDash val="solid"/>
          </a:ln>
        </p:spPr>
      </p:sp>
      <p:pic>
        <p:nvPicPr>
          <p:cNvPr id="13" name="Image 3" descr="preencoded.png">    </p:cNvPr>
          <p:cNvPicPr>
            <a:picLocks noChangeAspect="1"/>
          </p:cNvPicPr>
          <p:nvPr/>
        </p:nvPicPr>
        <p:blipFill>
          <a:blip r:embed="rId4"/>
          <a:stretch>
            <a:fillRect/>
          </a:stretch>
        </p:blipFill>
        <p:spPr>
          <a:xfrm>
            <a:off x="7406640" y="1691640"/>
            <a:ext cx="457200" cy="457200"/>
          </a:xfrm>
          <a:prstGeom prst="rect">
            <a:avLst/>
          </a:prstGeom>
        </p:spPr>
      </p:pic>
      <p:sp>
        <p:nvSpPr>
          <p:cNvPr id="14" name="Text 8"/>
          <p:cNvSpPr txBox="1"/>
          <p:nvPr/>
        </p:nvSpPr>
        <p:spPr>
          <a:xfrm>
            <a:off x="676656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Proyektor</a:t>
            </a:r>
            <a:endParaRPr lang="en-US" sz="1600" dirty="0"/>
          </a:p>
        </p:txBody>
      </p:sp>
      <p:sp>
        <p:nvSpPr>
          <p:cNvPr id="15" name="Shape 9"/>
          <p:cNvSpPr/>
          <p:nvPr/>
        </p:nvSpPr>
        <p:spPr>
          <a:xfrm>
            <a:off x="1143000" y="3017520"/>
            <a:ext cx="914400" cy="914400"/>
          </a:xfrm>
          <a:prstGeom prst="ellipse">
            <a:avLst/>
          </a:prstGeom>
          <a:solidFill>
            <a:srgbClr val="0E7C86"/>
          </a:solidFill>
          <a:ln w="12700">
            <a:solidFill>
              <a:srgbClr val="0E7C86"/>
            </a:solidFill>
            <a:prstDash val="solid"/>
          </a:ln>
        </p:spPr>
      </p:sp>
      <p:pic>
        <p:nvPicPr>
          <p:cNvPr id="16" name="Image 4" descr="preencoded.png">    </p:cNvPr>
          <p:cNvPicPr>
            <a:picLocks noChangeAspect="1"/>
          </p:cNvPicPr>
          <p:nvPr/>
        </p:nvPicPr>
        <p:blipFill>
          <a:blip r:embed="rId5"/>
          <a:stretch>
            <a:fillRect/>
          </a:stretch>
        </p:blipFill>
        <p:spPr>
          <a:xfrm>
            <a:off x="1371600" y="3246120"/>
            <a:ext cx="457200" cy="457200"/>
          </a:xfrm>
          <a:prstGeom prst="rect">
            <a:avLst/>
          </a:prstGeom>
        </p:spPr>
      </p:pic>
      <p:sp>
        <p:nvSpPr>
          <p:cNvPr id="17" name="Text 10"/>
          <p:cNvSpPr txBox="1"/>
          <p:nvPr/>
        </p:nvSpPr>
        <p:spPr>
          <a:xfrm>
            <a:off x="73152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Router</a:t>
            </a:r>
            <a:endParaRPr lang="en-US" sz="1600" dirty="0"/>
          </a:p>
        </p:txBody>
      </p:sp>
      <p:sp>
        <p:nvSpPr>
          <p:cNvPr id="18" name="Shape 11"/>
          <p:cNvSpPr/>
          <p:nvPr/>
        </p:nvSpPr>
        <p:spPr>
          <a:xfrm>
            <a:off x="3154680" y="3017520"/>
            <a:ext cx="914400" cy="914400"/>
          </a:xfrm>
          <a:prstGeom prst="ellipse">
            <a:avLst/>
          </a:prstGeom>
          <a:solidFill>
            <a:srgbClr val="0E7C86"/>
          </a:solidFill>
          <a:ln w="12700">
            <a:solidFill>
              <a:srgbClr val="0E7C86"/>
            </a:solidFill>
            <a:prstDash val="solid"/>
          </a:ln>
        </p:spPr>
      </p:sp>
      <p:pic>
        <p:nvPicPr>
          <p:cNvPr id="19" name="Image 5" descr="preencoded.png">    </p:cNvPr>
          <p:cNvPicPr>
            <a:picLocks noChangeAspect="1"/>
          </p:cNvPicPr>
          <p:nvPr/>
        </p:nvPicPr>
        <p:blipFill>
          <a:blip r:embed="rId6"/>
          <a:stretch>
            <a:fillRect/>
          </a:stretch>
        </p:blipFill>
        <p:spPr>
          <a:xfrm>
            <a:off x="3383280" y="3246120"/>
            <a:ext cx="457200" cy="457200"/>
          </a:xfrm>
          <a:prstGeom prst="rect">
            <a:avLst/>
          </a:prstGeom>
        </p:spPr>
      </p:pic>
      <p:sp>
        <p:nvSpPr>
          <p:cNvPr id="20" name="Text 12"/>
          <p:cNvSpPr txBox="1"/>
          <p:nvPr/>
        </p:nvSpPr>
        <p:spPr>
          <a:xfrm>
            <a:off x="274320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UPS</a:t>
            </a:r>
            <a:endParaRPr lang="en-US" sz="1600" dirty="0"/>
          </a:p>
        </p:txBody>
      </p:sp>
      <p:sp>
        <p:nvSpPr>
          <p:cNvPr id="21" name="Shape 13"/>
          <p:cNvSpPr/>
          <p:nvPr/>
        </p:nvSpPr>
        <p:spPr>
          <a:xfrm>
            <a:off x="5166360" y="3017520"/>
            <a:ext cx="914400" cy="914400"/>
          </a:xfrm>
          <a:prstGeom prst="ellipse">
            <a:avLst/>
          </a:prstGeom>
          <a:solidFill>
            <a:srgbClr val="0E7C86"/>
          </a:solidFill>
          <a:ln w="12700">
            <a:solidFill>
              <a:srgbClr val="0E7C86"/>
            </a:solidFill>
            <a:prstDash val="solid"/>
          </a:ln>
        </p:spPr>
      </p:sp>
      <p:pic>
        <p:nvPicPr>
          <p:cNvPr id="22" name="Image 6" descr="preencoded.png">    </p:cNvPr>
          <p:cNvPicPr>
            <a:picLocks noChangeAspect="1"/>
          </p:cNvPicPr>
          <p:nvPr/>
        </p:nvPicPr>
        <p:blipFill>
          <a:blip r:embed="rId7"/>
          <a:stretch>
            <a:fillRect/>
          </a:stretch>
        </p:blipFill>
        <p:spPr>
          <a:xfrm>
            <a:off x="5394960" y="3246120"/>
            <a:ext cx="457200" cy="457200"/>
          </a:xfrm>
          <a:prstGeom prst="rect">
            <a:avLst/>
          </a:prstGeom>
        </p:spPr>
      </p:pic>
      <p:sp>
        <p:nvSpPr>
          <p:cNvPr id="23" name="Text 14"/>
          <p:cNvSpPr txBox="1"/>
          <p:nvPr/>
        </p:nvSpPr>
        <p:spPr>
          <a:xfrm>
            <a:off x="475488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Noutbuk</a:t>
            </a:r>
            <a:endParaRPr lang="en-US" sz="1600" dirty="0"/>
          </a:p>
        </p:txBody>
      </p:sp>
      <p:sp>
        <p:nvSpPr>
          <p:cNvPr id="24" name="Shape 15"/>
          <p:cNvSpPr/>
          <p:nvPr/>
        </p:nvSpPr>
        <p:spPr>
          <a:xfrm>
            <a:off x="7178040" y="3017520"/>
            <a:ext cx="914400" cy="914400"/>
          </a:xfrm>
          <a:prstGeom prst="ellipse">
            <a:avLst/>
          </a:prstGeom>
          <a:solidFill>
            <a:srgbClr val="F2A541"/>
          </a:solidFill>
          <a:ln w="12700">
            <a:solidFill>
              <a:srgbClr val="F2A541"/>
            </a:solidFill>
            <a:prstDash val="solid"/>
          </a:ln>
        </p:spPr>
      </p:sp>
      <p:pic>
        <p:nvPicPr>
          <p:cNvPr id="25" name="Image 7" descr="preencoded.png">    </p:cNvPr>
          <p:cNvPicPr>
            <a:picLocks noChangeAspect="1"/>
          </p:cNvPicPr>
          <p:nvPr/>
        </p:nvPicPr>
        <p:blipFill>
          <a:blip r:embed="rId8"/>
          <a:stretch>
            <a:fillRect/>
          </a:stretch>
        </p:blipFill>
        <p:spPr>
          <a:xfrm>
            <a:off x="7406640" y="3246120"/>
            <a:ext cx="457200" cy="457200"/>
          </a:xfrm>
          <a:prstGeom prst="rect">
            <a:avLst/>
          </a:prstGeom>
        </p:spPr>
      </p:pic>
      <p:sp>
        <p:nvSpPr>
          <p:cNvPr id="26" name="Text 16"/>
          <p:cNvSpPr txBox="1"/>
          <p:nvPr/>
        </p:nvSpPr>
        <p:spPr>
          <a:xfrm>
            <a:off x="676656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Yangi tur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Tizim ishlash jarayoni</a:t>
            </a:r>
            <a:endParaRPr lang="en-US" sz="3600" dirty="0"/>
          </a:p>
        </p:txBody>
      </p:sp>
      <p:sp>
        <p:nvSpPr>
          <p:cNvPr id="3" name="Shape 1"/>
          <p:cNvSpPr/>
          <p:nvPr/>
        </p:nvSpPr>
        <p:spPr>
          <a:xfrm>
            <a:off x="457200" y="1828800"/>
            <a:ext cx="1645920" cy="1097280"/>
          </a:xfrm>
          <a:prstGeom prst="chevron">
            <a:avLst/>
          </a:prstGeom>
          <a:solidFill>
            <a:srgbClr val="0E7C86"/>
          </a:solidFill>
          <a:ln w="12700">
            <a:solidFill>
              <a:srgbClr val="FFFFFF"/>
            </a:solidFill>
            <a:prstDash val="solid"/>
          </a:ln>
        </p:spPr>
      </p:sp>
      <p:sp>
        <p:nvSpPr>
          <p:cNvPr id="4" name="Text 2"/>
          <p:cNvSpPr txBox="1"/>
          <p:nvPr/>
        </p:nvSpPr>
        <p:spPr>
          <a:xfrm>
            <a:off x="86868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1</a:t>
            </a:r>
            <a:endParaRPr lang="en-US" sz="3000" dirty="0"/>
          </a:p>
        </p:txBody>
      </p:sp>
      <p:sp>
        <p:nvSpPr>
          <p:cNvPr id="5" name="Text 3"/>
          <p:cNvSpPr txBox="1"/>
          <p:nvPr/>
        </p:nvSpPr>
        <p:spPr>
          <a:xfrm>
            <a:off x="45720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Kirish</a:t>
            </a:r>
            <a:endParaRPr lang="en-US" sz="1800" dirty="0"/>
          </a:p>
        </p:txBody>
      </p:sp>
      <p:sp>
        <p:nvSpPr>
          <p:cNvPr id="6" name="Text 4"/>
          <p:cNvSpPr txBox="1"/>
          <p:nvPr/>
        </p:nvSpPr>
        <p:spPr>
          <a:xfrm>
            <a:off x="45720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Login, rol</a:t>
            </a:r>
            <a:endParaRPr lang="en-US" sz="1400" dirty="0"/>
          </a:p>
        </p:txBody>
      </p:sp>
      <p:sp>
        <p:nvSpPr>
          <p:cNvPr id="7" name="Shape 5"/>
          <p:cNvSpPr/>
          <p:nvPr/>
        </p:nvSpPr>
        <p:spPr>
          <a:xfrm>
            <a:off x="2148840" y="1828800"/>
            <a:ext cx="1645920" cy="1097280"/>
          </a:xfrm>
          <a:prstGeom prst="chevron">
            <a:avLst/>
          </a:prstGeom>
          <a:solidFill>
            <a:srgbClr val="14A3A8"/>
          </a:solidFill>
          <a:ln w="12700">
            <a:solidFill>
              <a:srgbClr val="FFFFFF"/>
            </a:solidFill>
            <a:prstDash val="solid"/>
          </a:ln>
        </p:spPr>
      </p:sp>
      <p:sp>
        <p:nvSpPr>
          <p:cNvPr id="8" name="Text 6"/>
          <p:cNvSpPr txBox="1"/>
          <p:nvPr/>
        </p:nvSpPr>
        <p:spPr>
          <a:xfrm>
            <a:off x="256032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2</a:t>
            </a:r>
            <a:endParaRPr lang="en-US" sz="3000" dirty="0"/>
          </a:p>
        </p:txBody>
      </p:sp>
      <p:sp>
        <p:nvSpPr>
          <p:cNvPr id="9" name="Text 7"/>
          <p:cNvSpPr txBox="1"/>
          <p:nvPr/>
        </p:nvSpPr>
        <p:spPr>
          <a:xfrm>
            <a:off x="214884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Qo'shish</a:t>
            </a:r>
            <a:endParaRPr lang="en-US" sz="1800" dirty="0"/>
          </a:p>
        </p:txBody>
      </p:sp>
      <p:sp>
        <p:nvSpPr>
          <p:cNvPr id="10" name="Text 8"/>
          <p:cNvSpPr txBox="1"/>
          <p:nvPr/>
        </p:nvSpPr>
        <p:spPr>
          <a:xfrm>
            <a:off x="214884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INV raqam</a:t>
            </a:r>
            <a:endParaRPr lang="en-US" sz="1400" dirty="0"/>
          </a:p>
        </p:txBody>
      </p:sp>
      <p:sp>
        <p:nvSpPr>
          <p:cNvPr id="11" name="Shape 9"/>
          <p:cNvSpPr/>
          <p:nvPr/>
        </p:nvSpPr>
        <p:spPr>
          <a:xfrm>
            <a:off x="3840480" y="1828800"/>
            <a:ext cx="1645920" cy="1097280"/>
          </a:xfrm>
          <a:prstGeom prst="chevron">
            <a:avLst/>
          </a:prstGeom>
          <a:solidFill>
            <a:srgbClr val="0E7C86"/>
          </a:solidFill>
          <a:ln w="12700">
            <a:solidFill>
              <a:srgbClr val="FFFFFF"/>
            </a:solidFill>
            <a:prstDash val="solid"/>
          </a:ln>
        </p:spPr>
      </p:sp>
      <p:sp>
        <p:nvSpPr>
          <p:cNvPr id="12" name="Text 10"/>
          <p:cNvSpPr txBox="1"/>
          <p:nvPr/>
        </p:nvSpPr>
        <p:spPr>
          <a:xfrm>
            <a:off x="425196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3</a:t>
            </a:r>
            <a:endParaRPr lang="en-US" sz="3000" dirty="0"/>
          </a:p>
        </p:txBody>
      </p:sp>
      <p:sp>
        <p:nvSpPr>
          <p:cNvPr id="13" name="Text 11"/>
          <p:cNvSpPr txBox="1"/>
          <p:nvPr/>
        </p:nvSpPr>
        <p:spPr>
          <a:xfrm>
            <a:off x="384048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Biriktirish</a:t>
            </a:r>
            <a:endParaRPr lang="en-US" sz="1800" dirty="0"/>
          </a:p>
        </p:txBody>
      </p:sp>
      <p:sp>
        <p:nvSpPr>
          <p:cNvPr id="14" name="Text 12"/>
          <p:cNvSpPr txBox="1"/>
          <p:nvPr/>
        </p:nvSpPr>
        <p:spPr>
          <a:xfrm>
            <a:off x="384048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Xona, mas'ul</a:t>
            </a:r>
            <a:endParaRPr lang="en-US" sz="1400" dirty="0"/>
          </a:p>
        </p:txBody>
      </p:sp>
      <p:sp>
        <p:nvSpPr>
          <p:cNvPr id="15" name="Shape 13"/>
          <p:cNvSpPr/>
          <p:nvPr/>
        </p:nvSpPr>
        <p:spPr>
          <a:xfrm>
            <a:off x="5532120" y="1828800"/>
            <a:ext cx="1645920" cy="1097280"/>
          </a:xfrm>
          <a:prstGeom prst="chevron">
            <a:avLst/>
          </a:prstGeom>
          <a:solidFill>
            <a:srgbClr val="14A3A8"/>
          </a:solidFill>
          <a:ln w="12700">
            <a:solidFill>
              <a:srgbClr val="FFFFFF"/>
            </a:solidFill>
            <a:prstDash val="solid"/>
          </a:ln>
        </p:spPr>
      </p:sp>
      <p:sp>
        <p:nvSpPr>
          <p:cNvPr id="16" name="Text 14"/>
          <p:cNvSpPr txBox="1"/>
          <p:nvPr/>
        </p:nvSpPr>
        <p:spPr>
          <a:xfrm>
            <a:off x="594360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4</a:t>
            </a:r>
            <a:endParaRPr lang="en-US" sz="3000" dirty="0"/>
          </a:p>
        </p:txBody>
      </p:sp>
      <p:sp>
        <p:nvSpPr>
          <p:cNvPr id="17" name="Text 15"/>
          <p:cNvSpPr txBox="1"/>
          <p:nvPr/>
        </p:nvSpPr>
        <p:spPr>
          <a:xfrm>
            <a:off x="553212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Yangilash</a:t>
            </a:r>
            <a:endParaRPr lang="en-US" sz="1800" dirty="0"/>
          </a:p>
        </p:txBody>
      </p:sp>
      <p:sp>
        <p:nvSpPr>
          <p:cNvPr id="18" name="Text 16"/>
          <p:cNvSpPr txBox="1"/>
          <p:nvPr/>
        </p:nvSpPr>
        <p:spPr>
          <a:xfrm>
            <a:off x="553212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Holat, ta'mir</a:t>
            </a:r>
            <a:endParaRPr lang="en-US" sz="1400" dirty="0"/>
          </a:p>
        </p:txBody>
      </p:sp>
      <p:sp>
        <p:nvSpPr>
          <p:cNvPr id="19" name="Shape 17"/>
          <p:cNvSpPr/>
          <p:nvPr/>
        </p:nvSpPr>
        <p:spPr>
          <a:xfrm>
            <a:off x="7223760" y="1828800"/>
            <a:ext cx="1645920" cy="1097280"/>
          </a:xfrm>
          <a:prstGeom prst="chevron">
            <a:avLst/>
          </a:prstGeom>
          <a:solidFill>
            <a:srgbClr val="0E7C86"/>
          </a:solidFill>
          <a:ln w="12700">
            <a:solidFill>
              <a:srgbClr val="FFFFFF"/>
            </a:solidFill>
            <a:prstDash val="solid"/>
          </a:ln>
        </p:spPr>
      </p:sp>
      <p:sp>
        <p:nvSpPr>
          <p:cNvPr id="20" name="Text 18"/>
          <p:cNvSpPr txBox="1"/>
          <p:nvPr/>
        </p:nvSpPr>
        <p:spPr>
          <a:xfrm>
            <a:off x="763524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5</a:t>
            </a:r>
            <a:endParaRPr lang="en-US" sz="3000" dirty="0"/>
          </a:p>
        </p:txBody>
      </p:sp>
      <p:sp>
        <p:nvSpPr>
          <p:cNvPr id="21" name="Text 19"/>
          <p:cNvSpPr txBox="1"/>
          <p:nvPr/>
        </p:nvSpPr>
        <p:spPr>
          <a:xfrm>
            <a:off x="722376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Hisobot</a:t>
            </a:r>
            <a:endParaRPr lang="en-US" sz="1800" dirty="0"/>
          </a:p>
        </p:txBody>
      </p:sp>
      <p:sp>
        <p:nvSpPr>
          <p:cNvPr id="22" name="Text 20"/>
          <p:cNvSpPr txBox="1"/>
          <p:nvPr/>
        </p:nvSpPr>
        <p:spPr>
          <a:xfrm>
            <a:off x="722376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Excel / PDF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Demo: asosiy ekranlar</a:t>
            </a:r>
            <a:endParaRPr lang="en-US" sz="3600" dirty="0"/>
          </a:p>
        </p:txBody>
      </p:sp>
      <p:sp>
        <p:nvSpPr>
          <p:cNvPr id="3" name="Shape 1"/>
          <p:cNvSpPr/>
          <p:nvPr/>
        </p:nvSpPr>
        <p:spPr>
          <a:xfrm>
            <a:off x="521208" y="1115568"/>
            <a:ext cx="3895344" cy="1426464"/>
          </a:xfrm>
          <a:prstGeom prst="rect">
            <a:avLst/>
          </a:prstGeom>
          <a:solidFill>
            <a:srgbClr val="B8CED3"/>
          </a:solidFill>
          <a:ln w="12700">
            <a:solidFill>
              <a:srgbClr val="B8CED3"/>
            </a:solidFill>
            <a:prstDash val="solid"/>
          </a:ln>
        </p:spPr>
      </p:sp>
      <p:pic>
        <p:nvPicPr>
          <p:cNvPr id="4" name="Image 0" descr="screenshots/dashboard.png">    </p:cNvPr>
          <p:cNvPicPr>
            <a:picLocks noChangeAspect="1"/>
          </p:cNvPicPr>
          <p:nvPr/>
        </p:nvPicPr>
        <p:blipFill>
          <a:blip r:embed="rId1"/>
          <a:srcRect l="0" r="0" t="0" b="0"/>
          <a:stretch/>
        </p:blipFill>
        <p:spPr>
          <a:xfrm>
            <a:off x="548640" y="1143000"/>
            <a:ext cx="3840480" cy="1371600"/>
          </a:xfrm>
          <a:prstGeom prst="rect">
            <a:avLst/>
          </a:prstGeom>
        </p:spPr>
      </p:pic>
      <p:sp>
        <p:nvSpPr>
          <p:cNvPr id="5" name="Text 2"/>
          <p:cNvSpPr txBox="1"/>
          <p:nvPr/>
        </p:nvSpPr>
        <p:spPr>
          <a:xfrm>
            <a:off x="548640" y="258775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Dashboard</a:t>
            </a:r>
            <a:endParaRPr lang="en-US" sz="1300" dirty="0"/>
          </a:p>
        </p:txBody>
      </p:sp>
      <p:sp>
        <p:nvSpPr>
          <p:cNvPr id="6" name="Shape 3"/>
          <p:cNvSpPr/>
          <p:nvPr/>
        </p:nvSpPr>
        <p:spPr>
          <a:xfrm>
            <a:off x="4636008" y="1115568"/>
            <a:ext cx="3895344" cy="1426464"/>
          </a:xfrm>
          <a:prstGeom prst="rect">
            <a:avLst/>
          </a:prstGeom>
          <a:solidFill>
            <a:srgbClr val="B8CED3"/>
          </a:solidFill>
          <a:ln w="12700">
            <a:solidFill>
              <a:srgbClr val="B8CED3"/>
            </a:solidFill>
            <a:prstDash val="solid"/>
          </a:ln>
        </p:spPr>
      </p:sp>
      <p:pic>
        <p:nvPicPr>
          <p:cNvPr id="7" name="Image 1" descr="screenshots/list.png">    </p:cNvPr>
          <p:cNvPicPr>
            <a:picLocks noChangeAspect="1"/>
          </p:cNvPicPr>
          <p:nvPr/>
        </p:nvPicPr>
        <p:blipFill>
          <a:blip r:embed="rId2"/>
          <a:srcRect l="0" r="0" t="0" b="0"/>
          <a:stretch/>
        </p:blipFill>
        <p:spPr>
          <a:xfrm>
            <a:off x="4663440" y="1143000"/>
            <a:ext cx="3840480" cy="1371600"/>
          </a:xfrm>
          <a:prstGeom prst="rect">
            <a:avLst/>
          </a:prstGeom>
        </p:spPr>
      </p:pic>
      <p:sp>
        <p:nvSpPr>
          <p:cNvPr id="8" name="Text 4"/>
          <p:cNvSpPr txBox="1"/>
          <p:nvPr/>
        </p:nvSpPr>
        <p:spPr>
          <a:xfrm>
            <a:off x="4663440" y="258775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Jihozlar ro'yxati</a:t>
            </a:r>
            <a:endParaRPr lang="en-US" sz="1300" dirty="0"/>
          </a:p>
        </p:txBody>
      </p:sp>
      <p:sp>
        <p:nvSpPr>
          <p:cNvPr id="9" name="Shape 5"/>
          <p:cNvSpPr/>
          <p:nvPr/>
        </p:nvSpPr>
        <p:spPr>
          <a:xfrm>
            <a:off x="521208" y="3035808"/>
            <a:ext cx="3895344" cy="1426464"/>
          </a:xfrm>
          <a:prstGeom prst="rect">
            <a:avLst/>
          </a:prstGeom>
          <a:solidFill>
            <a:srgbClr val="B8CED3"/>
          </a:solidFill>
          <a:ln w="12700">
            <a:solidFill>
              <a:srgbClr val="B8CED3"/>
            </a:solidFill>
            <a:prstDash val="solid"/>
          </a:ln>
        </p:spPr>
      </p:sp>
      <p:pic>
        <p:nvPicPr>
          <p:cNvPr id="10" name="Image 2" descr="screenshots/detail.png">    </p:cNvPr>
          <p:cNvPicPr>
            <a:picLocks noChangeAspect="1"/>
          </p:cNvPicPr>
          <p:nvPr/>
        </p:nvPicPr>
        <p:blipFill>
          <a:blip r:embed="rId3"/>
          <a:srcRect l="0" r="0" t="0" b="0"/>
          <a:stretch/>
        </p:blipFill>
        <p:spPr>
          <a:xfrm>
            <a:off x="548640" y="3063240"/>
            <a:ext cx="3840480" cy="1371600"/>
          </a:xfrm>
          <a:prstGeom prst="rect">
            <a:avLst/>
          </a:prstGeom>
        </p:spPr>
      </p:pic>
      <p:sp>
        <p:nvSpPr>
          <p:cNvPr id="11" name="Text 6"/>
          <p:cNvSpPr txBox="1"/>
          <p:nvPr/>
        </p:nvSpPr>
        <p:spPr>
          <a:xfrm>
            <a:off x="548640" y="450799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Jihoz kartochkasi</a:t>
            </a:r>
            <a:endParaRPr lang="en-US" sz="1300" dirty="0"/>
          </a:p>
        </p:txBody>
      </p:sp>
      <p:sp>
        <p:nvSpPr>
          <p:cNvPr id="12" name="Shape 7"/>
          <p:cNvSpPr/>
          <p:nvPr/>
        </p:nvSpPr>
        <p:spPr>
          <a:xfrm>
            <a:off x="4636008" y="3035808"/>
            <a:ext cx="3895344" cy="1426464"/>
          </a:xfrm>
          <a:prstGeom prst="rect">
            <a:avLst/>
          </a:prstGeom>
          <a:solidFill>
            <a:srgbClr val="B8CED3"/>
          </a:solidFill>
          <a:ln w="12700">
            <a:solidFill>
              <a:srgbClr val="B8CED3"/>
            </a:solidFill>
            <a:prstDash val="solid"/>
          </a:ln>
        </p:spPr>
      </p:sp>
      <p:pic>
        <p:nvPicPr>
          <p:cNvPr id="13" name="Image 3" descr="screenshots/form.png">    </p:cNvPr>
          <p:cNvPicPr>
            <a:picLocks noChangeAspect="1"/>
          </p:cNvPicPr>
          <p:nvPr/>
        </p:nvPicPr>
        <p:blipFill>
          <a:blip r:embed="rId4"/>
          <a:srcRect l="0" r="0" t="0" b="0"/>
          <a:stretch/>
        </p:blipFill>
        <p:spPr>
          <a:xfrm>
            <a:off x="4663440" y="3063240"/>
            <a:ext cx="3840480" cy="1371600"/>
          </a:xfrm>
          <a:prstGeom prst="rect">
            <a:avLst/>
          </a:prstGeom>
        </p:spPr>
      </p:pic>
      <p:sp>
        <p:nvSpPr>
          <p:cNvPr id="14" name="Text 8"/>
          <p:cNvSpPr txBox="1"/>
          <p:nvPr/>
        </p:nvSpPr>
        <p:spPr>
          <a:xfrm>
            <a:off x="4663440" y="450799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Qo'shish formasi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Jihoz tarixi</a:t>
            </a:r>
            <a:endParaRPr lang="en-US" sz="3600" dirty="0"/>
          </a:p>
        </p:txBody>
      </p:sp>
      <p:sp>
        <p:nvSpPr>
          <p:cNvPr id="3" name="Text 1"/>
          <p:cNvSpPr txBox="1"/>
          <p:nvPr/>
        </p:nvSpPr>
        <p:spPr>
          <a:xfrm>
            <a:off x="548640" y="1097280"/>
            <a:ext cx="7315200" cy="365760"/>
          </a:xfrm>
          <a:prstGeom prst="rect">
            <a:avLst/>
          </a:prstGeom>
          <a:noFill/>
          <a:ln/>
        </p:spPr>
        <p:txBody>
          <a:bodyPr wrap="square" lIns="0" tIns="0" rIns="0" bIns="0" rtlCol="0" anchor="ctr"/>
          <a:lstStyle/>
          <a:p>
            <a:pPr indent="0" marL="0">
              <a:buNone/>
            </a:pPr>
            <a:r>
              <a:rPr lang="en-US" sz="1600" dirty="0">
                <a:solidFill>
                  <a:srgbClr val="5E7480"/>
                </a:solidFill>
                <a:latin typeface="Calibri" pitchFamily="34" charset="0"/>
                <a:ea typeface="Calibri" pitchFamily="34" charset="-122"/>
                <a:cs typeface="Calibri" pitchFamily="34" charset="-120"/>
              </a:rPr>
              <a:t>Misol: INV-2026-0007 · Dell OptiPlex</a:t>
            </a:r>
            <a:endParaRPr lang="en-US" sz="1600" dirty="0"/>
          </a:p>
        </p:txBody>
      </p:sp>
      <p:sp>
        <p:nvSpPr>
          <p:cNvPr id="4" name="Shape 2"/>
          <p:cNvSpPr/>
          <p:nvPr/>
        </p:nvSpPr>
        <p:spPr>
          <a:xfrm>
            <a:off x="2743200" y="1645920"/>
            <a:ext cx="0" cy="3017520"/>
          </a:xfrm>
          <a:prstGeom prst="line">
            <a:avLst/>
          </a:prstGeom>
          <a:noFill/>
          <a:ln w="25400">
            <a:solidFill>
              <a:srgbClr val="0E7C86"/>
            </a:solidFill>
            <a:prstDash val="solid"/>
          </a:ln>
        </p:spPr>
      </p:sp>
      <p:sp>
        <p:nvSpPr>
          <p:cNvPr id="5" name="Text 3"/>
          <p:cNvSpPr txBox="1"/>
          <p:nvPr/>
        </p:nvSpPr>
        <p:spPr>
          <a:xfrm>
            <a:off x="548640" y="1600200"/>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12.01.2026</a:t>
            </a:r>
            <a:endParaRPr lang="en-US" sz="1400" dirty="0"/>
          </a:p>
        </p:txBody>
      </p:sp>
      <p:sp>
        <p:nvSpPr>
          <p:cNvPr id="6" name="Shape 4"/>
          <p:cNvSpPr/>
          <p:nvPr/>
        </p:nvSpPr>
        <p:spPr>
          <a:xfrm>
            <a:off x="2651760" y="1691640"/>
            <a:ext cx="182880" cy="182880"/>
          </a:xfrm>
          <a:prstGeom prst="ellipse">
            <a:avLst/>
          </a:prstGeom>
          <a:solidFill>
            <a:srgbClr val="0E7C86"/>
          </a:solidFill>
          <a:ln w="25400">
            <a:solidFill>
              <a:srgbClr val="FFFFFF"/>
            </a:solidFill>
            <a:prstDash val="solid"/>
          </a:ln>
        </p:spPr>
      </p:sp>
      <p:sp>
        <p:nvSpPr>
          <p:cNvPr id="7" name="Text 5"/>
          <p:cNvSpPr txBox="1"/>
          <p:nvPr/>
        </p:nvSpPr>
        <p:spPr>
          <a:xfrm>
            <a:off x="3108960" y="1600200"/>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Jihoz qo'shildi  </a:t>
            </a:r>
            <a:pPr indent="0" marL="0">
              <a:buNone/>
            </a:pPr>
            <a:r>
              <a:rPr lang="en-US" sz="1600" dirty="0">
                <a:solidFill>
                  <a:srgbClr val="5E7480"/>
                </a:solidFill>
                <a:latin typeface="Calibri" pitchFamily="34" charset="0"/>
                <a:ea typeface="Calibri" pitchFamily="34" charset="-122"/>
                <a:cs typeface="Calibri" pitchFamily="34" charset="-120"/>
              </a:rPr>
              <a:t>Yangi · Omborda</a:t>
            </a:r>
            <a:endParaRPr lang="en-US" sz="1600" dirty="0"/>
          </a:p>
        </p:txBody>
      </p:sp>
      <p:sp>
        <p:nvSpPr>
          <p:cNvPr id="8" name="Text 6"/>
          <p:cNvSpPr txBox="1"/>
          <p:nvPr/>
        </p:nvSpPr>
        <p:spPr>
          <a:xfrm>
            <a:off x="548640" y="2221992"/>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03.02.2026</a:t>
            </a:r>
            <a:endParaRPr lang="en-US" sz="1400" dirty="0"/>
          </a:p>
        </p:txBody>
      </p:sp>
      <p:sp>
        <p:nvSpPr>
          <p:cNvPr id="9" name="Shape 7"/>
          <p:cNvSpPr/>
          <p:nvPr/>
        </p:nvSpPr>
        <p:spPr>
          <a:xfrm>
            <a:off x="2651760" y="2313432"/>
            <a:ext cx="182880" cy="182880"/>
          </a:xfrm>
          <a:prstGeom prst="ellipse">
            <a:avLst/>
          </a:prstGeom>
          <a:solidFill>
            <a:srgbClr val="0E7C86"/>
          </a:solidFill>
          <a:ln w="25400">
            <a:solidFill>
              <a:srgbClr val="FFFFFF"/>
            </a:solidFill>
            <a:prstDash val="solid"/>
          </a:ln>
        </p:spPr>
      </p:sp>
      <p:sp>
        <p:nvSpPr>
          <p:cNvPr id="10" name="Text 8"/>
          <p:cNvSpPr txBox="1"/>
          <p:nvPr/>
        </p:nvSpPr>
        <p:spPr>
          <a:xfrm>
            <a:off x="3108960" y="2221992"/>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Ko'chirildi  </a:t>
            </a:r>
            <a:pPr indent="0" marL="0">
              <a:buNone/>
            </a:pPr>
            <a:r>
              <a:rPr lang="en-US" sz="1600" dirty="0">
                <a:solidFill>
                  <a:srgbClr val="5E7480"/>
                </a:solidFill>
                <a:latin typeface="Calibri" pitchFamily="34" charset="0"/>
                <a:ea typeface="Calibri" pitchFamily="34" charset="-122"/>
                <a:cs typeface="Calibri" pitchFamily="34" charset="-120"/>
              </a:rPr>
              <a:t>Ombor → 204-xona</a:t>
            </a:r>
            <a:endParaRPr lang="en-US" sz="1600" dirty="0"/>
          </a:p>
        </p:txBody>
      </p:sp>
      <p:sp>
        <p:nvSpPr>
          <p:cNvPr id="11" name="Text 9"/>
          <p:cNvSpPr txBox="1"/>
          <p:nvPr/>
        </p:nvSpPr>
        <p:spPr>
          <a:xfrm>
            <a:off x="548640" y="2843784"/>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15.05.2026</a:t>
            </a:r>
            <a:endParaRPr lang="en-US" sz="1400" dirty="0"/>
          </a:p>
        </p:txBody>
      </p:sp>
      <p:sp>
        <p:nvSpPr>
          <p:cNvPr id="12" name="Shape 10"/>
          <p:cNvSpPr/>
          <p:nvPr/>
        </p:nvSpPr>
        <p:spPr>
          <a:xfrm>
            <a:off x="2651760" y="2935224"/>
            <a:ext cx="182880" cy="182880"/>
          </a:xfrm>
          <a:prstGeom prst="ellipse">
            <a:avLst/>
          </a:prstGeom>
          <a:solidFill>
            <a:srgbClr val="0E7C86"/>
          </a:solidFill>
          <a:ln w="25400">
            <a:solidFill>
              <a:srgbClr val="FFFFFF"/>
            </a:solidFill>
            <a:prstDash val="solid"/>
          </a:ln>
        </p:spPr>
      </p:sp>
      <p:sp>
        <p:nvSpPr>
          <p:cNvPr id="13" name="Text 11"/>
          <p:cNvSpPr txBox="1"/>
          <p:nvPr/>
        </p:nvSpPr>
        <p:spPr>
          <a:xfrm>
            <a:off x="3108960" y="2843784"/>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Mas'ul o'zgardi  </a:t>
            </a:r>
            <a:pPr indent="0" marL="0">
              <a:buNone/>
            </a:pPr>
            <a:r>
              <a:rPr lang="en-US" sz="1600" dirty="0">
                <a:solidFill>
                  <a:srgbClr val="5E7480"/>
                </a:solidFill>
                <a:latin typeface="Calibri" pitchFamily="34" charset="0"/>
                <a:ea typeface="Calibri" pitchFamily="34" charset="-122"/>
                <a:cs typeface="Calibri" pitchFamily="34" charset="-120"/>
              </a:rPr>
              <a:t>A. Karimov → B. Tosheva</a:t>
            </a:r>
            <a:endParaRPr lang="en-US" sz="1600" dirty="0"/>
          </a:p>
        </p:txBody>
      </p:sp>
      <p:sp>
        <p:nvSpPr>
          <p:cNvPr id="14" name="Text 12"/>
          <p:cNvSpPr txBox="1"/>
          <p:nvPr/>
        </p:nvSpPr>
        <p:spPr>
          <a:xfrm>
            <a:off x="548640" y="3465576"/>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20.08.2026</a:t>
            </a:r>
            <a:endParaRPr lang="en-US" sz="1400" dirty="0"/>
          </a:p>
        </p:txBody>
      </p:sp>
      <p:sp>
        <p:nvSpPr>
          <p:cNvPr id="15" name="Shape 13"/>
          <p:cNvSpPr/>
          <p:nvPr/>
        </p:nvSpPr>
        <p:spPr>
          <a:xfrm>
            <a:off x="2651760" y="3557016"/>
            <a:ext cx="182880" cy="182880"/>
          </a:xfrm>
          <a:prstGeom prst="ellipse">
            <a:avLst/>
          </a:prstGeom>
          <a:solidFill>
            <a:srgbClr val="F2A541"/>
          </a:solidFill>
          <a:ln w="25400">
            <a:solidFill>
              <a:srgbClr val="FFFFFF"/>
            </a:solidFill>
            <a:prstDash val="solid"/>
          </a:ln>
        </p:spPr>
      </p:sp>
      <p:sp>
        <p:nvSpPr>
          <p:cNvPr id="16" name="Text 14"/>
          <p:cNvSpPr txBox="1"/>
          <p:nvPr/>
        </p:nvSpPr>
        <p:spPr>
          <a:xfrm>
            <a:off x="3108960" y="3465576"/>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Ta'mirga yuborildi  </a:t>
            </a:r>
            <a:pPr indent="0" marL="0">
              <a:buNone/>
            </a:pPr>
            <a:r>
              <a:rPr lang="en-US" sz="1600" dirty="0">
                <a:solidFill>
                  <a:srgbClr val="5E7480"/>
                </a:solidFill>
                <a:latin typeface="Calibri" pitchFamily="34" charset="0"/>
                <a:ea typeface="Calibri" pitchFamily="34" charset="-122"/>
                <a:cs typeface="Calibri" pitchFamily="34" charset="-120"/>
              </a:rPr>
              <a:t>Nosoz · Ta'mirda</a:t>
            </a:r>
            <a:endParaRPr lang="en-US" sz="1600" dirty="0"/>
          </a:p>
        </p:txBody>
      </p:sp>
      <p:sp>
        <p:nvSpPr>
          <p:cNvPr id="17" name="Text 15"/>
          <p:cNvSpPr txBox="1"/>
          <p:nvPr/>
        </p:nvSpPr>
        <p:spPr>
          <a:xfrm>
            <a:off x="548640" y="4087368"/>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02.09.2026</a:t>
            </a:r>
            <a:endParaRPr lang="en-US" sz="1400" dirty="0"/>
          </a:p>
        </p:txBody>
      </p:sp>
      <p:sp>
        <p:nvSpPr>
          <p:cNvPr id="18" name="Shape 16"/>
          <p:cNvSpPr/>
          <p:nvPr/>
        </p:nvSpPr>
        <p:spPr>
          <a:xfrm>
            <a:off x="2651760" y="4178808"/>
            <a:ext cx="182880" cy="182880"/>
          </a:xfrm>
          <a:prstGeom prst="ellipse">
            <a:avLst/>
          </a:prstGeom>
          <a:solidFill>
            <a:srgbClr val="0E7C86"/>
          </a:solidFill>
          <a:ln w="25400">
            <a:solidFill>
              <a:srgbClr val="FFFFFF"/>
            </a:solidFill>
            <a:prstDash val="solid"/>
          </a:ln>
        </p:spPr>
      </p:sp>
      <p:sp>
        <p:nvSpPr>
          <p:cNvPr id="19" name="Text 17"/>
          <p:cNvSpPr txBox="1"/>
          <p:nvPr/>
        </p:nvSpPr>
        <p:spPr>
          <a:xfrm>
            <a:off x="3108960" y="4087368"/>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Ta'mirdan qaytdi  </a:t>
            </a:r>
            <a:pPr indent="0" marL="0">
              <a:buNone/>
            </a:pPr>
            <a:r>
              <a:rPr lang="en-US" sz="1600" dirty="0">
                <a:solidFill>
                  <a:srgbClr val="5E7480"/>
                </a:solidFill>
                <a:latin typeface="Calibri" pitchFamily="34" charset="0"/>
                <a:ea typeface="Calibri" pitchFamily="34" charset="-122"/>
                <a:cs typeface="Calibri" pitchFamily="34" charset="-120"/>
              </a:rPr>
              <a:t>Yaxshi · Ishlatilmoqda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AI yordamchi: savol bering, javob oling</a:t>
            </a:r>
            <a:endParaRPr lang="en-US" sz="3600" dirty="0"/>
          </a:p>
        </p:txBody>
      </p:sp>
      <p:sp>
        <p:nvSpPr>
          <p:cNvPr id="3" name="Shape 1"/>
          <p:cNvSpPr/>
          <p:nvPr/>
        </p:nvSpPr>
        <p:spPr>
          <a:xfrm>
            <a:off x="548640" y="1371600"/>
            <a:ext cx="4572000" cy="3108960"/>
          </a:xfrm>
          <a:prstGeom prst="roundRect">
            <a:avLst>
              <a:gd name="adj" fmla="val 3529"/>
            </a:avLst>
          </a:prstGeom>
          <a:solidFill>
            <a:srgbClr val="12505F"/>
          </a:solidFill>
          <a:ln w="12700">
            <a:solidFill>
              <a:srgbClr val="12505F"/>
            </a:solidFill>
            <a:prstDash val="solid"/>
          </a:ln>
        </p:spPr>
      </p:sp>
      <p:sp>
        <p:nvSpPr>
          <p:cNvPr id="4" name="Shape 2"/>
          <p:cNvSpPr/>
          <p:nvPr/>
        </p:nvSpPr>
        <p:spPr>
          <a:xfrm>
            <a:off x="2377440" y="1554480"/>
            <a:ext cx="2560320" cy="548640"/>
          </a:xfrm>
          <a:prstGeom prst="roundRect">
            <a:avLst>
              <a:gd name="adj" fmla="val 25000"/>
            </a:avLst>
          </a:prstGeom>
          <a:solidFill>
            <a:srgbClr val="0E7C86"/>
          </a:solidFill>
          <a:ln w="12700">
            <a:solidFill>
              <a:srgbClr val="0E7C86"/>
            </a:solidFill>
            <a:prstDash val="solid"/>
          </a:ln>
        </p:spPr>
      </p:sp>
      <p:sp>
        <p:nvSpPr>
          <p:cNvPr id="5" name="Text 3"/>
          <p:cNvSpPr txBox="1"/>
          <p:nvPr/>
        </p:nvSpPr>
        <p:spPr>
          <a:xfrm>
            <a:off x="2468880" y="1554480"/>
            <a:ext cx="237744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Qaysi bo'limda eng ko'p nosoz jihoz bor?</a:t>
            </a:r>
            <a:endParaRPr lang="en-US" sz="1300" dirty="0"/>
          </a:p>
        </p:txBody>
      </p:sp>
      <p:sp>
        <p:nvSpPr>
          <p:cNvPr id="6" name="Shape 4"/>
          <p:cNvSpPr/>
          <p:nvPr/>
        </p:nvSpPr>
        <p:spPr>
          <a:xfrm>
            <a:off x="731520" y="2286000"/>
            <a:ext cx="3291840" cy="914400"/>
          </a:xfrm>
          <a:prstGeom prst="roundRect">
            <a:avLst>
              <a:gd name="adj" fmla="val 15000"/>
            </a:avLst>
          </a:prstGeom>
          <a:solidFill>
            <a:srgbClr val="FFFFFF"/>
          </a:solidFill>
          <a:ln w="12700">
            <a:solidFill>
              <a:srgbClr val="FFFFFF"/>
            </a:solidFill>
            <a:prstDash val="solid"/>
          </a:ln>
        </p:spPr>
      </p:sp>
      <p:sp>
        <p:nvSpPr>
          <p:cNvPr id="7" name="Text 5"/>
          <p:cNvSpPr txBox="1"/>
          <p:nvPr/>
        </p:nvSpPr>
        <p:spPr>
          <a:xfrm>
            <a:off x="868680" y="2286000"/>
            <a:ext cx="3017520" cy="914400"/>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Buxgalteriya bo'limida: 4 ta nosoz jihoz, ulardan 3 tasi printer.</a:t>
            </a:r>
            <a:endParaRPr lang="en-US" sz="1300" dirty="0"/>
          </a:p>
        </p:txBody>
      </p:sp>
      <p:sp>
        <p:nvSpPr>
          <p:cNvPr id="8" name="Text 6"/>
          <p:cNvSpPr txBox="1"/>
          <p:nvPr/>
        </p:nvSpPr>
        <p:spPr>
          <a:xfrm>
            <a:off x="731520" y="3977640"/>
            <a:ext cx="4206240" cy="365760"/>
          </a:xfrm>
          <a:prstGeom prst="rect">
            <a:avLst/>
          </a:prstGeom>
          <a:noFill/>
          <a:ln/>
        </p:spPr>
        <p:txBody>
          <a:bodyPr wrap="square" lIns="0" tIns="0" rIns="0" bIns="0" rtlCol="0" anchor="ctr"/>
          <a:lstStyle/>
          <a:p>
            <a:pPr indent="0" marL="0">
              <a:buNone/>
            </a:pPr>
            <a:r>
              <a:rPr lang="en-US" sz="1100" i="1" dirty="0">
                <a:solidFill>
                  <a:srgbClr val="9FC9C7"/>
                </a:solidFill>
                <a:latin typeface="Calibri" pitchFamily="34" charset="0"/>
                <a:ea typeface="Calibri" pitchFamily="34" charset="-122"/>
                <a:cs typeface="Calibri" pitchFamily="34" charset="-120"/>
              </a:rPr>
              <a:t>Namuna savol-javob</a:t>
            </a:r>
            <a:endParaRPr lang="en-US" sz="1100" dirty="0"/>
          </a:p>
        </p:txBody>
      </p:sp>
      <p:sp>
        <p:nvSpPr>
          <p:cNvPr id="9" name="Shape 7"/>
          <p:cNvSpPr/>
          <p:nvPr/>
        </p:nvSpPr>
        <p:spPr>
          <a:xfrm>
            <a:off x="5486400" y="1417320"/>
            <a:ext cx="731520" cy="731520"/>
          </a:xfrm>
          <a:prstGeom prst="ellipse">
            <a:avLst/>
          </a:prstGeom>
          <a:solidFill>
            <a:srgbClr val="F2A541"/>
          </a:solidFill>
          <a:ln w="12700">
            <a:solidFill>
              <a:srgbClr val="F2A541"/>
            </a:solidFill>
            <a:prstDash val="solid"/>
          </a:ln>
        </p:spPr>
      </p:sp>
      <p:pic>
        <p:nvPicPr>
          <p:cNvPr id="10" name="Image 0" descr="preencoded.png">    </p:cNvPr>
          <p:cNvPicPr>
            <a:picLocks noChangeAspect="1"/>
          </p:cNvPicPr>
          <p:nvPr/>
        </p:nvPicPr>
        <p:blipFill>
          <a:blip r:embed="rId1"/>
          <a:stretch>
            <a:fillRect/>
          </a:stretch>
        </p:blipFill>
        <p:spPr>
          <a:xfrm>
            <a:off x="5669280" y="1600200"/>
            <a:ext cx="365760" cy="365760"/>
          </a:xfrm>
          <a:prstGeom prst="rect">
            <a:avLst/>
          </a:prstGeom>
        </p:spPr>
      </p:pic>
      <p:sp>
        <p:nvSpPr>
          <p:cNvPr id="11" name="Text 8"/>
          <p:cNvSpPr txBox="1"/>
          <p:nvPr/>
        </p:nvSpPr>
        <p:spPr>
          <a:xfrm>
            <a:off x="6400800" y="141732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Tabiiy tilda savol</a:t>
            </a:r>
            <a:endParaRPr lang="en-US" sz="1600" dirty="0"/>
          </a:p>
        </p:txBody>
      </p:sp>
      <p:sp>
        <p:nvSpPr>
          <p:cNvPr id="12" name="Shape 9"/>
          <p:cNvSpPr/>
          <p:nvPr/>
        </p:nvSpPr>
        <p:spPr>
          <a:xfrm>
            <a:off x="5486400" y="2468880"/>
            <a:ext cx="731520" cy="731520"/>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5669280" y="2651760"/>
            <a:ext cx="365760" cy="365760"/>
          </a:xfrm>
          <a:prstGeom prst="rect">
            <a:avLst/>
          </a:prstGeom>
        </p:spPr>
      </p:pic>
      <p:sp>
        <p:nvSpPr>
          <p:cNvPr id="14" name="Text 10"/>
          <p:cNvSpPr txBox="1"/>
          <p:nvPr/>
        </p:nvSpPr>
        <p:spPr>
          <a:xfrm>
            <a:off x="6400800" y="246888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Faqat o'qiydi, o'zgartirmaydi</a:t>
            </a:r>
            <a:endParaRPr lang="en-US" sz="1600" dirty="0"/>
          </a:p>
        </p:txBody>
      </p:sp>
      <p:sp>
        <p:nvSpPr>
          <p:cNvPr id="15" name="Shape 11"/>
          <p:cNvSpPr/>
          <p:nvPr/>
        </p:nvSpPr>
        <p:spPr>
          <a:xfrm>
            <a:off x="5486400" y="3520440"/>
            <a:ext cx="731520" cy="731520"/>
          </a:xfrm>
          <a:prstGeom prst="ellipse">
            <a:avLst/>
          </a:prstGeom>
          <a:solidFill>
            <a:srgbClr val="F2A541"/>
          </a:solidFill>
          <a:ln w="12700">
            <a:solidFill>
              <a:srgbClr val="F2A541"/>
            </a:solidFill>
            <a:prstDash val="solid"/>
          </a:ln>
        </p:spPr>
      </p:sp>
      <p:pic>
        <p:nvPicPr>
          <p:cNvPr id="16" name="Image 2" descr="preencoded.png">    </p:cNvPr>
          <p:cNvPicPr>
            <a:picLocks noChangeAspect="1"/>
          </p:cNvPicPr>
          <p:nvPr/>
        </p:nvPicPr>
        <p:blipFill>
          <a:blip r:embed="rId3"/>
          <a:stretch>
            <a:fillRect/>
          </a:stretch>
        </p:blipFill>
        <p:spPr>
          <a:xfrm>
            <a:off x="5669280" y="3703320"/>
            <a:ext cx="365760" cy="365760"/>
          </a:xfrm>
          <a:prstGeom prst="rect">
            <a:avLst/>
          </a:prstGeom>
        </p:spPr>
      </p:pic>
      <p:sp>
        <p:nvSpPr>
          <p:cNvPr id="17" name="Text 12"/>
          <p:cNvSpPr txBox="1"/>
          <p:nvPr/>
        </p:nvSpPr>
        <p:spPr>
          <a:xfrm>
            <a:off x="6400800" y="352044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Bepul modellar, zaxira zanjiri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Foydalanuvchi rollari</a:t>
            </a:r>
            <a:endParaRPr lang="en-US" sz="3600" dirty="0"/>
          </a:p>
        </p:txBody>
      </p:sp>
      <p:sp>
        <p:nvSpPr>
          <p:cNvPr id="3" name="Shape 1"/>
          <p:cNvSpPr/>
          <p:nvPr/>
        </p:nvSpPr>
        <p:spPr>
          <a:xfrm>
            <a:off x="548640" y="1371600"/>
            <a:ext cx="2560320" cy="2926080"/>
          </a:xfrm>
          <a:prstGeom prst="roundRect">
            <a:avLst>
              <a:gd name="adj" fmla="val 4286"/>
            </a:avLst>
          </a:prstGeom>
          <a:solidFill>
            <a:srgbClr val="E8F4F3"/>
          </a:solidFill>
          <a:ln w="12700">
            <a:solidFill>
              <a:srgbClr val="E8F4F3"/>
            </a:solidFill>
            <a:prstDash val="solid"/>
          </a:ln>
        </p:spPr>
      </p:sp>
      <p:sp>
        <p:nvSpPr>
          <p:cNvPr id="4" name="Shape 2"/>
          <p:cNvSpPr/>
          <p:nvPr/>
        </p:nvSpPr>
        <p:spPr>
          <a:xfrm>
            <a:off x="1371600" y="1600200"/>
            <a:ext cx="914400" cy="914400"/>
          </a:xfrm>
          <a:prstGeom prst="ellipse">
            <a:avLst/>
          </a:prstGeom>
          <a:solidFill>
            <a:srgbClr val="0B3C49"/>
          </a:solidFill>
          <a:ln w="12700">
            <a:solidFill>
              <a:srgbClr val="0B3C49"/>
            </a:solidFill>
            <a:prstDash val="solid"/>
          </a:ln>
        </p:spPr>
      </p:sp>
      <p:pic>
        <p:nvPicPr>
          <p:cNvPr id="5" name="Image 0" descr="preencoded.png">    </p:cNvPr>
          <p:cNvPicPr>
            <a:picLocks noChangeAspect="1"/>
          </p:cNvPicPr>
          <p:nvPr/>
        </p:nvPicPr>
        <p:blipFill>
          <a:blip r:embed="rId1"/>
          <a:stretch>
            <a:fillRect/>
          </a:stretch>
        </p:blipFill>
        <p:spPr>
          <a:xfrm>
            <a:off x="1600200" y="1828800"/>
            <a:ext cx="457200" cy="457200"/>
          </a:xfrm>
          <a:prstGeom prst="rect">
            <a:avLst/>
          </a:prstGeom>
        </p:spPr>
      </p:pic>
      <p:sp>
        <p:nvSpPr>
          <p:cNvPr id="6" name="Text 3"/>
          <p:cNvSpPr txBox="1"/>
          <p:nvPr/>
        </p:nvSpPr>
        <p:spPr>
          <a:xfrm>
            <a:off x="6858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Administrator</a:t>
            </a:r>
            <a:endParaRPr lang="en-US" sz="2000" dirty="0"/>
          </a:p>
        </p:txBody>
      </p:sp>
      <p:sp>
        <p:nvSpPr>
          <p:cNvPr id="7" name="Text 4"/>
          <p:cNvSpPr txBox="1"/>
          <p:nvPr/>
        </p:nvSpPr>
        <p:spPr>
          <a:xfrm>
            <a:off x="7315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Hamma narsa: jihoz, foydalanuvchi, ma'lumotnoma</a:t>
            </a:r>
            <a:endParaRPr lang="en-US" sz="1400" dirty="0"/>
          </a:p>
        </p:txBody>
      </p:sp>
      <p:sp>
        <p:nvSpPr>
          <p:cNvPr id="8" name="Shape 5"/>
          <p:cNvSpPr/>
          <p:nvPr/>
        </p:nvSpPr>
        <p:spPr>
          <a:xfrm>
            <a:off x="3291840" y="1371600"/>
            <a:ext cx="2560320" cy="2926080"/>
          </a:xfrm>
          <a:prstGeom prst="roundRect">
            <a:avLst>
              <a:gd name="adj" fmla="val 4286"/>
            </a:avLst>
          </a:prstGeom>
          <a:solidFill>
            <a:srgbClr val="E8F4F3"/>
          </a:solidFill>
          <a:ln w="12700">
            <a:solidFill>
              <a:srgbClr val="E8F4F3"/>
            </a:solidFill>
            <a:prstDash val="solid"/>
          </a:ln>
        </p:spPr>
      </p:sp>
      <p:sp>
        <p:nvSpPr>
          <p:cNvPr id="9" name="Shape 6"/>
          <p:cNvSpPr/>
          <p:nvPr/>
        </p:nvSpPr>
        <p:spPr>
          <a:xfrm>
            <a:off x="4114800" y="1600200"/>
            <a:ext cx="914400" cy="914400"/>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4343400" y="1828800"/>
            <a:ext cx="457200" cy="457200"/>
          </a:xfrm>
          <a:prstGeom prst="rect">
            <a:avLst/>
          </a:prstGeom>
        </p:spPr>
      </p:pic>
      <p:sp>
        <p:nvSpPr>
          <p:cNvPr id="11" name="Text 7"/>
          <p:cNvSpPr txBox="1"/>
          <p:nvPr/>
        </p:nvSpPr>
        <p:spPr>
          <a:xfrm>
            <a:off x="34290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Mas'ul shaxs</a:t>
            </a:r>
            <a:endParaRPr lang="en-US" sz="2000" dirty="0"/>
          </a:p>
        </p:txBody>
      </p:sp>
      <p:sp>
        <p:nvSpPr>
          <p:cNvPr id="12" name="Text 8"/>
          <p:cNvSpPr txBox="1"/>
          <p:nvPr/>
        </p:nvSpPr>
        <p:spPr>
          <a:xfrm>
            <a:off x="34747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O'z jihozlarini ko'radi, holatini yangilaydi, ta'mir qayd etadi</a:t>
            </a:r>
            <a:endParaRPr lang="en-US" sz="1400" dirty="0"/>
          </a:p>
        </p:txBody>
      </p:sp>
      <p:sp>
        <p:nvSpPr>
          <p:cNvPr id="13" name="Shape 9"/>
          <p:cNvSpPr/>
          <p:nvPr/>
        </p:nvSpPr>
        <p:spPr>
          <a:xfrm>
            <a:off x="6035040" y="1371600"/>
            <a:ext cx="2560320" cy="2926080"/>
          </a:xfrm>
          <a:prstGeom prst="roundRect">
            <a:avLst>
              <a:gd name="adj" fmla="val 4286"/>
            </a:avLst>
          </a:prstGeom>
          <a:solidFill>
            <a:srgbClr val="E8F4F3"/>
          </a:solidFill>
          <a:ln w="12700">
            <a:solidFill>
              <a:srgbClr val="E8F4F3"/>
            </a:solidFill>
            <a:prstDash val="solid"/>
          </a:ln>
        </p:spPr>
      </p:sp>
      <p:sp>
        <p:nvSpPr>
          <p:cNvPr id="14" name="Shape 10"/>
          <p:cNvSpPr/>
          <p:nvPr/>
        </p:nvSpPr>
        <p:spPr>
          <a:xfrm>
            <a:off x="6858000" y="1600200"/>
            <a:ext cx="914400" cy="914400"/>
          </a:xfrm>
          <a:prstGeom prst="ellipse">
            <a:avLst/>
          </a:prstGeom>
          <a:solidFill>
            <a:srgbClr val="14A3A8"/>
          </a:solidFill>
          <a:ln w="12700">
            <a:solidFill>
              <a:srgbClr val="14A3A8"/>
            </a:solidFill>
            <a:prstDash val="solid"/>
          </a:ln>
        </p:spPr>
      </p:sp>
      <p:pic>
        <p:nvPicPr>
          <p:cNvPr id="15" name="Image 2" descr="preencoded.png">    </p:cNvPr>
          <p:cNvPicPr>
            <a:picLocks noChangeAspect="1"/>
          </p:cNvPicPr>
          <p:nvPr/>
        </p:nvPicPr>
        <p:blipFill>
          <a:blip r:embed="rId3"/>
          <a:stretch>
            <a:fillRect/>
          </a:stretch>
        </p:blipFill>
        <p:spPr>
          <a:xfrm>
            <a:off x="7086600" y="1828800"/>
            <a:ext cx="457200" cy="457200"/>
          </a:xfrm>
          <a:prstGeom prst="rect">
            <a:avLst/>
          </a:prstGeom>
        </p:spPr>
      </p:pic>
      <p:sp>
        <p:nvSpPr>
          <p:cNvPr id="16" name="Text 11"/>
          <p:cNvSpPr txBox="1"/>
          <p:nvPr/>
        </p:nvSpPr>
        <p:spPr>
          <a:xfrm>
            <a:off x="61722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Xodim</a:t>
            </a:r>
            <a:endParaRPr lang="en-US" sz="2000" dirty="0"/>
          </a:p>
        </p:txBody>
      </p:sp>
      <p:sp>
        <p:nvSpPr>
          <p:cNvPr id="17" name="Text 12"/>
          <p:cNvSpPr txBox="1"/>
          <p:nvPr/>
        </p:nvSpPr>
        <p:spPr>
          <a:xfrm>
            <a:off x="62179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Faqat ko'rish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Kiberxavfsizlik choralari</a:t>
            </a:r>
            <a:endParaRPr lang="en-US" sz="3600" dirty="0"/>
          </a:p>
        </p:txBody>
      </p:sp>
      <p:sp>
        <p:nvSpPr>
          <p:cNvPr id="3" name="Shape 1"/>
          <p:cNvSpPr/>
          <p:nvPr/>
        </p:nvSpPr>
        <p:spPr>
          <a:xfrm>
            <a:off x="548640" y="1371600"/>
            <a:ext cx="2560320" cy="1508760"/>
          </a:xfrm>
          <a:prstGeom prst="roundRect">
            <a:avLst>
              <a:gd name="adj" fmla="val 7273"/>
            </a:avLst>
          </a:prstGeom>
          <a:solidFill>
            <a:srgbClr val="12505F"/>
          </a:solidFill>
          <a:ln w="12700">
            <a:solidFill>
              <a:srgbClr val="12505F"/>
            </a:solidFill>
            <a:prstDash val="solid"/>
          </a:ln>
        </p:spPr>
      </p:sp>
      <p:sp>
        <p:nvSpPr>
          <p:cNvPr id="4" name="Shape 2"/>
          <p:cNvSpPr/>
          <p:nvPr/>
        </p:nvSpPr>
        <p:spPr>
          <a:xfrm>
            <a:off x="731520" y="1554480"/>
            <a:ext cx="548640" cy="548640"/>
          </a:xfrm>
          <a:prstGeom prst="ellipse">
            <a:avLst/>
          </a:prstGeom>
          <a:solidFill>
            <a:srgbClr val="F2A541"/>
          </a:solidFill>
          <a:ln w="12700">
            <a:solidFill>
              <a:srgbClr val="F2A541"/>
            </a:solidFill>
            <a:prstDash val="solid"/>
          </a:ln>
        </p:spPr>
      </p:sp>
      <p:pic>
        <p:nvPicPr>
          <p:cNvPr id="5" name="Image 0" descr="preencoded.png">    </p:cNvPr>
          <p:cNvPicPr>
            <a:picLocks noChangeAspect="1"/>
          </p:cNvPicPr>
          <p:nvPr/>
        </p:nvPicPr>
        <p:blipFill>
          <a:blip r:embed="rId1"/>
          <a:stretch>
            <a:fillRect/>
          </a:stretch>
        </p:blipFill>
        <p:spPr>
          <a:xfrm>
            <a:off x="868680" y="1691640"/>
            <a:ext cx="274320" cy="274320"/>
          </a:xfrm>
          <a:prstGeom prst="rect">
            <a:avLst/>
          </a:prstGeom>
        </p:spPr>
      </p:pic>
      <p:sp>
        <p:nvSpPr>
          <p:cNvPr id="6" name="Text 3"/>
          <p:cNvSpPr txBox="1"/>
          <p:nvPr/>
        </p:nvSpPr>
        <p:spPr>
          <a:xfrm>
            <a:off x="14173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Parollar</a:t>
            </a:r>
            <a:endParaRPr lang="en-US" sz="1500" dirty="0"/>
          </a:p>
        </p:txBody>
      </p:sp>
      <p:sp>
        <p:nvSpPr>
          <p:cNvPr id="7" name="Text 4"/>
          <p:cNvSpPr txBox="1"/>
          <p:nvPr/>
        </p:nvSpPr>
        <p:spPr>
          <a:xfrm>
            <a:off x="7315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bcrypt bilan hash, ochiq saqlanmaydi</a:t>
            </a:r>
            <a:endParaRPr lang="en-US" sz="1300" dirty="0"/>
          </a:p>
        </p:txBody>
      </p:sp>
      <p:sp>
        <p:nvSpPr>
          <p:cNvPr id="8" name="Shape 5"/>
          <p:cNvSpPr/>
          <p:nvPr/>
        </p:nvSpPr>
        <p:spPr>
          <a:xfrm>
            <a:off x="3291840" y="1371600"/>
            <a:ext cx="2560320" cy="1508760"/>
          </a:xfrm>
          <a:prstGeom prst="roundRect">
            <a:avLst>
              <a:gd name="adj" fmla="val 7273"/>
            </a:avLst>
          </a:prstGeom>
          <a:solidFill>
            <a:srgbClr val="12505F"/>
          </a:solidFill>
          <a:ln w="12700">
            <a:solidFill>
              <a:srgbClr val="12505F"/>
            </a:solidFill>
            <a:prstDash val="solid"/>
          </a:ln>
        </p:spPr>
      </p:sp>
      <p:sp>
        <p:nvSpPr>
          <p:cNvPr id="9" name="Shape 6"/>
          <p:cNvSpPr/>
          <p:nvPr/>
        </p:nvSpPr>
        <p:spPr>
          <a:xfrm>
            <a:off x="3474720" y="1554480"/>
            <a:ext cx="548640" cy="548640"/>
          </a:xfrm>
          <a:prstGeom prst="ellipse">
            <a:avLst/>
          </a:prstGeom>
          <a:solidFill>
            <a:srgbClr val="F2A541"/>
          </a:solidFill>
          <a:ln w="12700">
            <a:solidFill>
              <a:srgbClr val="F2A541"/>
            </a:solidFill>
            <a:prstDash val="solid"/>
          </a:ln>
        </p:spPr>
      </p:sp>
      <p:pic>
        <p:nvPicPr>
          <p:cNvPr id="10"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1" name="Text 7"/>
          <p:cNvSpPr txBox="1"/>
          <p:nvPr/>
        </p:nvSpPr>
        <p:spPr>
          <a:xfrm>
            <a:off x="41605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JWT kirish</a:t>
            </a:r>
            <a:endParaRPr lang="en-US" sz="1500" dirty="0"/>
          </a:p>
        </p:txBody>
      </p:sp>
      <p:sp>
        <p:nvSpPr>
          <p:cNvPr id="12" name="Text 8"/>
          <p:cNvSpPr txBox="1"/>
          <p:nvPr/>
        </p:nvSpPr>
        <p:spPr>
          <a:xfrm>
            <a:off x="34747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Qisqa muddatli token</a:t>
            </a:r>
            <a:endParaRPr lang="en-US" sz="1300" dirty="0"/>
          </a:p>
        </p:txBody>
      </p:sp>
      <p:sp>
        <p:nvSpPr>
          <p:cNvPr id="13" name="Shape 9"/>
          <p:cNvSpPr/>
          <p:nvPr/>
        </p:nvSpPr>
        <p:spPr>
          <a:xfrm>
            <a:off x="6035040" y="1371600"/>
            <a:ext cx="2560320" cy="1508760"/>
          </a:xfrm>
          <a:prstGeom prst="roundRect">
            <a:avLst>
              <a:gd name="adj" fmla="val 7273"/>
            </a:avLst>
          </a:prstGeom>
          <a:solidFill>
            <a:srgbClr val="12505F"/>
          </a:solidFill>
          <a:ln w="12700">
            <a:solidFill>
              <a:srgbClr val="12505F"/>
            </a:solidFill>
            <a:prstDash val="solid"/>
          </a:ln>
        </p:spPr>
      </p:sp>
      <p:sp>
        <p:nvSpPr>
          <p:cNvPr id="14" name="Shape 10"/>
          <p:cNvSpPr/>
          <p:nvPr/>
        </p:nvSpPr>
        <p:spPr>
          <a:xfrm>
            <a:off x="6217920" y="1554480"/>
            <a:ext cx="548640" cy="548640"/>
          </a:xfrm>
          <a:prstGeom prst="ellipse">
            <a:avLst/>
          </a:prstGeom>
          <a:solidFill>
            <a:srgbClr val="F2A541"/>
          </a:solidFill>
          <a:ln w="12700">
            <a:solidFill>
              <a:srgbClr val="F2A541"/>
            </a:solidFill>
            <a:prstDash val="solid"/>
          </a:ln>
        </p:spPr>
      </p:sp>
      <p:pic>
        <p:nvPicPr>
          <p:cNvPr id="15" name="Image 2" descr="preencoded.png">    </p:cNvPr>
          <p:cNvPicPr>
            <a:picLocks noChangeAspect="1"/>
          </p:cNvPicPr>
          <p:nvPr/>
        </p:nvPicPr>
        <p:blipFill>
          <a:blip r:embed="rId3"/>
          <a:stretch>
            <a:fillRect/>
          </a:stretch>
        </p:blipFill>
        <p:spPr>
          <a:xfrm>
            <a:off x="6355080" y="1691640"/>
            <a:ext cx="274320" cy="274320"/>
          </a:xfrm>
          <a:prstGeom prst="rect">
            <a:avLst/>
          </a:prstGeom>
        </p:spPr>
      </p:pic>
      <p:sp>
        <p:nvSpPr>
          <p:cNvPr id="16" name="Text 11"/>
          <p:cNvSpPr txBox="1"/>
          <p:nvPr/>
        </p:nvSpPr>
        <p:spPr>
          <a:xfrm>
            <a:off x="69037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Rollar nazorati</a:t>
            </a:r>
            <a:endParaRPr lang="en-US" sz="1500" dirty="0"/>
          </a:p>
        </p:txBody>
      </p:sp>
      <p:sp>
        <p:nvSpPr>
          <p:cNvPr id="17" name="Text 12"/>
          <p:cNvSpPr txBox="1"/>
          <p:nvPr/>
        </p:nvSpPr>
        <p:spPr>
          <a:xfrm>
            <a:off x="62179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Ruxsat serverda tekshiriladi (RBAC)</a:t>
            </a:r>
            <a:endParaRPr lang="en-US" sz="1300" dirty="0"/>
          </a:p>
        </p:txBody>
      </p:sp>
      <p:sp>
        <p:nvSpPr>
          <p:cNvPr id="18" name="Shape 13"/>
          <p:cNvSpPr/>
          <p:nvPr/>
        </p:nvSpPr>
        <p:spPr>
          <a:xfrm>
            <a:off x="548640" y="3063240"/>
            <a:ext cx="2560320" cy="1508760"/>
          </a:xfrm>
          <a:prstGeom prst="roundRect">
            <a:avLst>
              <a:gd name="adj" fmla="val 7273"/>
            </a:avLst>
          </a:prstGeom>
          <a:solidFill>
            <a:srgbClr val="12505F"/>
          </a:solidFill>
          <a:ln w="12700">
            <a:solidFill>
              <a:srgbClr val="12505F"/>
            </a:solidFill>
            <a:prstDash val="solid"/>
          </a:ln>
        </p:spPr>
      </p:sp>
      <p:sp>
        <p:nvSpPr>
          <p:cNvPr id="19" name="Shape 14"/>
          <p:cNvSpPr/>
          <p:nvPr/>
        </p:nvSpPr>
        <p:spPr>
          <a:xfrm>
            <a:off x="731520" y="3246120"/>
            <a:ext cx="548640" cy="548640"/>
          </a:xfrm>
          <a:prstGeom prst="ellipse">
            <a:avLst/>
          </a:prstGeom>
          <a:solidFill>
            <a:srgbClr val="F2A541"/>
          </a:solidFill>
          <a:ln w="12700">
            <a:solidFill>
              <a:srgbClr val="F2A541"/>
            </a:solidFill>
            <a:prstDash val="solid"/>
          </a:ln>
        </p:spPr>
      </p:sp>
      <p:pic>
        <p:nvPicPr>
          <p:cNvPr id="20" name="Image 3" descr="preencoded.png">    </p:cNvPr>
          <p:cNvPicPr>
            <a:picLocks noChangeAspect="1"/>
          </p:cNvPicPr>
          <p:nvPr/>
        </p:nvPicPr>
        <p:blipFill>
          <a:blip r:embed="rId4"/>
          <a:stretch>
            <a:fillRect/>
          </a:stretch>
        </p:blipFill>
        <p:spPr>
          <a:xfrm>
            <a:off x="868680" y="3383280"/>
            <a:ext cx="274320" cy="274320"/>
          </a:xfrm>
          <a:prstGeom prst="rect">
            <a:avLst/>
          </a:prstGeom>
        </p:spPr>
      </p:pic>
      <p:sp>
        <p:nvSpPr>
          <p:cNvPr id="21" name="Text 15"/>
          <p:cNvSpPr txBox="1"/>
          <p:nvPr/>
        </p:nvSpPr>
        <p:spPr>
          <a:xfrm>
            <a:off x="14173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Kirish tekshiruvi</a:t>
            </a:r>
            <a:endParaRPr lang="en-US" sz="1500" dirty="0"/>
          </a:p>
        </p:txBody>
      </p:sp>
      <p:sp>
        <p:nvSpPr>
          <p:cNvPr id="22" name="Text 16"/>
          <p:cNvSpPr txBox="1"/>
          <p:nvPr/>
        </p:nvSpPr>
        <p:spPr>
          <a:xfrm>
            <a:off x="7315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Zod validatsiya, Prisma — SQL-injection yo'q</a:t>
            </a:r>
            <a:endParaRPr lang="en-US" sz="1300" dirty="0"/>
          </a:p>
        </p:txBody>
      </p:sp>
      <p:sp>
        <p:nvSpPr>
          <p:cNvPr id="23" name="Shape 17"/>
          <p:cNvSpPr/>
          <p:nvPr/>
        </p:nvSpPr>
        <p:spPr>
          <a:xfrm>
            <a:off x="3291840" y="3063240"/>
            <a:ext cx="2560320" cy="1508760"/>
          </a:xfrm>
          <a:prstGeom prst="roundRect">
            <a:avLst>
              <a:gd name="adj" fmla="val 7273"/>
            </a:avLst>
          </a:prstGeom>
          <a:solidFill>
            <a:srgbClr val="12505F"/>
          </a:solidFill>
          <a:ln w="12700">
            <a:solidFill>
              <a:srgbClr val="12505F"/>
            </a:solidFill>
            <a:prstDash val="solid"/>
          </a:ln>
        </p:spPr>
      </p:sp>
      <p:sp>
        <p:nvSpPr>
          <p:cNvPr id="24" name="Shape 18"/>
          <p:cNvSpPr/>
          <p:nvPr/>
        </p:nvSpPr>
        <p:spPr>
          <a:xfrm>
            <a:off x="3474720" y="3246120"/>
            <a:ext cx="548640" cy="548640"/>
          </a:xfrm>
          <a:prstGeom prst="ellipse">
            <a:avLst/>
          </a:prstGeom>
          <a:solidFill>
            <a:srgbClr val="F2A541"/>
          </a:solidFill>
          <a:ln w="12700">
            <a:solidFill>
              <a:srgbClr val="F2A541"/>
            </a:solidFill>
            <a:prstDash val="solid"/>
          </a:ln>
        </p:spPr>
      </p:sp>
      <p:pic>
        <p:nvPicPr>
          <p:cNvPr id="25" name="Image 4" descr="preencoded.png">    </p:cNvPr>
          <p:cNvPicPr>
            <a:picLocks noChangeAspect="1"/>
          </p:cNvPicPr>
          <p:nvPr/>
        </p:nvPicPr>
        <p:blipFill>
          <a:blip r:embed="rId5"/>
          <a:stretch>
            <a:fillRect/>
          </a:stretch>
        </p:blipFill>
        <p:spPr>
          <a:xfrm>
            <a:off x="3611880" y="3383280"/>
            <a:ext cx="274320" cy="274320"/>
          </a:xfrm>
          <a:prstGeom prst="rect">
            <a:avLst/>
          </a:prstGeom>
        </p:spPr>
      </p:pic>
      <p:sp>
        <p:nvSpPr>
          <p:cNvPr id="26" name="Text 19"/>
          <p:cNvSpPr txBox="1"/>
          <p:nvPr/>
        </p:nvSpPr>
        <p:spPr>
          <a:xfrm>
            <a:off x="41605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Himoya sarlavhalari</a:t>
            </a:r>
            <a:endParaRPr lang="en-US" sz="1500" dirty="0"/>
          </a:p>
        </p:txBody>
      </p:sp>
      <p:sp>
        <p:nvSpPr>
          <p:cNvPr id="27" name="Text 20"/>
          <p:cNvSpPr txBox="1"/>
          <p:nvPr/>
        </p:nvSpPr>
        <p:spPr>
          <a:xfrm>
            <a:off x="34747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Helmet, CORS, login urinishlari limiti</a:t>
            </a:r>
            <a:endParaRPr lang="en-US" sz="1300" dirty="0"/>
          </a:p>
        </p:txBody>
      </p:sp>
      <p:sp>
        <p:nvSpPr>
          <p:cNvPr id="28" name="Shape 21"/>
          <p:cNvSpPr/>
          <p:nvPr/>
        </p:nvSpPr>
        <p:spPr>
          <a:xfrm>
            <a:off x="6035040" y="3063240"/>
            <a:ext cx="2560320" cy="1508760"/>
          </a:xfrm>
          <a:prstGeom prst="roundRect">
            <a:avLst>
              <a:gd name="adj" fmla="val 7273"/>
            </a:avLst>
          </a:prstGeom>
          <a:solidFill>
            <a:srgbClr val="12505F"/>
          </a:solidFill>
          <a:ln w="12700">
            <a:solidFill>
              <a:srgbClr val="12505F"/>
            </a:solidFill>
            <a:prstDash val="solid"/>
          </a:ln>
        </p:spPr>
      </p:sp>
      <p:sp>
        <p:nvSpPr>
          <p:cNvPr id="29" name="Shape 22"/>
          <p:cNvSpPr/>
          <p:nvPr/>
        </p:nvSpPr>
        <p:spPr>
          <a:xfrm>
            <a:off x="6217920" y="3246120"/>
            <a:ext cx="548640" cy="548640"/>
          </a:xfrm>
          <a:prstGeom prst="ellipse">
            <a:avLst/>
          </a:prstGeom>
          <a:solidFill>
            <a:srgbClr val="F2A541"/>
          </a:solidFill>
          <a:ln w="12700">
            <a:solidFill>
              <a:srgbClr val="F2A541"/>
            </a:solidFill>
            <a:prstDash val="solid"/>
          </a:ln>
        </p:spPr>
      </p:sp>
      <p:pic>
        <p:nvPicPr>
          <p:cNvPr id="30" name="Image 5" descr="preencoded.png">    </p:cNvPr>
          <p:cNvPicPr>
            <a:picLocks noChangeAspect="1"/>
          </p:cNvPicPr>
          <p:nvPr/>
        </p:nvPicPr>
        <p:blipFill>
          <a:blip r:embed="rId6"/>
          <a:stretch>
            <a:fillRect/>
          </a:stretch>
        </p:blipFill>
        <p:spPr>
          <a:xfrm>
            <a:off x="6355080" y="3383280"/>
            <a:ext cx="274320" cy="274320"/>
          </a:xfrm>
          <a:prstGeom prst="rect">
            <a:avLst/>
          </a:prstGeom>
        </p:spPr>
      </p:pic>
      <p:sp>
        <p:nvSpPr>
          <p:cNvPr id="31" name="Text 23"/>
          <p:cNvSpPr txBox="1"/>
          <p:nvPr/>
        </p:nvSpPr>
        <p:spPr>
          <a:xfrm>
            <a:off x="69037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AI va audit</a:t>
            </a:r>
            <a:endParaRPr lang="en-US" sz="1500" dirty="0"/>
          </a:p>
        </p:txBody>
      </p:sp>
      <p:sp>
        <p:nvSpPr>
          <p:cNvPr id="32" name="Text 24"/>
          <p:cNvSpPr txBox="1"/>
          <p:nvPr/>
        </p:nvSpPr>
        <p:spPr>
          <a:xfrm>
            <a:off x="62179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AI faqat o'qiydi, so'rovlar yoziladi; kalitlar .env'da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Texnologiyalar va ma'lumotlar bazasi</a:t>
            </a:r>
            <a:endParaRPr lang="en-US" sz="3600" dirty="0"/>
          </a:p>
        </p:txBody>
      </p:sp>
      <p:sp>
        <p:nvSpPr>
          <p:cNvPr id="3" name="Shape 1"/>
          <p:cNvSpPr/>
          <p:nvPr/>
        </p:nvSpPr>
        <p:spPr>
          <a:xfrm>
            <a:off x="548640" y="1280160"/>
            <a:ext cx="3657600" cy="603504"/>
          </a:xfrm>
          <a:prstGeom prst="roundRect">
            <a:avLst>
              <a:gd name="adj" fmla="val 18182"/>
            </a:avLst>
          </a:prstGeom>
          <a:solidFill>
            <a:srgbClr val="E8F4F3"/>
          </a:solidFill>
          <a:ln w="12700">
            <a:solidFill>
              <a:srgbClr val="E8F4F3"/>
            </a:solidFill>
            <a:prstDash val="solid"/>
          </a:ln>
        </p:spPr>
      </p:sp>
      <p:sp>
        <p:nvSpPr>
          <p:cNvPr id="4" name="Text 2"/>
          <p:cNvSpPr txBox="1"/>
          <p:nvPr/>
        </p:nvSpPr>
        <p:spPr>
          <a:xfrm>
            <a:off x="731520" y="1280160"/>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Frontend</a:t>
            </a:r>
            <a:endParaRPr lang="en-US" sz="1500" dirty="0"/>
          </a:p>
        </p:txBody>
      </p:sp>
      <p:sp>
        <p:nvSpPr>
          <p:cNvPr id="5" name="Text 3"/>
          <p:cNvSpPr txBox="1"/>
          <p:nvPr/>
        </p:nvSpPr>
        <p:spPr>
          <a:xfrm>
            <a:off x="1783080" y="1280160"/>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React · TypeScript · Vite · Tailwind</a:t>
            </a:r>
            <a:endParaRPr lang="en-US" sz="1300" dirty="0"/>
          </a:p>
        </p:txBody>
      </p:sp>
      <p:sp>
        <p:nvSpPr>
          <p:cNvPr id="6" name="Shape 4"/>
          <p:cNvSpPr/>
          <p:nvPr/>
        </p:nvSpPr>
        <p:spPr>
          <a:xfrm>
            <a:off x="548640" y="1993392"/>
            <a:ext cx="3657600" cy="603504"/>
          </a:xfrm>
          <a:prstGeom prst="roundRect">
            <a:avLst>
              <a:gd name="adj" fmla="val 18182"/>
            </a:avLst>
          </a:prstGeom>
          <a:solidFill>
            <a:srgbClr val="E8F4F3"/>
          </a:solidFill>
          <a:ln w="12700">
            <a:solidFill>
              <a:srgbClr val="E8F4F3"/>
            </a:solidFill>
            <a:prstDash val="solid"/>
          </a:ln>
        </p:spPr>
      </p:sp>
      <p:sp>
        <p:nvSpPr>
          <p:cNvPr id="7" name="Text 5"/>
          <p:cNvSpPr txBox="1"/>
          <p:nvPr/>
        </p:nvSpPr>
        <p:spPr>
          <a:xfrm>
            <a:off x="731520" y="1993392"/>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Ma'lumot</a:t>
            </a:r>
            <a:endParaRPr lang="en-US" sz="1500" dirty="0"/>
          </a:p>
        </p:txBody>
      </p:sp>
      <p:sp>
        <p:nvSpPr>
          <p:cNvPr id="8" name="Text 6"/>
          <p:cNvSpPr txBox="1"/>
          <p:nvPr/>
        </p:nvSpPr>
        <p:spPr>
          <a:xfrm>
            <a:off x="1783080" y="1993392"/>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TanStack Query · Recharts</a:t>
            </a:r>
            <a:endParaRPr lang="en-US" sz="1300" dirty="0"/>
          </a:p>
        </p:txBody>
      </p:sp>
      <p:sp>
        <p:nvSpPr>
          <p:cNvPr id="9" name="Shape 7"/>
          <p:cNvSpPr/>
          <p:nvPr/>
        </p:nvSpPr>
        <p:spPr>
          <a:xfrm>
            <a:off x="548640" y="2706624"/>
            <a:ext cx="3657600" cy="603504"/>
          </a:xfrm>
          <a:prstGeom prst="roundRect">
            <a:avLst>
              <a:gd name="adj" fmla="val 18182"/>
            </a:avLst>
          </a:prstGeom>
          <a:solidFill>
            <a:srgbClr val="E8F4F3"/>
          </a:solidFill>
          <a:ln w="12700">
            <a:solidFill>
              <a:srgbClr val="E8F4F3"/>
            </a:solidFill>
            <a:prstDash val="solid"/>
          </a:ln>
        </p:spPr>
      </p:sp>
      <p:sp>
        <p:nvSpPr>
          <p:cNvPr id="10" name="Text 8"/>
          <p:cNvSpPr txBox="1"/>
          <p:nvPr/>
        </p:nvSpPr>
        <p:spPr>
          <a:xfrm>
            <a:off x="731520" y="2706624"/>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Backend</a:t>
            </a:r>
            <a:endParaRPr lang="en-US" sz="1500" dirty="0"/>
          </a:p>
        </p:txBody>
      </p:sp>
      <p:sp>
        <p:nvSpPr>
          <p:cNvPr id="11" name="Text 9"/>
          <p:cNvSpPr txBox="1"/>
          <p:nvPr/>
        </p:nvSpPr>
        <p:spPr>
          <a:xfrm>
            <a:off x="1783080" y="2706624"/>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Node.js · Express · Zod</a:t>
            </a:r>
            <a:endParaRPr lang="en-US" sz="1300" dirty="0"/>
          </a:p>
        </p:txBody>
      </p:sp>
      <p:sp>
        <p:nvSpPr>
          <p:cNvPr id="12" name="Shape 10"/>
          <p:cNvSpPr/>
          <p:nvPr/>
        </p:nvSpPr>
        <p:spPr>
          <a:xfrm>
            <a:off x="548640" y="3419856"/>
            <a:ext cx="3657600" cy="603504"/>
          </a:xfrm>
          <a:prstGeom prst="roundRect">
            <a:avLst>
              <a:gd name="adj" fmla="val 18182"/>
            </a:avLst>
          </a:prstGeom>
          <a:solidFill>
            <a:srgbClr val="E8F4F3"/>
          </a:solidFill>
          <a:ln w="12700">
            <a:solidFill>
              <a:srgbClr val="E8F4F3"/>
            </a:solidFill>
            <a:prstDash val="solid"/>
          </a:ln>
        </p:spPr>
      </p:sp>
      <p:sp>
        <p:nvSpPr>
          <p:cNvPr id="13" name="Text 11"/>
          <p:cNvSpPr txBox="1"/>
          <p:nvPr/>
        </p:nvSpPr>
        <p:spPr>
          <a:xfrm>
            <a:off x="731520" y="3419856"/>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Baza</a:t>
            </a:r>
            <a:endParaRPr lang="en-US" sz="1500" dirty="0"/>
          </a:p>
        </p:txBody>
      </p:sp>
      <p:sp>
        <p:nvSpPr>
          <p:cNvPr id="14" name="Text 12"/>
          <p:cNvSpPr txBox="1"/>
          <p:nvPr/>
        </p:nvSpPr>
        <p:spPr>
          <a:xfrm>
            <a:off x="1783080" y="3419856"/>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PostgreSQL · Prisma ORM</a:t>
            </a:r>
            <a:endParaRPr lang="en-US" sz="1300" dirty="0"/>
          </a:p>
        </p:txBody>
      </p:sp>
      <p:sp>
        <p:nvSpPr>
          <p:cNvPr id="15" name="Shape 13"/>
          <p:cNvSpPr/>
          <p:nvPr/>
        </p:nvSpPr>
        <p:spPr>
          <a:xfrm>
            <a:off x="548640" y="4133088"/>
            <a:ext cx="3657600" cy="603504"/>
          </a:xfrm>
          <a:prstGeom prst="roundRect">
            <a:avLst>
              <a:gd name="adj" fmla="val 18182"/>
            </a:avLst>
          </a:prstGeom>
          <a:solidFill>
            <a:srgbClr val="E8F4F3"/>
          </a:solidFill>
          <a:ln w="12700">
            <a:solidFill>
              <a:srgbClr val="E8F4F3"/>
            </a:solidFill>
            <a:prstDash val="solid"/>
          </a:ln>
        </p:spPr>
      </p:sp>
      <p:sp>
        <p:nvSpPr>
          <p:cNvPr id="16" name="Text 14"/>
          <p:cNvSpPr txBox="1"/>
          <p:nvPr/>
        </p:nvSpPr>
        <p:spPr>
          <a:xfrm>
            <a:off x="731520" y="4133088"/>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AI</a:t>
            </a:r>
            <a:endParaRPr lang="en-US" sz="1500" dirty="0"/>
          </a:p>
        </p:txBody>
      </p:sp>
      <p:sp>
        <p:nvSpPr>
          <p:cNvPr id="17" name="Text 15"/>
          <p:cNvSpPr txBox="1"/>
          <p:nvPr/>
        </p:nvSpPr>
        <p:spPr>
          <a:xfrm>
            <a:off x="1783080" y="4133088"/>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OpenRouter · bepul modellar</a:t>
            </a:r>
            <a:endParaRPr lang="en-US" sz="1300" dirty="0"/>
          </a:p>
        </p:txBody>
      </p:sp>
      <p:sp>
        <p:nvSpPr>
          <p:cNvPr id="18" name="Shape 16"/>
          <p:cNvSpPr/>
          <p:nvPr/>
        </p:nvSpPr>
        <p:spPr>
          <a:xfrm>
            <a:off x="4572000" y="1280160"/>
            <a:ext cx="2011680" cy="640080"/>
          </a:xfrm>
          <a:prstGeom prst="roundRect">
            <a:avLst>
              <a:gd name="adj" fmla="val 11429"/>
            </a:avLst>
          </a:prstGeom>
          <a:solidFill>
            <a:srgbClr val="0B3C49"/>
          </a:solidFill>
          <a:ln w="12700">
            <a:solidFill>
              <a:srgbClr val="FFFFFF"/>
            </a:solidFill>
            <a:prstDash val="solid"/>
          </a:ln>
        </p:spPr>
      </p:sp>
      <p:sp>
        <p:nvSpPr>
          <p:cNvPr id="19" name="Text 17"/>
          <p:cNvSpPr txBox="1"/>
          <p:nvPr/>
        </p:nvSpPr>
        <p:spPr>
          <a:xfrm>
            <a:off x="4572000" y="128016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users</a:t>
            </a:r>
            <a:endParaRPr lang="en-US" sz="1400" dirty="0"/>
          </a:p>
        </p:txBody>
      </p:sp>
      <p:sp>
        <p:nvSpPr>
          <p:cNvPr id="20" name="Shape 18"/>
          <p:cNvSpPr/>
          <p:nvPr/>
        </p:nvSpPr>
        <p:spPr>
          <a:xfrm>
            <a:off x="6766560" y="1280160"/>
            <a:ext cx="2011680" cy="640080"/>
          </a:xfrm>
          <a:prstGeom prst="roundRect">
            <a:avLst>
              <a:gd name="adj" fmla="val 11429"/>
            </a:avLst>
          </a:prstGeom>
          <a:solidFill>
            <a:srgbClr val="0B3C49"/>
          </a:solidFill>
          <a:ln w="12700">
            <a:solidFill>
              <a:srgbClr val="FFFFFF"/>
            </a:solidFill>
            <a:prstDash val="solid"/>
          </a:ln>
        </p:spPr>
      </p:sp>
      <p:sp>
        <p:nvSpPr>
          <p:cNvPr id="21" name="Text 19"/>
          <p:cNvSpPr txBox="1"/>
          <p:nvPr/>
        </p:nvSpPr>
        <p:spPr>
          <a:xfrm>
            <a:off x="6766560" y="128016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departments</a:t>
            </a:r>
            <a:endParaRPr lang="en-US" sz="1400" dirty="0"/>
          </a:p>
        </p:txBody>
      </p:sp>
      <p:sp>
        <p:nvSpPr>
          <p:cNvPr id="22" name="Shape 20"/>
          <p:cNvSpPr/>
          <p:nvPr/>
        </p:nvSpPr>
        <p:spPr>
          <a:xfrm>
            <a:off x="6766560" y="2286000"/>
            <a:ext cx="2011680" cy="640080"/>
          </a:xfrm>
          <a:prstGeom prst="roundRect">
            <a:avLst>
              <a:gd name="adj" fmla="val 11429"/>
            </a:avLst>
          </a:prstGeom>
          <a:solidFill>
            <a:srgbClr val="0B3C49"/>
          </a:solidFill>
          <a:ln w="12700">
            <a:solidFill>
              <a:srgbClr val="FFFFFF"/>
            </a:solidFill>
            <a:prstDash val="solid"/>
          </a:ln>
        </p:spPr>
      </p:sp>
      <p:sp>
        <p:nvSpPr>
          <p:cNvPr id="23" name="Text 21"/>
          <p:cNvSpPr txBox="1"/>
          <p:nvPr/>
        </p:nvSpPr>
        <p:spPr>
          <a:xfrm>
            <a:off x="6766560" y="228600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rooms</a:t>
            </a:r>
            <a:endParaRPr lang="en-US" sz="1400" dirty="0"/>
          </a:p>
        </p:txBody>
      </p:sp>
      <p:sp>
        <p:nvSpPr>
          <p:cNvPr id="24" name="Shape 22"/>
          <p:cNvSpPr/>
          <p:nvPr/>
        </p:nvSpPr>
        <p:spPr>
          <a:xfrm>
            <a:off x="4572000" y="2286000"/>
            <a:ext cx="2011680" cy="640080"/>
          </a:xfrm>
          <a:prstGeom prst="roundRect">
            <a:avLst>
              <a:gd name="adj" fmla="val 11429"/>
            </a:avLst>
          </a:prstGeom>
          <a:solidFill>
            <a:srgbClr val="0E7C86"/>
          </a:solidFill>
          <a:ln w="12700">
            <a:solidFill>
              <a:srgbClr val="FFFFFF"/>
            </a:solidFill>
            <a:prstDash val="solid"/>
          </a:ln>
        </p:spPr>
      </p:sp>
      <p:sp>
        <p:nvSpPr>
          <p:cNvPr id="25" name="Text 23"/>
          <p:cNvSpPr txBox="1"/>
          <p:nvPr/>
        </p:nvSpPr>
        <p:spPr>
          <a:xfrm>
            <a:off x="4572000" y="228600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a:t>
            </a:r>
            <a:endParaRPr lang="en-US" sz="1400" dirty="0"/>
          </a:p>
        </p:txBody>
      </p:sp>
      <p:sp>
        <p:nvSpPr>
          <p:cNvPr id="26" name="Shape 24"/>
          <p:cNvSpPr/>
          <p:nvPr/>
        </p:nvSpPr>
        <p:spPr>
          <a:xfrm>
            <a:off x="4572000" y="3291840"/>
            <a:ext cx="2011680" cy="640080"/>
          </a:xfrm>
          <a:prstGeom prst="roundRect">
            <a:avLst>
              <a:gd name="adj" fmla="val 11429"/>
            </a:avLst>
          </a:prstGeom>
          <a:solidFill>
            <a:srgbClr val="0B3C49"/>
          </a:solidFill>
          <a:ln w="12700">
            <a:solidFill>
              <a:srgbClr val="FFFFFF"/>
            </a:solidFill>
            <a:prstDash val="solid"/>
          </a:ln>
        </p:spPr>
      </p:sp>
      <p:sp>
        <p:nvSpPr>
          <p:cNvPr id="27" name="Text 25"/>
          <p:cNvSpPr txBox="1"/>
          <p:nvPr/>
        </p:nvSpPr>
        <p:spPr>
          <a:xfrm>
            <a:off x="4572000" y="329184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equipment_types</a:t>
            </a:r>
            <a:endParaRPr lang="en-US" sz="1400" dirty="0"/>
          </a:p>
        </p:txBody>
      </p:sp>
      <p:sp>
        <p:nvSpPr>
          <p:cNvPr id="28" name="Shape 26"/>
          <p:cNvSpPr/>
          <p:nvPr/>
        </p:nvSpPr>
        <p:spPr>
          <a:xfrm>
            <a:off x="6766560" y="3291840"/>
            <a:ext cx="2011680" cy="640080"/>
          </a:xfrm>
          <a:prstGeom prst="roundRect">
            <a:avLst>
              <a:gd name="adj" fmla="val 11429"/>
            </a:avLst>
          </a:prstGeom>
          <a:solidFill>
            <a:srgbClr val="0B3C49"/>
          </a:solidFill>
          <a:ln w="12700">
            <a:solidFill>
              <a:srgbClr val="FFFFFF"/>
            </a:solidFill>
            <a:prstDash val="solid"/>
          </a:ln>
        </p:spPr>
      </p:sp>
      <p:sp>
        <p:nvSpPr>
          <p:cNvPr id="29" name="Text 27"/>
          <p:cNvSpPr txBox="1"/>
          <p:nvPr/>
        </p:nvSpPr>
        <p:spPr>
          <a:xfrm>
            <a:off x="6766560" y="329184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repairs</a:t>
            </a:r>
            <a:endParaRPr lang="en-US" sz="1400" dirty="0"/>
          </a:p>
        </p:txBody>
      </p:sp>
      <p:sp>
        <p:nvSpPr>
          <p:cNvPr id="30" name="Shape 28"/>
          <p:cNvSpPr/>
          <p:nvPr/>
        </p:nvSpPr>
        <p:spPr>
          <a:xfrm>
            <a:off x="5669280" y="4297680"/>
            <a:ext cx="2011680" cy="640080"/>
          </a:xfrm>
          <a:prstGeom prst="roundRect">
            <a:avLst>
              <a:gd name="adj" fmla="val 11429"/>
            </a:avLst>
          </a:prstGeom>
          <a:solidFill>
            <a:srgbClr val="0B3C49"/>
          </a:solidFill>
          <a:ln w="12700">
            <a:solidFill>
              <a:srgbClr val="FFFFFF"/>
            </a:solidFill>
            <a:prstDash val="solid"/>
          </a:ln>
        </p:spPr>
      </p:sp>
      <p:sp>
        <p:nvSpPr>
          <p:cNvPr id="31" name="Text 29"/>
          <p:cNvSpPr txBox="1"/>
          <p:nvPr/>
        </p:nvSpPr>
        <p:spPr>
          <a:xfrm>
            <a:off x="5669280" y="429768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equipment_history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Inventarizatsiya hisoboti</a:t>
            </a:r>
            <a:endParaRPr lang="en-US" sz="3600" dirty="0"/>
          </a:p>
        </p:txBody>
      </p:sp>
      <p:sp>
        <p:nvSpPr>
          <p:cNvPr id="3" name="Shape 1"/>
          <p:cNvSpPr/>
          <p:nvPr/>
        </p:nvSpPr>
        <p:spPr>
          <a:xfrm>
            <a:off x="548640" y="1371600"/>
            <a:ext cx="1005840" cy="457200"/>
          </a:xfrm>
          <a:prstGeom prst="roundRect">
            <a:avLst>
              <a:gd name="adj" fmla="val 20000"/>
            </a:avLst>
          </a:prstGeom>
          <a:solidFill>
            <a:srgbClr val="E8F4F3"/>
          </a:solidFill>
          <a:ln w="12700">
            <a:solidFill>
              <a:srgbClr val="0E7C86"/>
            </a:solidFill>
            <a:prstDash val="solid"/>
          </a:ln>
        </p:spPr>
      </p:sp>
      <p:sp>
        <p:nvSpPr>
          <p:cNvPr id="4" name="Text 2"/>
          <p:cNvSpPr txBox="1"/>
          <p:nvPr/>
        </p:nvSpPr>
        <p:spPr>
          <a:xfrm>
            <a:off x="548640" y="137160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Xona</a:t>
            </a:r>
            <a:endParaRPr lang="en-US" sz="1500" dirty="0"/>
          </a:p>
        </p:txBody>
      </p:sp>
      <p:sp>
        <p:nvSpPr>
          <p:cNvPr id="5" name="Shape 3"/>
          <p:cNvSpPr/>
          <p:nvPr/>
        </p:nvSpPr>
        <p:spPr>
          <a:xfrm>
            <a:off x="1645920" y="1371600"/>
            <a:ext cx="1005840" cy="457200"/>
          </a:xfrm>
          <a:prstGeom prst="roundRect">
            <a:avLst>
              <a:gd name="adj" fmla="val 20000"/>
            </a:avLst>
          </a:prstGeom>
          <a:solidFill>
            <a:srgbClr val="E8F4F3"/>
          </a:solidFill>
          <a:ln w="12700">
            <a:solidFill>
              <a:srgbClr val="0E7C86"/>
            </a:solidFill>
            <a:prstDash val="solid"/>
          </a:ln>
        </p:spPr>
      </p:sp>
      <p:sp>
        <p:nvSpPr>
          <p:cNvPr id="6" name="Text 4"/>
          <p:cNvSpPr txBox="1"/>
          <p:nvPr/>
        </p:nvSpPr>
        <p:spPr>
          <a:xfrm>
            <a:off x="1645920" y="137160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Bo'lim</a:t>
            </a:r>
            <a:endParaRPr lang="en-US" sz="1500" dirty="0"/>
          </a:p>
        </p:txBody>
      </p:sp>
      <p:sp>
        <p:nvSpPr>
          <p:cNvPr id="7" name="Shape 5"/>
          <p:cNvSpPr/>
          <p:nvPr/>
        </p:nvSpPr>
        <p:spPr>
          <a:xfrm>
            <a:off x="548640" y="1920240"/>
            <a:ext cx="1005840" cy="457200"/>
          </a:xfrm>
          <a:prstGeom prst="roundRect">
            <a:avLst>
              <a:gd name="adj" fmla="val 20000"/>
            </a:avLst>
          </a:prstGeom>
          <a:solidFill>
            <a:srgbClr val="E8F4F3"/>
          </a:solidFill>
          <a:ln w="12700">
            <a:solidFill>
              <a:srgbClr val="0E7C86"/>
            </a:solidFill>
            <a:prstDash val="solid"/>
          </a:ln>
        </p:spPr>
      </p:sp>
      <p:sp>
        <p:nvSpPr>
          <p:cNvPr id="8" name="Text 6"/>
          <p:cNvSpPr txBox="1"/>
          <p:nvPr/>
        </p:nvSpPr>
        <p:spPr>
          <a:xfrm>
            <a:off x="548640" y="192024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Tur</a:t>
            </a:r>
            <a:endParaRPr lang="en-US" sz="1500" dirty="0"/>
          </a:p>
        </p:txBody>
      </p:sp>
      <p:sp>
        <p:nvSpPr>
          <p:cNvPr id="9" name="Shape 7"/>
          <p:cNvSpPr/>
          <p:nvPr/>
        </p:nvSpPr>
        <p:spPr>
          <a:xfrm>
            <a:off x="1645920" y="1920240"/>
            <a:ext cx="1005840" cy="457200"/>
          </a:xfrm>
          <a:prstGeom prst="roundRect">
            <a:avLst>
              <a:gd name="adj" fmla="val 20000"/>
            </a:avLst>
          </a:prstGeom>
          <a:solidFill>
            <a:srgbClr val="E8F4F3"/>
          </a:solidFill>
          <a:ln w="12700">
            <a:solidFill>
              <a:srgbClr val="0E7C86"/>
            </a:solidFill>
            <a:prstDash val="solid"/>
          </a:ln>
        </p:spPr>
      </p:sp>
      <p:sp>
        <p:nvSpPr>
          <p:cNvPr id="10" name="Text 8"/>
          <p:cNvSpPr txBox="1"/>
          <p:nvPr/>
        </p:nvSpPr>
        <p:spPr>
          <a:xfrm>
            <a:off x="1645920" y="192024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Holat</a:t>
            </a:r>
            <a:endParaRPr lang="en-US" sz="1500" dirty="0"/>
          </a:p>
        </p:txBody>
      </p:sp>
      <p:sp>
        <p:nvSpPr>
          <p:cNvPr id="11" name="Text 9"/>
          <p:cNvSpPr txBox="1"/>
          <p:nvPr/>
        </p:nvSpPr>
        <p:spPr>
          <a:xfrm>
            <a:off x="548640" y="2514600"/>
            <a:ext cx="4023360" cy="365760"/>
          </a:xfrm>
          <a:prstGeom prst="rect">
            <a:avLst/>
          </a:prstGeom>
          <a:noFill/>
          <a:ln/>
        </p:spPr>
        <p:txBody>
          <a:bodyPr wrap="square" lIns="0" tIns="0" rIns="0" bIns="0" rtlCol="0" anchor="ctr"/>
          <a:lstStyle/>
          <a:p>
            <a:pPr indent="0" marL="0">
              <a:buNone/>
            </a:pPr>
            <a:r>
              <a:rPr lang="en-US" sz="1600" dirty="0">
                <a:solidFill>
                  <a:srgbClr val="0B3C49"/>
                </a:solidFill>
                <a:latin typeface="Calibri" pitchFamily="34" charset="0"/>
                <a:ea typeface="Calibri" pitchFamily="34" charset="-122"/>
                <a:cs typeface="Calibri" pitchFamily="34" charset="-120"/>
              </a:rPr>
              <a:t>Filtrlang → ko'ring → yuklab oling</a:t>
            </a:r>
            <a:endParaRPr lang="en-US" sz="1600" dirty="0"/>
          </a:p>
        </p:txBody>
      </p:sp>
      <p:sp>
        <p:nvSpPr>
          <p:cNvPr id="12" name="Shape 10"/>
          <p:cNvSpPr/>
          <p:nvPr/>
        </p:nvSpPr>
        <p:spPr>
          <a:xfrm>
            <a:off x="4727448" y="1344168"/>
            <a:ext cx="3895344" cy="2980944"/>
          </a:xfrm>
          <a:prstGeom prst="rect">
            <a:avLst/>
          </a:prstGeom>
          <a:solidFill>
            <a:srgbClr val="B8CED3"/>
          </a:solidFill>
          <a:ln w="12700">
            <a:solidFill>
              <a:srgbClr val="B8CED3"/>
            </a:solidFill>
            <a:prstDash val="solid"/>
          </a:ln>
        </p:spPr>
      </p:sp>
      <p:pic>
        <p:nvPicPr>
          <p:cNvPr id="13" name="Image 0" descr="screenshots/report.png">    </p:cNvPr>
          <p:cNvPicPr>
            <a:picLocks noChangeAspect="1"/>
          </p:cNvPicPr>
          <p:nvPr/>
        </p:nvPicPr>
        <p:blipFill>
          <a:blip r:embed="rId1"/>
          <a:srcRect l="0" r="0" t="0" b="0"/>
          <a:stretch/>
        </p:blipFill>
        <p:spPr>
          <a:xfrm>
            <a:off x="4754880" y="1371600"/>
            <a:ext cx="3840480" cy="2926080"/>
          </a:xfrm>
          <a:prstGeom prst="rect">
            <a:avLst/>
          </a:prstGeom>
        </p:spPr>
      </p:pic>
      <p:sp>
        <p:nvSpPr>
          <p:cNvPr id="14" name="Shape 11"/>
          <p:cNvSpPr/>
          <p:nvPr/>
        </p:nvSpPr>
        <p:spPr>
          <a:xfrm>
            <a:off x="548640" y="3017520"/>
            <a:ext cx="731520" cy="731520"/>
          </a:xfrm>
          <a:prstGeom prst="ellipse">
            <a:avLst/>
          </a:prstGeom>
          <a:solidFill>
            <a:srgbClr val="3C9D6B"/>
          </a:solidFill>
          <a:ln w="12700">
            <a:solidFill>
              <a:srgbClr val="3C9D6B"/>
            </a:solidFill>
            <a:prstDash val="solid"/>
          </a:ln>
        </p:spPr>
      </p:sp>
      <p:pic>
        <p:nvPicPr>
          <p:cNvPr id="15" name="Image 1" descr="preencoded.png">    </p:cNvPr>
          <p:cNvPicPr>
            <a:picLocks noChangeAspect="1"/>
          </p:cNvPicPr>
          <p:nvPr/>
        </p:nvPicPr>
        <p:blipFill>
          <a:blip r:embed="rId2"/>
          <a:stretch>
            <a:fillRect/>
          </a:stretch>
        </p:blipFill>
        <p:spPr>
          <a:xfrm>
            <a:off x="731520" y="3200400"/>
            <a:ext cx="365760" cy="365760"/>
          </a:xfrm>
          <a:prstGeom prst="rect">
            <a:avLst/>
          </a:prstGeom>
        </p:spPr>
      </p:pic>
      <p:sp>
        <p:nvSpPr>
          <p:cNvPr id="16" name="Text 12"/>
          <p:cNvSpPr txBox="1"/>
          <p:nvPr/>
        </p:nvSpPr>
        <p:spPr>
          <a:xfrm>
            <a:off x="1463040" y="3017520"/>
            <a:ext cx="228600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Excel (.xlsx)</a:t>
            </a:r>
            <a:endParaRPr lang="en-US" sz="1600" dirty="0"/>
          </a:p>
        </p:txBody>
      </p:sp>
      <p:sp>
        <p:nvSpPr>
          <p:cNvPr id="17" name="Shape 13"/>
          <p:cNvSpPr/>
          <p:nvPr/>
        </p:nvSpPr>
        <p:spPr>
          <a:xfrm>
            <a:off x="548640" y="3840480"/>
            <a:ext cx="731520" cy="731520"/>
          </a:xfrm>
          <a:prstGeom prst="ellipse">
            <a:avLst/>
          </a:prstGeom>
          <a:solidFill>
            <a:srgbClr val="C8553D"/>
          </a:solidFill>
          <a:ln w="12700">
            <a:solidFill>
              <a:srgbClr val="C8553D"/>
            </a:solidFill>
            <a:prstDash val="solid"/>
          </a:ln>
        </p:spPr>
      </p:sp>
      <p:pic>
        <p:nvPicPr>
          <p:cNvPr id="18" name="Image 2" descr="preencoded.png">    </p:cNvPr>
          <p:cNvPicPr>
            <a:picLocks noChangeAspect="1"/>
          </p:cNvPicPr>
          <p:nvPr/>
        </p:nvPicPr>
        <p:blipFill>
          <a:blip r:embed="rId3"/>
          <a:stretch>
            <a:fillRect/>
          </a:stretch>
        </p:blipFill>
        <p:spPr>
          <a:xfrm>
            <a:off x="731520" y="4023360"/>
            <a:ext cx="365760" cy="365760"/>
          </a:xfrm>
          <a:prstGeom prst="rect">
            <a:avLst/>
          </a:prstGeom>
        </p:spPr>
      </p:pic>
      <p:sp>
        <p:nvSpPr>
          <p:cNvPr id="19" name="Text 14"/>
          <p:cNvSpPr txBox="1"/>
          <p:nvPr/>
        </p:nvSpPr>
        <p:spPr>
          <a:xfrm>
            <a:off x="1463040" y="3840480"/>
            <a:ext cx="228600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PDF</a:t>
            </a:r>
            <a:endParaRPr lang="en-US" sz="1600" dirty="0"/>
          </a:p>
        </p:txBody>
      </p:sp>
      <p:sp>
        <p:nvSpPr>
          <p:cNvPr id="20" name="Shape 15"/>
          <p:cNvSpPr/>
          <p:nvPr/>
        </p:nvSpPr>
        <p:spPr>
          <a:xfrm>
            <a:off x="2743200" y="3429000"/>
            <a:ext cx="731520" cy="731520"/>
          </a:xfrm>
          <a:prstGeom prst="ellipse">
            <a:avLst/>
          </a:prstGeom>
          <a:solidFill>
            <a:srgbClr val="0E7C86"/>
          </a:solidFill>
          <a:ln w="12700">
            <a:solidFill>
              <a:srgbClr val="0E7C86"/>
            </a:solidFill>
            <a:prstDash val="solid"/>
          </a:ln>
        </p:spPr>
      </p:sp>
      <p:pic>
        <p:nvPicPr>
          <p:cNvPr id="21" name="Image 3" descr="preencoded.png">    </p:cNvPr>
          <p:cNvPicPr>
            <a:picLocks noChangeAspect="1"/>
          </p:cNvPicPr>
          <p:nvPr/>
        </p:nvPicPr>
        <p:blipFill>
          <a:blip r:embed="rId4"/>
          <a:stretch>
            <a:fillRect/>
          </a:stretch>
        </p:blipFill>
        <p:spPr>
          <a:xfrm>
            <a:off x="2926080" y="3611880"/>
            <a:ext cx="365760" cy="365760"/>
          </a:xfrm>
          <a:prstGeom prst="rect">
            <a:avLst/>
          </a:prstGeom>
        </p:spPr>
      </p:pic>
      <p:sp>
        <p:nvSpPr>
          <p:cNvPr id="22" name="Text 16"/>
          <p:cNvSpPr txBox="1"/>
          <p:nvPr/>
        </p:nvSpPr>
        <p:spPr>
          <a:xfrm>
            <a:off x="3566160" y="3429000"/>
            <a:ext cx="109728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Chop etish</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Natija va kelajak rejalari</a:t>
            </a:r>
            <a:endParaRPr lang="en-US" sz="3600" dirty="0"/>
          </a:p>
        </p:txBody>
      </p:sp>
      <p:sp>
        <p:nvSpPr>
          <p:cNvPr id="3" name="Shape 1"/>
          <p:cNvSpPr/>
          <p:nvPr/>
        </p:nvSpPr>
        <p:spPr>
          <a:xfrm>
            <a:off x="548640" y="1371600"/>
            <a:ext cx="3840480" cy="2926080"/>
          </a:xfrm>
          <a:prstGeom prst="roundRect">
            <a:avLst>
              <a:gd name="adj" fmla="val 3750"/>
            </a:avLst>
          </a:prstGeom>
          <a:solidFill>
            <a:srgbClr val="E8F4F3"/>
          </a:solidFill>
          <a:ln w="12700">
            <a:solidFill>
              <a:srgbClr val="E8F4F3"/>
            </a:solidFill>
            <a:prstDash val="solid"/>
          </a:ln>
        </p:spPr>
      </p:sp>
      <p:sp>
        <p:nvSpPr>
          <p:cNvPr id="4" name="Shape 2"/>
          <p:cNvSpPr/>
          <p:nvPr/>
        </p:nvSpPr>
        <p:spPr>
          <a:xfrm>
            <a:off x="4754880" y="1371600"/>
            <a:ext cx="3840480" cy="2926080"/>
          </a:xfrm>
          <a:prstGeom prst="roundRect">
            <a:avLst>
              <a:gd name="adj" fmla="val 3750"/>
            </a:avLst>
          </a:prstGeom>
          <a:solidFill>
            <a:srgbClr val="FDF1DC"/>
          </a:solidFill>
          <a:ln w="12700">
            <a:solidFill>
              <a:srgbClr val="FDF1DC"/>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indent="0" marL="0">
              <a:buNone/>
            </a:pPr>
            <a:r>
              <a:rPr lang="en-US" sz="2200" b="1" dirty="0">
                <a:solidFill>
                  <a:srgbClr val="0E7C86"/>
                </a:solidFill>
                <a:latin typeface="Calibri" pitchFamily="34" charset="0"/>
                <a:ea typeface="Calibri" pitchFamily="34" charset="-122"/>
                <a:cs typeface="Calibri" pitchFamily="34" charset="-120"/>
              </a:rPr>
              <a:t>Natija</a:t>
            </a:r>
            <a:endParaRPr lang="en-US" sz="2200" dirty="0"/>
          </a:p>
        </p:txBody>
      </p:sp>
      <p:sp>
        <p:nvSpPr>
          <p:cNvPr id="6" name="Text 4"/>
          <p:cNvSpPr txBox="1"/>
          <p:nvPr/>
        </p:nvSpPr>
        <p:spPr>
          <a:xfrm>
            <a:off x="82296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elektron hisob</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tarix</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Tez hisobot</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Xavfsiz kirish</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yordamchi</a:t>
            </a:r>
            <a:endParaRPr lang="en-US" sz="18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indent="0" marL="0">
              <a:buNone/>
            </a:pPr>
            <a:r>
              <a:rPr lang="en-US" sz="2200" b="1" dirty="0">
                <a:solidFill>
                  <a:srgbClr val="B9770E"/>
                </a:solidFill>
                <a:latin typeface="Calibri" pitchFamily="34" charset="0"/>
                <a:ea typeface="Calibri" pitchFamily="34" charset="-122"/>
                <a:cs typeface="Calibri" pitchFamily="34" charset="-120"/>
              </a:rPr>
              <a:t>Kelajak</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tahliliy xulosalar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QR / shtrix-kod skaner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Bildirishnomalar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Mobil ilova</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Jamoa: 404 Found</a:t>
            </a:r>
            <a:endParaRPr lang="en-US" sz="3600" dirty="0"/>
          </a:p>
        </p:txBody>
      </p:sp>
      <p:sp>
        <p:nvSpPr>
          <p:cNvPr id="3" name="Shape 1"/>
          <p:cNvSpPr/>
          <p:nvPr/>
        </p:nvSpPr>
        <p:spPr>
          <a:xfrm>
            <a:off x="548640" y="1463040"/>
            <a:ext cx="1920240" cy="2377440"/>
          </a:xfrm>
          <a:prstGeom prst="roundRect">
            <a:avLst>
              <a:gd name="adj" fmla="val 5714"/>
            </a:avLst>
          </a:prstGeom>
          <a:solidFill>
            <a:srgbClr val="E8F4F3"/>
          </a:solidFill>
          <a:ln w="12700">
            <a:solidFill>
              <a:srgbClr val="E8F4F3"/>
            </a:solidFill>
            <a:prstDash val="solid"/>
          </a:ln>
        </p:spPr>
      </p:sp>
      <p:sp>
        <p:nvSpPr>
          <p:cNvPr id="4" name="Shape 2"/>
          <p:cNvSpPr/>
          <p:nvPr/>
        </p:nvSpPr>
        <p:spPr>
          <a:xfrm>
            <a:off x="1051560" y="1691640"/>
            <a:ext cx="914400" cy="914400"/>
          </a:xfrm>
          <a:prstGeom prst="ellipse">
            <a:avLst/>
          </a:prstGeom>
          <a:solidFill>
            <a:srgbClr val="0E7C86"/>
          </a:solidFill>
          <a:ln w="12700">
            <a:solidFill>
              <a:srgbClr val="0E7C86"/>
            </a:solidFill>
            <a:prstDash val="solid"/>
          </a:ln>
        </p:spPr>
      </p:sp>
      <p:pic>
        <p:nvPicPr>
          <p:cNvPr id="5" name="Image 0" descr="preencoded.png">    </p:cNvPr>
          <p:cNvPicPr>
            <a:picLocks noChangeAspect="1"/>
          </p:cNvPicPr>
          <p:nvPr/>
        </p:nvPicPr>
        <p:blipFill>
          <a:blip r:embed="rId1"/>
          <a:stretch>
            <a:fillRect/>
          </a:stretch>
        </p:blipFill>
        <p:spPr>
          <a:xfrm>
            <a:off x="1280160" y="1920240"/>
            <a:ext cx="457200" cy="457200"/>
          </a:xfrm>
          <a:prstGeom prst="rect">
            <a:avLst/>
          </a:prstGeom>
        </p:spPr>
      </p:pic>
      <p:sp>
        <p:nvSpPr>
          <p:cNvPr id="6" name="Text 3"/>
          <p:cNvSpPr txBox="1"/>
          <p:nvPr/>
        </p:nvSpPr>
        <p:spPr>
          <a:xfrm>
            <a:off x="640080" y="2788920"/>
            <a:ext cx="1737360" cy="41148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A'zo 1</a:t>
            </a:r>
            <a:endParaRPr lang="en-US" sz="1800" dirty="0"/>
          </a:p>
        </p:txBody>
      </p:sp>
      <p:sp>
        <p:nvSpPr>
          <p:cNvPr id="7" name="Text 4"/>
          <p:cNvSpPr txBox="1"/>
          <p:nvPr/>
        </p:nvSpPr>
        <p:spPr>
          <a:xfrm>
            <a:off x="640080" y="3200400"/>
            <a:ext cx="173736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Vazifasi</a:t>
            </a:r>
            <a:endParaRPr lang="en-US" sz="1400" dirty="0"/>
          </a:p>
        </p:txBody>
      </p:sp>
      <p:sp>
        <p:nvSpPr>
          <p:cNvPr id="8" name="Shape 5"/>
          <p:cNvSpPr/>
          <p:nvPr/>
        </p:nvSpPr>
        <p:spPr>
          <a:xfrm>
            <a:off x="2651760" y="1463040"/>
            <a:ext cx="1920240" cy="2377440"/>
          </a:xfrm>
          <a:prstGeom prst="roundRect">
            <a:avLst>
              <a:gd name="adj" fmla="val 5714"/>
            </a:avLst>
          </a:prstGeom>
          <a:solidFill>
            <a:srgbClr val="E8F4F3"/>
          </a:solidFill>
          <a:ln w="12700">
            <a:solidFill>
              <a:srgbClr val="E8F4F3"/>
            </a:solidFill>
            <a:prstDash val="solid"/>
          </a:ln>
        </p:spPr>
      </p:sp>
      <p:sp>
        <p:nvSpPr>
          <p:cNvPr id="9" name="Shape 6"/>
          <p:cNvSpPr/>
          <p:nvPr/>
        </p:nvSpPr>
        <p:spPr>
          <a:xfrm>
            <a:off x="3154680" y="1691640"/>
            <a:ext cx="914400" cy="914400"/>
          </a:xfrm>
          <a:prstGeom prst="ellipse">
            <a:avLst/>
          </a:prstGeom>
          <a:solidFill>
            <a:srgbClr val="14A3A8"/>
          </a:solidFill>
          <a:ln w="12700">
            <a:solidFill>
              <a:srgbClr val="14A3A8"/>
            </a:solidFill>
            <a:prstDash val="solid"/>
          </a:ln>
        </p:spPr>
      </p:sp>
      <p:pic>
        <p:nvPicPr>
          <p:cNvPr id="10" name="Image 1" descr="preencoded.png">    </p:cNvPr>
          <p:cNvPicPr>
            <a:picLocks noChangeAspect="1"/>
          </p:cNvPicPr>
          <p:nvPr/>
        </p:nvPicPr>
        <p:blipFill>
          <a:blip r:embed="rId2"/>
          <a:stretch>
            <a:fillRect/>
          </a:stretch>
        </p:blipFill>
        <p:spPr>
          <a:xfrm>
            <a:off x="3383280" y="1920240"/>
            <a:ext cx="457200" cy="457200"/>
          </a:xfrm>
          <a:prstGeom prst="rect">
            <a:avLst/>
          </a:prstGeom>
        </p:spPr>
      </p:pic>
      <p:sp>
        <p:nvSpPr>
          <p:cNvPr id="11" name="Text 7"/>
          <p:cNvSpPr txBox="1"/>
          <p:nvPr/>
        </p:nvSpPr>
        <p:spPr>
          <a:xfrm>
            <a:off x="2743200" y="2788920"/>
            <a:ext cx="1737360" cy="41148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A'zo 2</a:t>
            </a:r>
            <a:endParaRPr lang="en-US" sz="1800" dirty="0"/>
          </a:p>
        </p:txBody>
      </p:sp>
      <p:sp>
        <p:nvSpPr>
          <p:cNvPr id="12" name="Text 8"/>
          <p:cNvSpPr txBox="1"/>
          <p:nvPr/>
        </p:nvSpPr>
        <p:spPr>
          <a:xfrm>
            <a:off x="2743200" y="3200400"/>
            <a:ext cx="173736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Vazifasi</a:t>
            </a:r>
            <a:endParaRPr lang="en-US" sz="1400" dirty="0"/>
          </a:p>
        </p:txBody>
      </p:sp>
      <p:sp>
        <p:nvSpPr>
          <p:cNvPr id="13" name="Shape 9"/>
          <p:cNvSpPr/>
          <p:nvPr/>
        </p:nvSpPr>
        <p:spPr>
          <a:xfrm>
            <a:off x="4754880" y="1463040"/>
            <a:ext cx="1920240" cy="2377440"/>
          </a:xfrm>
          <a:prstGeom prst="roundRect">
            <a:avLst>
              <a:gd name="adj" fmla="val 5714"/>
            </a:avLst>
          </a:prstGeom>
          <a:solidFill>
            <a:srgbClr val="E8F4F3"/>
          </a:solidFill>
          <a:ln w="12700">
            <a:solidFill>
              <a:srgbClr val="E8F4F3"/>
            </a:solidFill>
            <a:prstDash val="solid"/>
          </a:ln>
        </p:spPr>
      </p:sp>
      <p:sp>
        <p:nvSpPr>
          <p:cNvPr id="14" name="Shape 10"/>
          <p:cNvSpPr/>
          <p:nvPr/>
        </p:nvSpPr>
        <p:spPr>
          <a:xfrm>
            <a:off x="5257800" y="1691640"/>
            <a:ext cx="914400" cy="914400"/>
          </a:xfrm>
          <a:prstGeom prst="ellipse">
            <a:avLst/>
          </a:prstGeom>
          <a:solidFill>
            <a:srgbClr val="0E7C86"/>
          </a:solidFill>
          <a:ln w="12700">
            <a:solidFill>
              <a:srgbClr val="0E7C86"/>
            </a:solidFill>
            <a:prstDash val="solid"/>
          </a:ln>
        </p:spPr>
      </p:sp>
      <p:pic>
        <p:nvPicPr>
          <p:cNvPr id="15" name="Image 2" descr="preencoded.png">    </p:cNvPr>
          <p:cNvPicPr>
            <a:picLocks noChangeAspect="1"/>
          </p:cNvPicPr>
          <p:nvPr/>
        </p:nvPicPr>
        <p:blipFill>
          <a:blip r:embed="rId3"/>
          <a:stretch>
            <a:fillRect/>
          </a:stretch>
        </p:blipFill>
        <p:spPr>
          <a:xfrm>
            <a:off x="5486400" y="1920240"/>
            <a:ext cx="457200" cy="457200"/>
          </a:xfrm>
          <a:prstGeom prst="rect">
            <a:avLst/>
          </a:prstGeom>
        </p:spPr>
      </p:pic>
      <p:sp>
        <p:nvSpPr>
          <p:cNvPr id="16" name="Text 11"/>
          <p:cNvSpPr txBox="1"/>
          <p:nvPr/>
        </p:nvSpPr>
        <p:spPr>
          <a:xfrm>
            <a:off x="4846320" y="2788920"/>
            <a:ext cx="1737360" cy="41148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A'zo 3</a:t>
            </a:r>
            <a:endParaRPr lang="en-US" sz="1800" dirty="0"/>
          </a:p>
        </p:txBody>
      </p:sp>
      <p:sp>
        <p:nvSpPr>
          <p:cNvPr id="17" name="Text 12"/>
          <p:cNvSpPr txBox="1"/>
          <p:nvPr/>
        </p:nvSpPr>
        <p:spPr>
          <a:xfrm>
            <a:off x="4846320" y="3200400"/>
            <a:ext cx="173736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Vazifasi</a:t>
            </a:r>
            <a:endParaRPr lang="en-US" sz="1400" dirty="0"/>
          </a:p>
        </p:txBody>
      </p:sp>
      <p:sp>
        <p:nvSpPr>
          <p:cNvPr id="18" name="Shape 13"/>
          <p:cNvSpPr/>
          <p:nvPr/>
        </p:nvSpPr>
        <p:spPr>
          <a:xfrm>
            <a:off x="6858000" y="1463040"/>
            <a:ext cx="1920240" cy="2377440"/>
          </a:xfrm>
          <a:prstGeom prst="roundRect">
            <a:avLst>
              <a:gd name="adj" fmla="val 5714"/>
            </a:avLst>
          </a:prstGeom>
          <a:solidFill>
            <a:srgbClr val="E8F4F3"/>
          </a:solidFill>
          <a:ln w="12700">
            <a:solidFill>
              <a:srgbClr val="E8F4F3"/>
            </a:solidFill>
            <a:prstDash val="solid"/>
          </a:ln>
        </p:spPr>
      </p:sp>
      <p:sp>
        <p:nvSpPr>
          <p:cNvPr id="19" name="Shape 14"/>
          <p:cNvSpPr/>
          <p:nvPr/>
        </p:nvSpPr>
        <p:spPr>
          <a:xfrm>
            <a:off x="7360920" y="1691640"/>
            <a:ext cx="914400" cy="914400"/>
          </a:xfrm>
          <a:prstGeom prst="ellipse">
            <a:avLst/>
          </a:prstGeom>
          <a:solidFill>
            <a:srgbClr val="14A3A8"/>
          </a:solidFill>
          <a:ln w="12700">
            <a:solidFill>
              <a:srgbClr val="14A3A8"/>
            </a:solidFill>
            <a:prstDash val="solid"/>
          </a:ln>
        </p:spPr>
      </p:sp>
      <p:pic>
        <p:nvPicPr>
          <p:cNvPr id="20" name="Image 3" descr="preencoded.png">    </p:cNvPr>
          <p:cNvPicPr>
            <a:picLocks noChangeAspect="1"/>
          </p:cNvPicPr>
          <p:nvPr/>
        </p:nvPicPr>
        <p:blipFill>
          <a:blip r:embed="rId4"/>
          <a:stretch>
            <a:fillRect/>
          </a:stretch>
        </p:blipFill>
        <p:spPr>
          <a:xfrm>
            <a:off x="7589520" y="1920240"/>
            <a:ext cx="457200" cy="457200"/>
          </a:xfrm>
          <a:prstGeom prst="rect">
            <a:avLst/>
          </a:prstGeom>
        </p:spPr>
      </p:pic>
      <p:sp>
        <p:nvSpPr>
          <p:cNvPr id="21" name="Text 15"/>
          <p:cNvSpPr txBox="1"/>
          <p:nvPr/>
        </p:nvSpPr>
        <p:spPr>
          <a:xfrm>
            <a:off x="6949440" y="2788920"/>
            <a:ext cx="1737360" cy="41148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A'zo 4</a:t>
            </a:r>
            <a:endParaRPr lang="en-US" sz="1800" dirty="0"/>
          </a:p>
        </p:txBody>
      </p:sp>
      <p:sp>
        <p:nvSpPr>
          <p:cNvPr id="22" name="Text 16"/>
          <p:cNvSpPr txBox="1"/>
          <p:nvPr/>
        </p:nvSpPr>
        <p:spPr>
          <a:xfrm>
            <a:off x="6949440" y="3200400"/>
            <a:ext cx="173736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Vazifasi</a:t>
            </a:r>
            <a:endParaRPr lang="en-US" sz="1400" dirty="0"/>
          </a:p>
        </p:txBody>
      </p:sp>
      <p:sp>
        <p:nvSpPr>
          <p:cNvPr id="23" name="Text 17"/>
          <p:cNvSpPr txBox="1"/>
          <p:nvPr/>
        </p:nvSpPr>
        <p:spPr>
          <a:xfrm>
            <a:off x="548640" y="4114800"/>
            <a:ext cx="8046720" cy="457200"/>
          </a:xfrm>
          <a:prstGeom prst="rect">
            <a:avLst/>
          </a:prstGeom>
          <a:noFill/>
          <a:ln/>
        </p:spPr>
        <p:txBody>
          <a:bodyPr wrap="square" lIns="0" tIns="0" rIns="0" bIns="0" rtlCol="0" anchor="ctr"/>
          <a:lstStyle/>
          <a:p>
            <a:pPr indent="0" marL="0">
              <a:buNone/>
            </a:pPr>
            <a:r>
              <a:rPr lang="en-US" sz="2000" b="1" dirty="0">
                <a:solidFill>
                  <a:srgbClr val="0E7C86"/>
                </a:solidFill>
                <a:latin typeface="Calibri" pitchFamily="34" charset="0"/>
                <a:ea typeface="Calibri" pitchFamily="34" charset="-122"/>
                <a:cs typeface="Calibri" pitchFamily="34" charset="-120"/>
              </a:rPr>
              <a:t>Hamkorlikka va pilot sinovga tayyormiz</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1371600" y="2926080"/>
            <a:ext cx="4114800" cy="4114800"/>
          </a:xfrm>
          <a:prstGeom prst="ellipse">
            <a:avLst/>
          </a:prstGeom>
          <a:solidFill>
            <a:srgbClr val="0E7C86"/>
          </a:solidFill>
          <a:ln w="12700">
            <a:solidFill>
              <a:srgbClr val="0E7C86"/>
            </a:solidFill>
            <a:prstDash val="solid"/>
          </a:ln>
        </p:spPr>
      </p:sp>
      <p:sp>
        <p:nvSpPr>
          <p:cNvPr id="3" name="Text 1"/>
          <p:cNvSpPr txBox="1"/>
          <p:nvPr/>
        </p:nvSpPr>
        <p:spPr>
          <a:xfrm>
            <a:off x="731520" y="1463040"/>
            <a:ext cx="7680960"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E'tiboringiz uchun rahmat!</a:t>
            </a:r>
            <a:endParaRPr lang="en-US" sz="4400" dirty="0"/>
          </a:p>
        </p:txBody>
      </p:sp>
      <p:sp>
        <p:nvSpPr>
          <p:cNvPr id="4" name="Text 2"/>
          <p:cNvSpPr txBox="1"/>
          <p:nvPr/>
        </p:nvSpPr>
        <p:spPr>
          <a:xfrm>
            <a:off x="731520" y="2651760"/>
            <a:ext cx="7680960" cy="548640"/>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Savol-javob</a:t>
            </a:r>
            <a:endParaRPr lang="en-US" sz="2400" dirty="0"/>
          </a:p>
        </p:txBody>
      </p:sp>
      <p:sp>
        <p:nvSpPr>
          <p:cNvPr id="5" name="Text 3"/>
          <p:cNvSpPr txBox="1"/>
          <p:nvPr/>
        </p:nvSpPr>
        <p:spPr>
          <a:xfrm>
            <a:off x="731520" y="4023360"/>
            <a:ext cx="7680960" cy="365760"/>
          </a:xfrm>
          <a:prstGeom prst="rect">
            <a:avLst/>
          </a:prstGeom>
          <a:noFill/>
          <a:ln/>
        </p:spPr>
        <p:txBody>
          <a:bodyPr wrap="square" lIns="0" tIns="0" rIns="0" bIns="0" rtlCol="0" anchor="ctr"/>
          <a:lstStyle/>
          <a:p>
            <a:pPr algn="ctr" indent="0" marL="0">
              <a:buNone/>
            </a:pPr>
            <a:r>
              <a:rPr lang="en-US" sz="1600" dirty="0">
                <a:solidFill>
                  <a:srgbClr val="BFE6E4"/>
                </a:solidFill>
                <a:latin typeface="Calibri" pitchFamily="34" charset="0"/>
                <a:ea typeface="Calibri" pitchFamily="34" charset="-122"/>
                <a:cs typeface="Calibri" pitchFamily="34" charset="-120"/>
              </a:rPr>
              <a:t>InvenTrack · 404 Found</a:t>
            </a:r>
            <a:endParaRPr lang="en-US" sz="1600" dirty="0"/>
          </a:p>
        </p:txBody>
      </p:sp>
    </p:spTree>
  </p:cSld>
  <p:clrMapOvr>
    <a:masterClrMapping/>
  </p:clrMapOvr>
</p:sld>
</file>

<file path=ppt/theme/theme1.xml><?xml version="1.0" encoding="utf-8"?>
<a:theme xmlns:a="http://schemas.openxmlformats.org/drawingml/2006/main" name="InvenTrack">
  <a:themeElements>
    <a:clrScheme name="InvenTrack">
      <a:dk1>
        <a:srgbClr val="1B2B34"/>
      </a:dk1>
      <a:lt1>
        <a:srgbClr val="FFFFFF"/>
      </a:lt1>
      <a:dk2>
        <a:srgbClr val="0B3C49"/>
      </a:dk2>
      <a:lt2>
        <a:srgbClr val="E8F4F3"/>
      </a:lt2>
      <a:accent1>
        <a:srgbClr val="0E7C86"/>
      </a:accent1>
      <a:accent2>
        <a:srgbClr val="14A3A8"/>
      </a:accent2>
      <a:accent3>
        <a:srgbClr val="F2A541"/>
      </a:accent3>
      <a:accent4>
        <a:srgbClr val="5B7C99"/>
      </a:accent4>
      <a:accent5>
        <a:srgbClr val="C8553D"/>
      </a:accent5>
      <a:accent6>
        <a:srgbClr val="3C9D6B"/>
      </a:accent6>
      <a:hlink>
        <a:srgbClr val="0E7C86"/>
      </a:hlink>
      <a:folHlink>
        <a:srgbClr val="5B7C99"/>
      </a:folHlink>
    </a:clrScheme>
    <a:fontScheme name="Inven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InvenTrack</dc:title>
  <dc:subject>PptxGenJS Presentation</dc:subject>
  <dc:creator>404 Found</dc:creator>
  <cp:lastModifiedBy>404 Found</cp:lastModifiedBy>
  <cp:revision>1</cp:revision>
  <dcterms:created xsi:type="dcterms:W3CDTF">2026-10-14T07:39:39Z</dcterms:created>
  <dcterms:modified xsi:type="dcterms:W3CDTF">2026-10-14T07:39:39Z</dcterms:modified>
</cp:coreProperties>
</file>