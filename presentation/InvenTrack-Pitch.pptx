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37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931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Biz 404 Found jamoasimiz. Bugun sizga InvenTrack — tashkilotdagi kompyuter va texnik vositalarni elektron hisobga olish tizimini taqdim etamiz. Shiorimiz: har bir jihoz hisobda, har bir o'zgarish tarixda.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Ko'pchilik tashkilotlarda jihozlar qog'oz yoki Excel'da yuritiladi. Natijada ma'lumot eskiradi, texnika yo'qoladi, inventarizatsiya esa juda ko'p vaqt oladi.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Maqsadimiz — jihozlarni bitta web-tizimda hisobga olish. Yechim: yagona baza, avtomatik inventar raqam, to'liq tarix va tez hisobot.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Funksiyalarni to'rt guruhga ajratdik: hisobga olish, joylashuv va mas'ul, holat va ta'mir, tarix va hisobot.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Tizim yettita asosiy jihoz turini qo'llab-quvvatlaydi. Administrator istalgan vaqtda yangi tur qo'sha oladi.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Jarayon: foydalanuvchi kiradi, jihoz qo'shiladi va avtomatik raqam oladi, xona va mas'ulga biriktiriladi, holati yangilanadi, oxirida hisobot olinadi. Har bir qadam tarixga yoziladi.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ekranlarning maketi. Ilova tayyor bo'lgach, shu yerga haqiqiy skrinshotlar qo'yiladi. Dashboard, ro'yxat, kartochka va forma.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bitta jihozning tarixi: kim, qachon, nima o'zgargani yozilgan. Misol uchun sinov ma'lumotlari ishlatilgan. Tarix yozuvlari o'zgartirilmaydi.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Tizimga AI yordamchi qo'shiladi: foydalanuvchi oddiy o'zbek tilida savol beradi, masalan qaysi bo'limda nosoz jihoz ko'p. Agent faqat oldindan belgilangan xavfsiz asboblarni chaqiradi, bazani o'zgartira olmaydi va foydalanuvchi roliga ko'ra ma'lumot oladi. Model OpenRouter orqali bepul modellar zanjiri bilan ishlaydi, biri javob bermasa keyingisi ishga tushadi.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 rol: Administrator hamma narsani boshqaradi, Mas'ul shaxs o'z jihozlarini yangilaydi, Xodim faqat ko'ra oladi. Ruxsatlar serverda tekshiriladi.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Xavfsizlik bo'yicha: parollar bcrypt bilan hashlanadi; JWT qisqa muddatli; ruxsatlar frontendda emas, serverda tekshiriladi; barcha kirish ma'lumotlari Zod bilan tekshiriladi, Prisma parametrlangan so'rovlar ishlatadi; Helmet, CORS va login urinishlari cheklanadi; barcha o'zgarishlar tarixga yoziladi; kalitlar kodda emas, .env faylida.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React va TypeScript, backend Node.js va Express, ma'lumotlar bazasi PostgreSQL, Prisma ORM orqali. Markazda equipment jadvali, unga turlar, xonalar, ta'mirlar va tarix bog'langan.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Hisobotni xona, bo'lim, tur va holat bo'yicha filtrlash mumkin. Natija Excel yoki PDF'ga yuklanadi, chop etishga qulay ko'rinishi ham bor.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Natijada tashkilot jihozlarining yagona, xavfsiz va yangilanib turadigan hisobi paydo bo'ladi. Kelajakda QR skaner, bildirishnomalar va mobil ilova qo'shishni rejalashtirganmiz.</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Jamoamiz 404 Found: dasturlash, dizayn va ma'lumotlar bo'yicha mutaxassislar. Biz tizimni pilot sifatida bitta bo'limda sinab ko'rishga tayyormiz.</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E'tiboringiz uchun rahmat! Savollaringiz bo'lsa, javob beramiz.</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a:effectLst/>
      </p:bgPr>
    </p:bg>
    <p:spTree>
      <p:nvGrpSpPr>
        <p:cNvPr id="1" name=""/>
        <p:cNvGrpSpPr/>
        <p:nvPr/>
      </p:nvGrpSpPr>
      <p:grpSpPr>
        <a:xfrm>
          <a:off x="0" y="0"/>
          <a:ext cx="0" cy="0"/>
          <a:chOff x="0" y="0"/>
          <a:chExt cx="0" cy="0"/>
        </a:xfrm>
      </p:grpSpPr>
      <p:sp>
        <p:nvSpPr>
          <p:cNvPr id="2" name="Shape 0"/>
          <p:cNvSpPr/>
          <p:nvPr/>
        </p:nvSpPr>
        <p:spPr>
          <a:xfrm>
            <a:off x="6309360" y="-1097280"/>
            <a:ext cx="4206240" cy="4206240"/>
          </a:xfrm>
          <a:prstGeom prst="ellipse">
            <a:avLst/>
          </a:prstGeom>
          <a:solidFill>
            <a:srgbClr val="0E7C86"/>
          </a:solidFill>
          <a:ln w="12700">
            <a:solidFill>
              <a:srgbClr val="0E7C86"/>
            </a:solidFill>
            <a:prstDash val="solid"/>
          </a:ln>
        </p:spPr>
      </p:sp>
      <p:sp>
        <p:nvSpPr>
          <p:cNvPr id="3" name="Shape 1"/>
          <p:cNvSpPr/>
          <p:nvPr/>
        </p:nvSpPr>
        <p:spPr>
          <a:xfrm>
            <a:off x="7223760" y="2560320"/>
            <a:ext cx="2743200" cy="2743200"/>
          </a:xfrm>
          <a:prstGeom prst="ellipse">
            <a:avLst/>
          </a:prstGeom>
          <a:solidFill>
            <a:srgbClr val="14A3A8"/>
          </a:solidFill>
          <a:ln w="12700">
            <a:solidFill>
              <a:srgbClr val="14A3A8"/>
            </a:solidFill>
            <a:prstDash val="solid"/>
          </a:ln>
        </p:spPr>
      </p:sp>
      <p:sp>
        <p:nvSpPr>
          <p:cNvPr id="4" name="Shape 2"/>
          <p:cNvSpPr/>
          <p:nvPr/>
        </p:nvSpPr>
        <p:spPr>
          <a:xfrm>
            <a:off x="640080" y="640080"/>
            <a:ext cx="822960" cy="822960"/>
          </a:xfrm>
          <a:prstGeom prst="ellipse">
            <a:avLst/>
          </a:prstGeom>
          <a:solidFill>
            <a:srgbClr val="F2A541"/>
          </a:solidFill>
          <a:ln w="12700">
            <a:solidFill>
              <a:srgbClr val="F2A541"/>
            </a:solidFill>
            <a:prstDash val="solid"/>
          </a:ln>
        </p:spPr>
      </p:sp>
      <p:pic>
        <p:nvPicPr>
          <p:cNvPr id="5" name="Image 0" descr="preencoded.png"/>
          <p:cNvPicPr>
            <a:picLocks noChangeAspect="1"/>
          </p:cNvPicPr>
          <p:nvPr/>
        </p:nvPicPr>
        <p:blipFill>
          <a:blip r:embed="rId3"/>
          <a:stretch>
            <a:fillRect/>
          </a:stretch>
        </p:blipFill>
        <p:spPr>
          <a:xfrm>
            <a:off x="845820" y="845820"/>
            <a:ext cx="411480" cy="411480"/>
          </a:xfrm>
          <a:prstGeom prst="rect">
            <a:avLst/>
          </a:prstGeom>
        </p:spPr>
      </p:pic>
      <p:sp>
        <p:nvSpPr>
          <p:cNvPr id="6" name="Text 3"/>
          <p:cNvSpPr txBox="1"/>
          <p:nvPr/>
        </p:nvSpPr>
        <p:spPr>
          <a:xfrm>
            <a:off x="640080" y="1645920"/>
            <a:ext cx="6400800" cy="9144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InvenTrack</a:t>
            </a:r>
            <a:endParaRPr lang="en-US" sz="6000" dirty="0"/>
          </a:p>
        </p:txBody>
      </p:sp>
      <p:sp>
        <p:nvSpPr>
          <p:cNvPr id="7" name="Text 4"/>
          <p:cNvSpPr txBox="1"/>
          <p:nvPr/>
        </p:nvSpPr>
        <p:spPr>
          <a:xfrm>
            <a:off x="640080" y="2651760"/>
            <a:ext cx="6400800" cy="548640"/>
          </a:xfrm>
          <a:prstGeom prst="rect">
            <a:avLst/>
          </a:prstGeom>
          <a:noFill/>
          <a:ln/>
        </p:spPr>
        <p:txBody>
          <a:bodyPr wrap="square" lIns="0" tIns="0" rIns="0" bIns="0" rtlCol="0" anchor="ctr"/>
          <a:lstStyle/>
          <a:p>
            <a:pPr marL="0" indent="0">
              <a:buNone/>
            </a:pPr>
            <a:r>
              <a:rPr lang="en-US" sz="2200" i="1" dirty="0">
                <a:solidFill>
                  <a:srgbClr val="BFE6E4"/>
                </a:solidFill>
                <a:latin typeface="Calibri" pitchFamily="34" charset="0"/>
                <a:ea typeface="Calibri" pitchFamily="34" charset="-122"/>
                <a:cs typeface="Calibri" pitchFamily="34" charset="-120"/>
              </a:rPr>
              <a:t>Har bir jihoz hisobda, har bir o'zgarish tarixda.</a:t>
            </a:r>
            <a:endParaRPr lang="en-US" sz="2200" dirty="0"/>
          </a:p>
        </p:txBody>
      </p:sp>
      <p:sp>
        <p:nvSpPr>
          <p:cNvPr id="8" name="Text 5"/>
          <p:cNvSpPr txBox="1"/>
          <p:nvPr/>
        </p:nvSpPr>
        <p:spPr>
          <a:xfrm>
            <a:off x="640080" y="3840480"/>
            <a:ext cx="64008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Jamoa: 404 Found</a:t>
            </a:r>
            <a:endParaRPr lang="en-US" sz="1600" dirty="0"/>
          </a:p>
          <a:p>
            <a:pPr marL="0" indent="0">
              <a:buNone/>
            </a:pPr>
            <a:r>
              <a:rPr lang="en-US" sz="1600" dirty="0" err="1">
                <a:solidFill>
                  <a:srgbClr val="FFFFFF"/>
                </a:solidFill>
                <a:latin typeface="Calibri" pitchFamily="34" charset="0"/>
                <a:ea typeface="Calibri" pitchFamily="34" charset="-122"/>
                <a:cs typeface="Calibri" pitchFamily="34" charset="-120"/>
              </a:rPr>
              <a:t>A'zo</a:t>
            </a:r>
            <a:r>
              <a:rPr lang="en-US" sz="1600" dirty="0">
                <a:solidFill>
                  <a:srgbClr val="FFFFFF"/>
                </a:solidFill>
                <a:latin typeface="Calibri" pitchFamily="34" charset="0"/>
                <a:ea typeface="Calibri" pitchFamily="34" charset="-122"/>
                <a:cs typeface="Calibri" pitchFamily="34" charset="-120"/>
              </a:rPr>
              <a:t> 1  ·  A'zo 2  ·  A'zo 3  ·  A'zo 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Muammo</a:t>
            </a:r>
            <a:endParaRPr lang="en-US" sz="3600" dirty="0"/>
          </a:p>
        </p:txBody>
      </p:sp>
      <p:sp>
        <p:nvSpPr>
          <p:cNvPr id="3" name="Shape 1"/>
          <p:cNvSpPr/>
          <p:nvPr/>
        </p:nvSpPr>
        <p:spPr>
          <a:xfrm>
            <a:off x="548640" y="1371600"/>
            <a:ext cx="3840480" cy="1463040"/>
          </a:xfrm>
          <a:prstGeom prst="roundRect">
            <a:avLst>
              <a:gd name="adj" fmla="val 7500"/>
            </a:avLst>
          </a:prstGeom>
          <a:solidFill>
            <a:srgbClr val="E8F4F3"/>
          </a:solidFill>
          <a:ln w="12700">
            <a:solidFill>
              <a:srgbClr val="E8F4F3"/>
            </a:solidFill>
            <a:prstDash val="solid"/>
          </a:ln>
        </p:spPr>
      </p:sp>
      <p:sp>
        <p:nvSpPr>
          <p:cNvPr id="4" name="Shape 2"/>
          <p:cNvSpPr/>
          <p:nvPr/>
        </p:nvSpPr>
        <p:spPr>
          <a:xfrm>
            <a:off x="777240" y="1691640"/>
            <a:ext cx="822960" cy="822960"/>
          </a:xfrm>
          <a:prstGeom prst="ellipse">
            <a:avLst/>
          </a:prstGeom>
          <a:solidFill>
            <a:srgbClr val="C8553D"/>
          </a:solidFill>
          <a:ln w="12700">
            <a:solidFill>
              <a:srgbClr val="C8553D"/>
            </a:solidFill>
            <a:prstDash val="solid"/>
          </a:ln>
        </p:spPr>
      </p:sp>
      <p:pic>
        <p:nvPicPr>
          <p:cNvPr id="5" name="Image 0" descr="preencoded.png"/>
          <p:cNvPicPr>
            <a:picLocks noChangeAspect="1"/>
          </p:cNvPicPr>
          <p:nvPr/>
        </p:nvPicPr>
        <p:blipFill>
          <a:blip r:embed="rId3"/>
          <a:stretch>
            <a:fillRect/>
          </a:stretch>
        </p:blipFill>
        <p:spPr>
          <a:xfrm>
            <a:off x="982980" y="1897380"/>
            <a:ext cx="411480" cy="411480"/>
          </a:xfrm>
          <a:prstGeom prst="rect">
            <a:avLst/>
          </a:prstGeom>
        </p:spPr>
      </p:pic>
      <p:sp>
        <p:nvSpPr>
          <p:cNvPr id="6" name="Text 3"/>
          <p:cNvSpPr txBox="1"/>
          <p:nvPr/>
        </p:nvSpPr>
        <p:spPr>
          <a:xfrm>
            <a:off x="1828800" y="169164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Qog'oz va Excel</a:t>
            </a:r>
            <a:endParaRPr lang="en-US" sz="2000" dirty="0"/>
          </a:p>
        </p:txBody>
      </p:sp>
      <p:sp>
        <p:nvSpPr>
          <p:cNvPr id="7" name="Text 4"/>
          <p:cNvSpPr txBox="1"/>
          <p:nvPr/>
        </p:nvSpPr>
        <p:spPr>
          <a:xfrm>
            <a:off x="1828800" y="2148840"/>
            <a:ext cx="2468880" cy="45720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Hisob tarqoq fayllarda yuritiladi</a:t>
            </a:r>
            <a:endParaRPr lang="en-US" sz="1400" dirty="0"/>
          </a:p>
        </p:txBody>
      </p:sp>
      <p:sp>
        <p:nvSpPr>
          <p:cNvPr id="8" name="Shape 5"/>
          <p:cNvSpPr/>
          <p:nvPr/>
        </p:nvSpPr>
        <p:spPr>
          <a:xfrm>
            <a:off x="4663440" y="1371600"/>
            <a:ext cx="3840480" cy="1463040"/>
          </a:xfrm>
          <a:prstGeom prst="roundRect">
            <a:avLst>
              <a:gd name="adj" fmla="val 7500"/>
            </a:avLst>
          </a:prstGeom>
          <a:solidFill>
            <a:srgbClr val="E8F4F3"/>
          </a:solidFill>
          <a:ln w="12700">
            <a:solidFill>
              <a:srgbClr val="E8F4F3"/>
            </a:solidFill>
            <a:prstDash val="solid"/>
          </a:ln>
        </p:spPr>
      </p:sp>
      <p:sp>
        <p:nvSpPr>
          <p:cNvPr id="9" name="Shape 6"/>
          <p:cNvSpPr/>
          <p:nvPr/>
        </p:nvSpPr>
        <p:spPr>
          <a:xfrm>
            <a:off x="4892040" y="1691640"/>
            <a:ext cx="822960" cy="822960"/>
          </a:xfrm>
          <a:prstGeom prst="ellipse">
            <a:avLst/>
          </a:prstGeom>
          <a:solidFill>
            <a:srgbClr val="C8553D"/>
          </a:solidFill>
          <a:ln w="12700">
            <a:solidFill>
              <a:srgbClr val="C8553D"/>
            </a:solidFill>
            <a:prstDash val="solid"/>
          </a:ln>
        </p:spPr>
      </p:sp>
      <p:pic>
        <p:nvPicPr>
          <p:cNvPr id="10" name="Image 1" descr="preencoded.png"/>
          <p:cNvPicPr>
            <a:picLocks noChangeAspect="1"/>
          </p:cNvPicPr>
          <p:nvPr/>
        </p:nvPicPr>
        <p:blipFill>
          <a:blip r:embed="rId4"/>
          <a:stretch>
            <a:fillRect/>
          </a:stretch>
        </p:blipFill>
        <p:spPr>
          <a:xfrm>
            <a:off x="5097780" y="1897380"/>
            <a:ext cx="411480" cy="411480"/>
          </a:xfrm>
          <a:prstGeom prst="rect">
            <a:avLst/>
          </a:prstGeom>
        </p:spPr>
      </p:pic>
      <p:sp>
        <p:nvSpPr>
          <p:cNvPr id="11" name="Text 7"/>
          <p:cNvSpPr txBox="1"/>
          <p:nvPr/>
        </p:nvSpPr>
        <p:spPr>
          <a:xfrm>
            <a:off x="5943600" y="169164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Eskirgan ma'lumot</a:t>
            </a:r>
            <a:endParaRPr lang="en-US" sz="2000" dirty="0"/>
          </a:p>
        </p:txBody>
      </p:sp>
      <p:sp>
        <p:nvSpPr>
          <p:cNvPr id="12" name="Text 8"/>
          <p:cNvSpPr txBox="1"/>
          <p:nvPr/>
        </p:nvSpPr>
        <p:spPr>
          <a:xfrm>
            <a:off x="5943600" y="2148840"/>
            <a:ext cx="2468880" cy="45720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Kim, qayerda — noma'lum</a:t>
            </a:r>
            <a:endParaRPr lang="en-US" sz="1400" dirty="0"/>
          </a:p>
        </p:txBody>
      </p:sp>
      <p:sp>
        <p:nvSpPr>
          <p:cNvPr id="13" name="Shape 9"/>
          <p:cNvSpPr/>
          <p:nvPr/>
        </p:nvSpPr>
        <p:spPr>
          <a:xfrm>
            <a:off x="548640" y="3108960"/>
            <a:ext cx="3840480" cy="1463040"/>
          </a:xfrm>
          <a:prstGeom prst="roundRect">
            <a:avLst>
              <a:gd name="adj" fmla="val 7500"/>
            </a:avLst>
          </a:prstGeom>
          <a:solidFill>
            <a:srgbClr val="E8F4F3"/>
          </a:solidFill>
          <a:ln w="12700">
            <a:solidFill>
              <a:srgbClr val="E8F4F3"/>
            </a:solidFill>
            <a:prstDash val="solid"/>
          </a:ln>
        </p:spPr>
      </p:sp>
      <p:sp>
        <p:nvSpPr>
          <p:cNvPr id="14" name="Shape 10"/>
          <p:cNvSpPr/>
          <p:nvPr/>
        </p:nvSpPr>
        <p:spPr>
          <a:xfrm>
            <a:off x="777240" y="3429000"/>
            <a:ext cx="822960" cy="822960"/>
          </a:xfrm>
          <a:prstGeom prst="ellipse">
            <a:avLst/>
          </a:prstGeom>
          <a:solidFill>
            <a:srgbClr val="C8553D"/>
          </a:solidFill>
          <a:ln w="12700">
            <a:solidFill>
              <a:srgbClr val="C8553D"/>
            </a:solidFill>
            <a:prstDash val="solid"/>
          </a:ln>
        </p:spPr>
      </p:sp>
      <p:pic>
        <p:nvPicPr>
          <p:cNvPr id="15" name="Image 2" descr="preencoded.png"/>
          <p:cNvPicPr>
            <a:picLocks noChangeAspect="1"/>
          </p:cNvPicPr>
          <p:nvPr/>
        </p:nvPicPr>
        <p:blipFill>
          <a:blip r:embed="rId5"/>
          <a:stretch>
            <a:fillRect/>
          </a:stretch>
        </p:blipFill>
        <p:spPr>
          <a:xfrm>
            <a:off x="982980" y="3634740"/>
            <a:ext cx="411480" cy="411480"/>
          </a:xfrm>
          <a:prstGeom prst="rect">
            <a:avLst/>
          </a:prstGeom>
        </p:spPr>
      </p:pic>
      <p:sp>
        <p:nvSpPr>
          <p:cNvPr id="16" name="Text 11"/>
          <p:cNvSpPr txBox="1"/>
          <p:nvPr/>
        </p:nvSpPr>
        <p:spPr>
          <a:xfrm>
            <a:off x="1828800" y="342900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Yo'qolgan texnika</a:t>
            </a:r>
            <a:endParaRPr lang="en-US" sz="2000" dirty="0"/>
          </a:p>
        </p:txBody>
      </p:sp>
      <p:sp>
        <p:nvSpPr>
          <p:cNvPr id="17" name="Text 12"/>
          <p:cNvSpPr txBox="1"/>
          <p:nvPr/>
        </p:nvSpPr>
        <p:spPr>
          <a:xfrm>
            <a:off x="1828800" y="3886200"/>
            <a:ext cx="2468880" cy="45720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Jihozni topish qiyin</a:t>
            </a:r>
            <a:endParaRPr lang="en-US" sz="1400" dirty="0"/>
          </a:p>
        </p:txBody>
      </p:sp>
      <p:sp>
        <p:nvSpPr>
          <p:cNvPr id="18" name="Shape 13"/>
          <p:cNvSpPr/>
          <p:nvPr/>
        </p:nvSpPr>
        <p:spPr>
          <a:xfrm>
            <a:off x="4663440" y="3108960"/>
            <a:ext cx="3840480" cy="1463040"/>
          </a:xfrm>
          <a:prstGeom prst="roundRect">
            <a:avLst>
              <a:gd name="adj" fmla="val 7500"/>
            </a:avLst>
          </a:prstGeom>
          <a:solidFill>
            <a:srgbClr val="E8F4F3"/>
          </a:solidFill>
          <a:ln w="12700">
            <a:solidFill>
              <a:srgbClr val="E8F4F3"/>
            </a:solidFill>
            <a:prstDash val="solid"/>
          </a:ln>
        </p:spPr>
      </p:sp>
      <p:sp>
        <p:nvSpPr>
          <p:cNvPr id="19" name="Shape 14"/>
          <p:cNvSpPr/>
          <p:nvPr/>
        </p:nvSpPr>
        <p:spPr>
          <a:xfrm>
            <a:off x="4892040" y="3429000"/>
            <a:ext cx="822960" cy="822960"/>
          </a:xfrm>
          <a:prstGeom prst="ellipse">
            <a:avLst/>
          </a:prstGeom>
          <a:solidFill>
            <a:srgbClr val="C8553D"/>
          </a:solidFill>
          <a:ln w="12700">
            <a:solidFill>
              <a:srgbClr val="C8553D"/>
            </a:solidFill>
            <a:prstDash val="solid"/>
          </a:ln>
        </p:spPr>
      </p:sp>
      <p:pic>
        <p:nvPicPr>
          <p:cNvPr id="20" name="Image 3" descr="preencoded.png"/>
          <p:cNvPicPr>
            <a:picLocks noChangeAspect="1"/>
          </p:cNvPicPr>
          <p:nvPr/>
        </p:nvPicPr>
        <p:blipFill>
          <a:blip r:embed="rId6"/>
          <a:stretch>
            <a:fillRect/>
          </a:stretch>
        </p:blipFill>
        <p:spPr>
          <a:xfrm>
            <a:off x="5097780" y="3634740"/>
            <a:ext cx="411480" cy="411480"/>
          </a:xfrm>
          <a:prstGeom prst="rect">
            <a:avLst/>
          </a:prstGeom>
        </p:spPr>
      </p:pic>
      <p:sp>
        <p:nvSpPr>
          <p:cNvPr id="21" name="Text 15"/>
          <p:cNvSpPr txBox="1"/>
          <p:nvPr/>
        </p:nvSpPr>
        <p:spPr>
          <a:xfrm>
            <a:off x="5943600" y="342900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Uzoq inventarizatsiya</a:t>
            </a:r>
            <a:endParaRPr lang="en-US" sz="2000" dirty="0"/>
          </a:p>
        </p:txBody>
      </p:sp>
      <p:sp>
        <p:nvSpPr>
          <p:cNvPr id="22" name="Text 16"/>
          <p:cNvSpPr txBox="1"/>
          <p:nvPr/>
        </p:nvSpPr>
        <p:spPr>
          <a:xfrm>
            <a:off x="5943600" y="3886200"/>
            <a:ext cx="2468880" cy="45720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Haftalab qo'lda sanash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Maqsad va yechim</a:t>
            </a:r>
            <a:endParaRPr lang="en-US" sz="3600" dirty="0"/>
          </a:p>
        </p:txBody>
      </p:sp>
      <p:sp>
        <p:nvSpPr>
          <p:cNvPr id="3" name="Shape 1"/>
          <p:cNvSpPr/>
          <p:nvPr/>
        </p:nvSpPr>
        <p:spPr>
          <a:xfrm>
            <a:off x="548640" y="1371600"/>
            <a:ext cx="3840480" cy="2926080"/>
          </a:xfrm>
          <a:prstGeom prst="roundRect">
            <a:avLst>
              <a:gd name="adj" fmla="val 3750"/>
            </a:avLst>
          </a:prstGeom>
          <a:solidFill>
            <a:srgbClr val="F6E3DE"/>
          </a:solidFill>
          <a:ln w="12700">
            <a:solidFill>
              <a:srgbClr val="F6E3DE"/>
            </a:solidFill>
            <a:prstDash val="solid"/>
          </a:ln>
        </p:spPr>
      </p:sp>
      <p:sp>
        <p:nvSpPr>
          <p:cNvPr id="4" name="Shape 2"/>
          <p:cNvSpPr/>
          <p:nvPr/>
        </p:nvSpPr>
        <p:spPr>
          <a:xfrm>
            <a:off x="4754880" y="1371600"/>
            <a:ext cx="3840480" cy="2926080"/>
          </a:xfrm>
          <a:prstGeom prst="roundRect">
            <a:avLst>
              <a:gd name="adj" fmla="val 3750"/>
            </a:avLst>
          </a:prstGeom>
          <a:solidFill>
            <a:srgbClr val="E8F4F3"/>
          </a:solidFill>
          <a:ln w="12700">
            <a:solidFill>
              <a:srgbClr val="E8F4F3"/>
            </a:solidFill>
            <a:prstDash val="solid"/>
          </a:ln>
        </p:spPr>
      </p:sp>
      <p:sp>
        <p:nvSpPr>
          <p:cNvPr id="5" name="Text 3"/>
          <p:cNvSpPr txBox="1"/>
          <p:nvPr/>
        </p:nvSpPr>
        <p:spPr>
          <a:xfrm>
            <a:off x="822960" y="1554480"/>
            <a:ext cx="3291840" cy="457200"/>
          </a:xfrm>
          <a:prstGeom prst="rect">
            <a:avLst/>
          </a:prstGeom>
          <a:noFill/>
          <a:ln/>
        </p:spPr>
        <p:txBody>
          <a:bodyPr wrap="square" lIns="0" tIns="0" rIns="0" bIns="0" rtlCol="0" anchor="ctr"/>
          <a:lstStyle/>
          <a:p>
            <a:pPr marL="0" indent="0">
              <a:buNone/>
            </a:pPr>
            <a:r>
              <a:rPr lang="en-US" sz="2200" b="1" dirty="0">
                <a:solidFill>
                  <a:srgbClr val="C8553D"/>
                </a:solidFill>
                <a:latin typeface="Calibri" pitchFamily="34" charset="0"/>
                <a:ea typeface="Calibri" pitchFamily="34" charset="-122"/>
                <a:cs typeface="Calibri" pitchFamily="34" charset="-120"/>
              </a:rPr>
              <a:t>Maqsad</a:t>
            </a:r>
            <a:endParaRPr lang="en-US" sz="2200" dirty="0"/>
          </a:p>
        </p:txBody>
      </p:sp>
      <p:sp>
        <p:nvSpPr>
          <p:cNvPr id="6" name="Text 4"/>
          <p:cNvSpPr txBox="1"/>
          <p:nvPr/>
        </p:nvSpPr>
        <p:spPr>
          <a:xfrm>
            <a:off x="822960" y="2103120"/>
            <a:ext cx="3291840" cy="1463040"/>
          </a:xfrm>
          <a:prstGeom prst="rect">
            <a:avLst/>
          </a:prstGeom>
          <a:noFill/>
          <a:ln/>
        </p:spPr>
        <p:txBody>
          <a:bodyPr wrap="square" lIns="0" tIns="0" rIns="0" bIns="0" rtlCol="0" anchor="ctr"/>
          <a:lstStyle/>
          <a:p>
            <a:pPr marL="0" indent="0">
              <a:buNone/>
            </a:pPr>
            <a:r>
              <a:rPr lang="en-US" sz="2000" dirty="0">
                <a:solidFill>
                  <a:srgbClr val="1B2B34"/>
                </a:solidFill>
                <a:latin typeface="Calibri" pitchFamily="34" charset="0"/>
                <a:ea typeface="Calibri" pitchFamily="34" charset="-122"/>
                <a:cs typeface="Calibri" pitchFamily="34" charset="-120"/>
              </a:rPr>
              <a:t>Jihozlarni elektron hisobga olish web-tizimini yaratish</a:t>
            </a:r>
            <a:endParaRPr lang="en-US" sz="2000" dirty="0"/>
          </a:p>
        </p:txBody>
      </p:sp>
      <p:sp>
        <p:nvSpPr>
          <p:cNvPr id="7" name="Text 5"/>
          <p:cNvSpPr txBox="1"/>
          <p:nvPr/>
        </p:nvSpPr>
        <p:spPr>
          <a:xfrm>
            <a:off x="5029200" y="1554480"/>
            <a:ext cx="3291840" cy="457200"/>
          </a:xfrm>
          <a:prstGeom prst="rect">
            <a:avLst/>
          </a:prstGeom>
          <a:noFill/>
          <a:ln/>
        </p:spPr>
        <p:txBody>
          <a:bodyPr wrap="square" lIns="0" tIns="0" rIns="0" bIns="0" rtlCol="0" anchor="ctr"/>
          <a:lstStyle/>
          <a:p>
            <a:pPr marL="0" indent="0">
              <a:buNone/>
            </a:pPr>
            <a:r>
              <a:rPr lang="en-US" sz="2200" b="1" dirty="0">
                <a:solidFill>
                  <a:srgbClr val="0E7C86"/>
                </a:solidFill>
                <a:latin typeface="Calibri" pitchFamily="34" charset="0"/>
                <a:ea typeface="Calibri" pitchFamily="34" charset="-122"/>
                <a:cs typeface="Calibri" pitchFamily="34" charset="-120"/>
              </a:rPr>
              <a:t>Yechim</a:t>
            </a:r>
            <a:endParaRPr lang="en-US" sz="2200" dirty="0"/>
          </a:p>
        </p:txBody>
      </p:sp>
      <p:sp>
        <p:nvSpPr>
          <p:cNvPr id="8" name="Text 6"/>
          <p:cNvSpPr txBox="1"/>
          <p:nvPr/>
        </p:nvSpPr>
        <p:spPr>
          <a:xfrm>
            <a:off x="5029200" y="2103120"/>
            <a:ext cx="3291840" cy="20116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Yagona baza</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Avtomatik inventar raqam</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To'liq o'zgarishlar tarixi</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Bir tugmada hisobot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Asosiy funksiyalar</a:t>
            </a:r>
            <a:endParaRPr lang="en-US" sz="3600" dirty="0"/>
          </a:p>
        </p:txBody>
      </p:sp>
      <p:sp>
        <p:nvSpPr>
          <p:cNvPr id="3" name="Shape 1"/>
          <p:cNvSpPr/>
          <p:nvPr/>
        </p:nvSpPr>
        <p:spPr>
          <a:xfrm>
            <a:off x="548640" y="1371600"/>
            <a:ext cx="3840480" cy="1463040"/>
          </a:xfrm>
          <a:prstGeom prst="roundRect">
            <a:avLst>
              <a:gd name="adj" fmla="val 7500"/>
            </a:avLst>
          </a:prstGeom>
          <a:solidFill>
            <a:srgbClr val="E8F4F3"/>
          </a:solidFill>
          <a:ln w="12700">
            <a:solidFill>
              <a:srgbClr val="E8F4F3"/>
            </a:solidFill>
            <a:prstDash val="solid"/>
          </a:ln>
        </p:spPr>
      </p:sp>
      <p:sp>
        <p:nvSpPr>
          <p:cNvPr id="4" name="Shape 2"/>
          <p:cNvSpPr/>
          <p:nvPr/>
        </p:nvSpPr>
        <p:spPr>
          <a:xfrm>
            <a:off x="777240" y="1691640"/>
            <a:ext cx="822960" cy="822960"/>
          </a:xfrm>
          <a:prstGeom prst="ellipse">
            <a:avLst/>
          </a:prstGeom>
          <a:solidFill>
            <a:srgbClr val="0E7C86"/>
          </a:solidFill>
          <a:ln w="12700">
            <a:solidFill>
              <a:srgbClr val="0E7C86"/>
            </a:solidFill>
            <a:prstDash val="solid"/>
          </a:ln>
        </p:spPr>
      </p:sp>
      <p:pic>
        <p:nvPicPr>
          <p:cNvPr id="5" name="Image 0" descr="preencoded.png"/>
          <p:cNvPicPr>
            <a:picLocks noChangeAspect="1"/>
          </p:cNvPicPr>
          <p:nvPr/>
        </p:nvPicPr>
        <p:blipFill>
          <a:blip r:embed="rId3"/>
          <a:stretch>
            <a:fillRect/>
          </a:stretch>
        </p:blipFill>
        <p:spPr>
          <a:xfrm>
            <a:off x="982980" y="1897380"/>
            <a:ext cx="411480" cy="411480"/>
          </a:xfrm>
          <a:prstGeom prst="rect">
            <a:avLst/>
          </a:prstGeom>
        </p:spPr>
      </p:pic>
      <p:sp>
        <p:nvSpPr>
          <p:cNvPr id="6" name="Text 3"/>
          <p:cNvSpPr txBox="1"/>
          <p:nvPr/>
        </p:nvSpPr>
        <p:spPr>
          <a:xfrm>
            <a:off x="1828800" y="164592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Hisobga olish</a:t>
            </a:r>
            <a:endParaRPr lang="en-US" sz="2000" dirty="0"/>
          </a:p>
        </p:txBody>
      </p:sp>
      <p:sp>
        <p:nvSpPr>
          <p:cNvPr id="7" name="Text 4"/>
          <p:cNvSpPr txBox="1"/>
          <p:nvPr/>
        </p:nvSpPr>
        <p:spPr>
          <a:xfrm>
            <a:off x="1828800" y="2103120"/>
            <a:ext cx="2468880" cy="59436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Qo'shish, tahrirlash, arxivlash, INV-2026-0001</a:t>
            </a:r>
            <a:endParaRPr lang="en-US" sz="1400" dirty="0"/>
          </a:p>
        </p:txBody>
      </p:sp>
      <p:sp>
        <p:nvSpPr>
          <p:cNvPr id="8" name="Shape 5"/>
          <p:cNvSpPr/>
          <p:nvPr/>
        </p:nvSpPr>
        <p:spPr>
          <a:xfrm>
            <a:off x="4663440" y="1371600"/>
            <a:ext cx="3840480" cy="1463040"/>
          </a:xfrm>
          <a:prstGeom prst="roundRect">
            <a:avLst>
              <a:gd name="adj" fmla="val 7500"/>
            </a:avLst>
          </a:prstGeom>
          <a:solidFill>
            <a:srgbClr val="E8F4F3"/>
          </a:solidFill>
          <a:ln w="12700">
            <a:solidFill>
              <a:srgbClr val="E8F4F3"/>
            </a:solidFill>
            <a:prstDash val="solid"/>
          </a:ln>
        </p:spPr>
      </p:sp>
      <p:sp>
        <p:nvSpPr>
          <p:cNvPr id="9" name="Shape 6"/>
          <p:cNvSpPr/>
          <p:nvPr/>
        </p:nvSpPr>
        <p:spPr>
          <a:xfrm>
            <a:off x="4892040" y="1691640"/>
            <a:ext cx="822960" cy="822960"/>
          </a:xfrm>
          <a:prstGeom prst="ellipse">
            <a:avLst/>
          </a:prstGeom>
          <a:solidFill>
            <a:srgbClr val="0E7C86"/>
          </a:solidFill>
          <a:ln w="12700">
            <a:solidFill>
              <a:srgbClr val="0E7C86"/>
            </a:solidFill>
            <a:prstDash val="solid"/>
          </a:ln>
        </p:spPr>
      </p:sp>
      <p:pic>
        <p:nvPicPr>
          <p:cNvPr id="10" name="Image 1" descr="preencoded.png"/>
          <p:cNvPicPr>
            <a:picLocks noChangeAspect="1"/>
          </p:cNvPicPr>
          <p:nvPr/>
        </p:nvPicPr>
        <p:blipFill>
          <a:blip r:embed="rId4"/>
          <a:stretch>
            <a:fillRect/>
          </a:stretch>
        </p:blipFill>
        <p:spPr>
          <a:xfrm>
            <a:off x="5097780" y="1897380"/>
            <a:ext cx="411480" cy="411480"/>
          </a:xfrm>
          <a:prstGeom prst="rect">
            <a:avLst/>
          </a:prstGeom>
        </p:spPr>
      </p:pic>
      <p:sp>
        <p:nvSpPr>
          <p:cNvPr id="11" name="Text 7"/>
          <p:cNvSpPr txBox="1"/>
          <p:nvPr/>
        </p:nvSpPr>
        <p:spPr>
          <a:xfrm>
            <a:off x="5943600" y="164592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Joylashuv va mas'ul</a:t>
            </a:r>
            <a:endParaRPr lang="en-US" sz="2000" dirty="0"/>
          </a:p>
        </p:txBody>
      </p:sp>
      <p:sp>
        <p:nvSpPr>
          <p:cNvPr id="12" name="Text 8"/>
          <p:cNvSpPr txBox="1"/>
          <p:nvPr/>
        </p:nvSpPr>
        <p:spPr>
          <a:xfrm>
            <a:off x="5943600" y="2103120"/>
            <a:ext cx="2468880" cy="59436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Xona, bo'lim, mas'ul shaxs</a:t>
            </a:r>
            <a:endParaRPr lang="en-US" sz="1400" dirty="0"/>
          </a:p>
        </p:txBody>
      </p:sp>
      <p:sp>
        <p:nvSpPr>
          <p:cNvPr id="13" name="Shape 9"/>
          <p:cNvSpPr/>
          <p:nvPr/>
        </p:nvSpPr>
        <p:spPr>
          <a:xfrm>
            <a:off x="548640" y="3108960"/>
            <a:ext cx="3840480" cy="1463040"/>
          </a:xfrm>
          <a:prstGeom prst="roundRect">
            <a:avLst>
              <a:gd name="adj" fmla="val 7500"/>
            </a:avLst>
          </a:prstGeom>
          <a:solidFill>
            <a:srgbClr val="E8F4F3"/>
          </a:solidFill>
          <a:ln w="12700">
            <a:solidFill>
              <a:srgbClr val="E8F4F3"/>
            </a:solidFill>
            <a:prstDash val="solid"/>
          </a:ln>
        </p:spPr>
      </p:sp>
      <p:sp>
        <p:nvSpPr>
          <p:cNvPr id="14" name="Shape 10"/>
          <p:cNvSpPr/>
          <p:nvPr/>
        </p:nvSpPr>
        <p:spPr>
          <a:xfrm>
            <a:off x="777240" y="3429000"/>
            <a:ext cx="822960" cy="822960"/>
          </a:xfrm>
          <a:prstGeom prst="ellipse">
            <a:avLst/>
          </a:prstGeom>
          <a:solidFill>
            <a:srgbClr val="0E7C86"/>
          </a:solidFill>
          <a:ln w="12700">
            <a:solidFill>
              <a:srgbClr val="0E7C86"/>
            </a:solidFill>
            <a:prstDash val="solid"/>
          </a:ln>
        </p:spPr>
      </p:sp>
      <p:pic>
        <p:nvPicPr>
          <p:cNvPr id="15" name="Image 2" descr="preencoded.png"/>
          <p:cNvPicPr>
            <a:picLocks noChangeAspect="1"/>
          </p:cNvPicPr>
          <p:nvPr/>
        </p:nvPicPr>
        <p:blipFill>
          <a:blip r:embed="rId5"/>
          <a:stretch>
            <a:fillRect/>
          </a:stretch>
        </p:blipFill>
        <p:spPr>
          <a:xfrm>
            <a:off x="982980" y="3634740"/>
            <a:ext cx="411480" cy="411480"/>
          </a:xfrm>
          <a:prstGeom prst="rect">
            <a:avLst/>
          </a:prstGeom>
        </p:spPr>
      </p:pic>
      <p:sp>
        <p:nvSpPr>
          <p:cNvPr id="16" name="Text 11"/>
          <p:cNvSpPr txBox="1"/>
          <p:nvPr/>
        </p:nvSpPr>
        <p:spPr>
          <a:xfrm>
            <a:off x="1828800" y="338328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Holat va ta'mir</a:t>
            </a:r>
            <a:endParaRPr lang="en-US" sz="2000" dirty="0"/>
          </a:p>
        </p:txBody>
      </p:sp>
      <p:sp>
        <p:nvSpPr>
          <p:cNvPr id="17" name="Text 12"/>
          <p:cNvSpPr txBox="1"/>
          <p:nvPr/>
        </p:nvSpPr>
        <p:spPr>
          <a:xfrm>
            <a:off x="1828800" y="3840480"/>
            <a:ext cx="2468880" cy="59436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Texnik holat, ta'mir qaydlari</a:t>
            </a:r>
            <a:endParaRPr lang="en-US" sz="1400" dirty="0"/>
          </a:p>
        </p:txBody>
      </p:sp>
      <p:sp>
        <p:nvSpPr>
          <p:cNvPr id="18" name="Shape 13"/>
          <p:cNvSpPr/>
          <p:nvPr/>
        </p:nvSpPr>
        <p:spPr>
          <a:xfrm>
            <a:off x="4663440" y="3108960"/>
            <a:ext cx="3840480" cy="1463040"/>
          </a:xfrm>
          <a:prstGeom prst="roundRect">
            <a:avLst>
              <a:gd name="adj" fmla="val 7500"/>
            </a:avLst>
          </a:prstGeom>
          <a:solidFill>
            <a:srgbClr val="E8F4F3"/>
          </a:solidFill>
          <a:ln w="12700">
            <a:solidFill>
              <a:srgbClr val="E8F4F3"/>
            </a:solidFill>
            <a:prstDash val="solid"/>
          </a:ln>
        </p:spPr>
      </p:sp>
      <p:sp>
        <p:nvSpPr>
          <p:cNvPr id="19" name="Shape 14"/>
          <p:cNvSpPr/>
          <p:nvPr/>
        </p:nvSpPr>
        <p:spPr>
          <a:xfrm>
            <a:off x="4892040" y="3429000"/>
            <a:ext cx="822960" cy="822960"/>
          </a:xfrm>
          <a:prstGeom prst="ellipse">
            <a:avLst/>
          </a:prstGeom>
          <a:solidFill>
            <a:srgbClr val="0E7C86"/>
          </a:solidFill>
          <a:ln w="12700">
            <a:solidFill>
              <a:srgbClr val="0E7C86"/>
            </a:solidFill>
            <a:prstDash val="solid"/>
          </a:ln>
        </p:spPr>
      </p:sp>
      <p:pic>
        <p:nvPicPr>
          <p:cNvPr id="20" name="Image 3" descr="preencoded.png"/>
          <p:cNvPicPr>
            <a:picLocks noChangeAspect="1"/>
          </p:cNvPicPr>
          <p:nvPr/>
        </p:nvPicPr>
        <p:blipFill>
          <a:blip r:embed="rId6"/>
          <a:stretch>
            <a:fillRect/>
          </a:stretch>
        </p:blipFill>
        <p:spPr>
          <a:xfrm>
            <a:off x="5097780" y="3634740"/>
            <a:ext cx="411480" cy="411480"/>
          </a:xfrm>
          <a:prstGeom prst="rect">
            <a:avLst/>
          </a:prstGeom>
        </p:spPr>
      </p:pic>
      <p:sp>
        <p:nvSpPr>
          <p:cNvPr id="21" name="Text 15"/>
          <p:cNvSpPr txBox="1"/>
          <p:nvPr/>
        </p:nvSpPr>
        <p:spPr>
          <a:xfrm>
            <a:off x="5943600" y="3383280"/>
            <a:ext cx="2468880" cy="41148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Tarix va hisobot</a:t>
            </a:r>
            <a:endParaRPr lang="en-US" sz="2000" dirty="0"/>
          </a:p>
        </p:txBody>
      </p:sp>
      <p:sp>
        <p:nvSpPr>
          <p:cNvPr id="22" name="Text 16"/>
          <p:cNvSpPr txBox="1"/>
          <p:nvPr/>
        </p:nvSpPr>
        <p:spPr>
          <a:xfrm>
            <a:off x="5943600" y="3840480"/>
            <a:ext cx="2468880" cy="594360"/>
          </a:xfrm>
          <a:prstGeom prst="rect">
            <a:avLst/>
          </a:prstGeom>
          <a:noFill/>
          <a:ln/>
        </p:spPr>
        <p:txBody>
          <a:bodyPr wrap="square" lIns="0" tIns="0" rIns="0" bIns="0" rtlCol="0" anchor="ctr"/>
          <a:lstStyle/>
          <a:p>
            <a:pPr marL="0" indent="0">
              <a:buNone/>
            </a:pPr>
            <a:r>
              <a:rPr lang="en-US" sz="1400" dirty="0">
                <a:solidFill>
                  <a:srgbClr val="5E7480"/>
                </a:solidFill>
                <a:latin typeface="Calibri" pitchFamily="34" charset="0"/>
                <a:ea typeface="Calibri" pitchFamily="34" charset="-122"/>
                <a:cs typeface="Calibri" pitchFamily="34" charset="-120"/>
              </a:rPr>
              <a:t>Timeline, Excel/PDF, QR-kod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49"/>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Hisobga olinadigan jihozlar</a:t>
            </a:r>
            <a:endParaRPr lang="en-US" sz="3600" dirty="0"/>
          </a:p>
        </p:txBody>
      </p:sp>
      <p:sp>
        <p:nvSpPr>
          <p:cNvPr id="3" name="Shape 1"/>
          <p:cNvSpPr/>
          <p:nvPr/>
        </p:nvSpPr>
        <p:spPr>
          <a:xfrm>
            <a:off x="1143000" y="1463040"/>
            <a:ext cx="914400" cy="914400"/>
          </a:xfrm>
          <a:prstGeom prst="ellipse">
            <a:avLst/>
          </a:prstGeom>
          <a:solidFill>
            <a:srgbClr val="0E7C86"/>
          </a:solidFill>
          <a:ln w="12700">
            <a:solidFill>
              <a:srgbClr val="0E7C86"/>
            </a:solidFill>
            <a:prstDash val="solid"/>
          </a:ln>
        </p:spPr>
      </p:sp>
      <p:pic>
        <p:nvPicPr>
          <p:cNvPr id="4" name="Image 0" descr="preencoded.png"/>
          <p:cNvPicPr>
            <a:picLocks noChangeAspect="1"/>
          </p:cNvPicPr>
          <p:nvPr/>
        </p:nvPicPr>
        <p:blipFill>
          <a:blip r:embed="rId3"/>
          <a:stretch>
            <a:fillRect/>
          </a:stretch>
        </p:blipFill>
        <p:spPr>
          <a:xfrm>
            <a:off x="1371600" y="1691640"/>
            <a:ext cx="457200" cy="457200"/>
          </a:xfrm>
          <a:prstGeom prst="rect">
            <a:avLst/>
          </a:prstGeom>
        </p:spPr>
      </p:pic>
      <p:sp>
        <p:nvSpPr>
          <p:cNvPr id="5" name="Text 2"/>
          <p:cNvSpPr txBox="1"/>
          <p:nvPr/>
        </p:nvSpPr>
        <p:spPr>
          <a:xfrm>
            <a:off x="731520" y="246888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Kompyuter</a:t>
            </a:r>
            <a:endParaRPr lang="en-US" sz="1600" dirty="0"/>
          </a:p>
        </p:txBody>
      </p:sp>
      <p:sp>
        <p:nvSpPr>
          <p:cNvPr id="6" name="Shape 3"/>
          <p:cNvSpPr/>
          <p:nvPr/>
        </p:nvSpPr>
        <p:spPr>
          <a:xfrm>
            <a:off x="3154680" y="1463040"/>
            <a:ext cx="914400" cy="914400"/>
          </a:xfrm>
          <a:prstGeom prst="ellipse">
            <a:avLst/>
          </a:prstGeom>
          <a:solidFill>
            <a:srgbClr val="0E7C86"/>
          </a:solidFill>
          <a:ln w="12700">
            <a:solidFill>
              <a:srgbClr val="0E7C86"/>
            </a:solidFill>
            <a:prstDash val="solid"/>
          </a:ln>
        </p:spPr>
      </p:sp>
      <p:pic>
        <p:nvPicPr>
          <p:cNvPr id="7" name="Image 1" descr="preencoded.png"/>
          <p:cNvPicPr>
            <a:picLocks noChangeAspect="1"/>
          </p:cNvPicPr>
          <p:nvPr/>
        </p:nvPicPr>
        <p:blipFill>
          <a:blip r:embed="rId4"/>
          <a:stretch>
            <a:fillRect/>
          </a:stretch>
        </p:blipFill>
        <p:spPr>
          <a:xfrm>
            <a:off x="3383280" y="1691640"/>
            <a:ext cx="457200" cy="457200"/>
          </a:xfrm>
          <a:prstGeom prst="rect">
            <a:avLst/>
          </a:prstGeom>
        </p:spPr>
      </p:pic>
      <p:sp>
        <p:nvSpPr>
          <p:cNvPr id="8" name="Text 4"/>
          <p:cNvSpPr txBox="1"/>
          <p:nvPr/>
        </p:nvSpPr>
        <p:spPr>
          <a:xfrm>
            <a:off x="2743200" y="246888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Monitor</a:t>
            </a:r>
            <a:endParaRPr lang="en-US" sz="1600" dirty="0"/>
          </a:p>
        </p:txBody>
      </p:sp>
      <p:sp>
        <p:nvSpPr>
          <p:cNvPr id="9" name="Shape 5"/>
          <p:cNvSpPr/>
          <p:nvPr/>
        </p:nvSpPr>
        <p:spPr>
          <a:xfrm>
            <a:off x="5166360" y="1463040"/>
            <a:ext cx="914400" cy="914400"/>
          </a:xfrm>
          <a:prstGeom prst="ellipse">
            <a:avLst/>
          </a:prstGeom>
          <a:solidFill>
            <a:srgbClr val="0E7C86"/>
          </a:solidFill>
          <a:ln w="12700">
            <a:solidFill>
              <a:srgbClr val="0E7C86"/>
            </a:solidFill>
            <a:prstDash val="solid"/>
          </a:ln>
        </p:spPr>
      </p:sp>
      <p:pic>
        <p:nvPicPr>
          <p:cNvPr id="10" name="Image 2" descr="preencoded.png"/>
          <p:cNvPicPr>
            <a:picLocks noChangeAspect="1"/>
          </p:cNvPicPr>
          <p:nvPr/>
        </p:nvPicPr>
        <p:blipFill>
          <a:blip r:embed="rId5"/>
          <a:stretch>
            <a:fillRect/>
          </a:stretch>
        </p:blipFill>
        <p:spPr>
          <a:xfrm>
            <a:off x="5394960" y="1691640"/>
            <a:ext cx="457200" cy="457200"/>
          </a:xfrm>
          <a:prstGeom prst="rect">
            <a:avLst/>
          </a:prstGeom>
        </p:spPr>
      </p:pic>
      <p:sp>
        <p:nvSpPr>
          <p:cNvPr id="11" name="Text 6"/>
          <p:cNvSpPr txBox="1"/>
          <p:nvPr/>
        </p:nvSpPr>
        <p:spPr>
          <a:xfrm>
            <a:off x="4754880" y="246888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Printer</a:t>
            </a:r>
            <a:endParaRPr lang="en-US" sz="1600" dirty="0"/>
          </a:p>
        </p:txBody>
      </p:sp>
      <p:sp>
        <p:nvSpPr>
          <p:cNvPr id="12" name="Shape 7"/>
          <p:cNvSpPr/>
          <p:nvPr/>
        </p:nvSpPr>
        <p:spPr>
          <a:xfrm>
            <a:off x="7178040" y="1463040"/>
            <a:ext cx="914400" cy="914400"/>
          </a:xfrm>
          <a:prstGeom prst="ellipse">
            <a:avLst/>
          </a:prstGeom>
          <a:solidFill>
            <a:srgbClr val="0E7C86"/>
          </a:solidFill>
          <a:ln w="12700">
            <a:solidFill>
              <a:srgbClr val="0E7C86"/>
            </a:solidFill>
            <a:prstDash val="solid"/>
          </a:ln>
        </p:spPr>
      </p:sp>
      <p:pic>
        <p:nvPicPr>
          <p:cNvPr id="13" name="Image 3" descr="preencoded.png"/>
          <p:cNvPicPr>
            <a:picLocks noChangeAspect="1"/>
          </p:cNvPicPr>
          <p:nvPr/>
        </p:nvPicPr>
        <p:blipFill>
          <a:blip r:embed="rId6"/>
          <a:stretch>
            <a:fillRect/>
          </a:stretch>
        </p:blipFill>
        <p:spPr>
          <a:xfrm>
            <a:off x="7406640" y="1691640"/>
            <a:ext cx="457200" cy="457200"/>
          </a:xfrm>
          <a:prstGeom prst="rect">
            <a:avLst/>
          </a:prstGeom>
        </p:spPr>
      </p:pic>
      <p:sp>
        <p:nvSpPr>
          <p:cNvPr id="14" name="Text 8"/>
          <p:cNvSpPr txBox="1"/>
          <p:nvPr/>
        </p:nvSpPr>
        <p:spPr>
          <a:xfrm>
            <a:off x="6766560" y="246888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Proyektor</a:t>
            </a:r>
            <a:endParaRPr lang="en-US" sz="1600" dirty="0"/>
          </a:p>
        </p:txBody>
      </p:sp>
      <p:sp>
        <p:nvSpPr>
          <p:cNvPr id="15" name="Shape 9"/>
          <p:cNvSpPr/>
          <p:nvPr/>
        </p:nvSpPr>
        <p:spPr>
          <a:xfrm>
            <a:off x="1143000" y="3017520"/>
            <a:ext cx="914400" cy="914400"/>
          </a:xfrm>
          <a:prstGeom prst="ellipse">
            <a:avLst/>
          </a:prstGeom>
          <a:solidFill>
            <a:srgbClr val="0E7C86"/>
          </a:solidFill>
          <a:ln w="12700">
            <a:solidFill>
              <a:srgbClr val="0E7C86"/>
            </a:solidFill>
            <a:prstDash val="solid"/>
          </a:ln>
        </p:spPr>
      </p:sp>
      <p:pic>
        <p:nvPicPr>
          <p:cNvPr id="16" name="Image 4" descr="preencoded.png"/>
          <p:cNvPicPr>
            <a:picLocks noChangeAspect="1"/>
          </p:cNvPicPr>
          <p:nvPr/>
        </p:nvPicPr>
        <p:blipFill>
          <a:blip r:embed="rId7"/>
          <a:stretch>
            <a:fillRect/>
          </a:stretch>
        </p:blipFill>
        <p:spPr>
          <a:xfrm>
            <a:off x="1371600" y="3246120"/>
            <a:ext cx="457200" cy="457200"/>
          </a:xfrm>
          <a:prstGeom prst="rect">
            <a:avLst/>
          </a:prstGeom>
        </p:spPr>
      </p:pic>
      <p:sp>
        <p:nvSpPr>
          <p:cNvPr id="17" name="Text 10"/>
          <p:cNvSpPr txBox="1"/>
          <p:nvPr/>
        </p:nvSpPr>
        <p:spPr>
          <a:xfrm>
            <a:off x="731520" y="402336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Router</a:t>
            </a:r>
            <a:endParaRPr lang="en-US" sz="1600" dirty="0"/>
          </a:p>
        </p:txBody>
      </p:sp>
      <p:sp>
        <p:nvSpPr>
          <p:cNvPr id="18" name="Shape 11"/>
          <p:cNvSpPr/>
          <p:nvPr/>
        </p:nvSpPr>
        <p:spPr>
          <a:xfrm>
            <a:off x="3154680" y="3017520"/>
            <a:ext cx="914400" cy="914400"/>
          </a:xfrm>
          <a:prstGeom prst="ellipse">
            <a:avLst/>
          </a:prstGeom>
          <a:solidFill>
            <a:srgbClr val="0E7C86"/>
          </a:solidFill>
          <a:ln w="12700">
            <a:solidFill>
              <a:srgbClr val="0E7C86"/>
            </a:solidFill>
            <a:prstDash val="solid"/>
          </a:ln>
        </p:spPr>
      </p:sp>
      <p:pic>
        <p:nvPicPr>
          <p:cNvPr id="19" name="Image 5" descr="preencoded.png"/>
          <p:cNvPicPr>
            <a:picLocks noChangeAspect="1"/>
          </p:cNvPicPr>
          <p:nvPr/>
        </p:nvPicPr>
        <p:blipFill>
          <a:blip r:embed="rId8"/>
          <a:stretch>
            <a:fillRect/>
          </a:stretch>
        </p:blipFill>
        <p:spPr>
          <a:xfrm>
            <a:off x="3383280" y="3246120"/>
            <a:ext cx="457200" cy="457200"/>
          </a:xfrm>
          <a:prstGeom prst="rect">
            <a:avLst/>
          </a:prstGeom>
        </p:spPr>
      </p:pic>
      <p:sp>
        <p:nvSpPr>
          <p:cNvPr id="20" name="Text 12"/>
          <p:cNvSpPr txBox="1"/>
          <p:nvPr/>
        </p:nvSpPr>
        <p:spPr>
          <a:xfrm>
            <a:off x="2743200" y="402336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UPS</a:t>
            </a:r>
            <a:endParaRPr lang="en-US" sz="1600" dirty="0"/>
          </a:p>
        </p:txBody>
      </p:sp>
      <p:sp>
        <p:nvSpPr>
          <p:cNvPr id="21" name="Shape 13"/>
          <p:cNvSpPr/>
          <p:nvPr/>
        </p:nvSpPr>
        <p:spPr>
          <a:xfrm>
            <a:off x="5166360" y="3017520"/>
            <a:ext cx="914400" cy="914400"/>
          </a:xfrm>
          <a:prstGeom prst="ellipse">
            <a:avLst/>
          </a:prstGeom>
          <a:solidFill>
            <a:srgbClr val="0E7C86"/>
          </a:solidFill>
          <a:ln w="12700">
            <a:solidFill>
              <a:srgbClr val="0E7C86"/>
            </a:solidFill>
            <a:prstDash val="solid"/>
          </a:ln>
        </p:spPr>
      </p:sp>
      <p:pic>
        <p:nvPicPr>
          <p:cNvPr id="22" name="Image 6" descr="preencoded.png"/>
          <p:cNvPicPr>
            <a:picLocks noChangeAspect="1"/>
          </p:cNvPicPr>
          <p:nvPr/>
        </p:nvPicPr>
        <p:blipFill>
          <a:blip r:embed="rId9"/>
          <a:stretch>
            <a:fillRect/>
          </a:stretch>
        </p:blipFill>
        <p:spPr>
          <a:xfrm>
            <a:off x="5394960" y="3246120"/>
            <a:ext cx="457200" cy="457200"/>
          </a:xfrm>
          <a:prstGeom prst="rect">
            <a:avLst/>
          </a:prstGeom>
        </p:spPr>
      </p:pic>
      <p:sp>
        <p:nvSpPr>
          <p:cNvPr id="23" name="Text 14"/>
          <p:cNvSpPr txBox="1"/>
          <p:nvPr/>
        </p:nvSpPr>
        <p:spPr>
          <a:xfrm>
            <a:off x="4754880" y="402336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Noutbuk</a:t>
            </a:r>
            <a:endParaRPr lang="en-US" sz="1600" dirty="0"/>
          </a:p>
        </p:txBody>
      </p:sp>
      <p:sp>
        <p:nvSpPr>
          <p:cNvPr id="24" name="Shape 15"/>
          <p:cNvSpPr/>
          <p:nvPr/>
        </p:nvSpPr>
        <p:spPr>
          <a:xfrm>
            <a:off x="7178040" y="3017520"/>
            <a:ext cx="914400" cy="914400"/>
          </a:xfrm>
          <a:prstGeom prst="ellipse">
            <a:avLst/>
          </a:prstGeom>
          <a:solidFill>
            <a:srgbClr val="F2A541"/>
          </a:solidFill>
          <a:ln w="12700">
            <a:solidFill>
              <a:srgbClr val="F2A541"/>
            </a:solidFill>
            <a:prstDash val="solid"/>
          </a:ln>
        </p:spPr>
      </p:sp>
      <p:pic>
        <p:nvPicPr>
          <p:cNvPr id="25" name="Image 7" descr="preencoded.png"/>
          <p:cNvPicPr>
            <a:picLocks noChangeAspect="1"/>
          </p:cNvPicPr>
          <p:nvPr/>
        </p:nvPicPr>
        <p:blipFill>
          <a:blip r:embed="rId10"/>
          <a:stretch>
            <a:fillRect/>
          </a:stretch>
        </p:blipFill>
        <p:spPr>
          <a:xfrm>
            <a:off x="7406640" y="3246120"/>
            <a:ext cx="457200" cy="457200"/>
          </a:xfrm>
          <a:prstGeom prst="rect">
            <a:avLst/>
          </a:prstGeom>
        </p:spPr>
      </p:pic>
      <p:sp>
        <p:nvSpPr>
          <p:cNvPr id="26" name="Text 16"/>
          <p:cNvSpPr txBox="1"/>
          <p:nvPr/>
        </p:nvSpPr>
        <p:spPr>
          <a:xfrm>
            <a:off x="6766560" y="4023360"/>
            <a:ext cx="17373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Yangi tur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Tizim ishlash jarayoni</a:t>
            </a:r>
            <a:endParaRPr lang="en-US" sz="3600" dirty="0"/>
          </a:p>
        </p:txBody>
      </p:sp>
      <p:sp>
        <p:nvSpPr>
          <p:cNvPr id="3" name="Shape 1"/>
          <p:cNvSpPr/>
          <p:nvPr/>
        </p:nvSpPr>
        <p:spPr>
          <a:xfrm>
            <a:off x="457200" y="1828800"/>
            <a:ext cx="1645920" cy="1097280"/>
          </a:xfrm>
          <a:prstGeom prst="chevron">
            <a:avLst/>
          </a:prstGeom>
          <a:solidFill>
            <a:srgbClr val="0E7C86"/>
          </a:solidFill>
          <a:ln w="12700">
            <a:solidFill>
              <a:srgbClr val="FFFFFF"/>
            </a:solidFill>
            <a:prstDash val="solid"/>
          </a:ln>
        </p:spPr>
      </p:sp>
      <p:sp>
        <p:nvSpPr>
          <p:cNvPr id="4" name="Text 2"/>
          <p:cNvSpPr txBox="1"/>
          <p:nvPr/>
        </p:nvSpPr>
        <p:spPr>
          <a:xfrm>
            <a:off x="868680" y="1828800"/>
            <a:ext cx="8229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457200" y="3108960"/>
            <a:ext cx="1554480" cy="36576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Kirish</a:t>
            </a:r>
            <a:endParaRPr lang="en-US" sz="1800" dirty="0"/>
          </a:p>
        </p:txBody>
      </p:sp>
      <p:sp>
        <p:nvSpPr>
          <p:cNvPr id="6" name="Text 4"/>
          <p:cNvSpPr txBox="1"/>
          <p:nvPr/>
        </p:nvSpPr>
        <p:spPr>
          <a:xfrm>
            <a:off x="457200" y="3474720"/>
            <a:ext cx="155448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Login, rol</a:t>
            </a:r>
            <a:endParaRPr lang="en-US" sz="1400" dirty="0"/>
          </a:p>
        </p:txBody>
      </p:sp>
      <p:sp>
        <p:nvSpPr>
          <p:cNvPr id="7" name="Shape 5"/>
          <p:cNvSpPr/>
          <p:nvPr/>
        </p:nvSpPr>
        <p:spPr>
          <a:xfrm>
            <a:off x="2148840" y="1828800"/>
            <a:ext cx="1645920" cy="1097280"/>
          </a:xfrm>
          <a:prstGeom prst="chevron">
            <a:avLst/>
          </a:prstGeom>
          <a:solidFill>
            <a:srgbClr val="14A3A8"/>
          </a:solidFill>
          <a:ln w="12700">
            <a:solidFill>
              <a:srgbClr val="FFFFFF"/>
            </a:solidFill>
            <a:prstDash val="solid"/>
          </a:ln>
        </p:spPr>
      </p:sp>
      <p:sp>
        <p:nvSpPr>
          <p:cNvPr id="8" name="Text 6"/>
          <p:cNvSpPr txBox="1"/>
          <p:nvPr/>
        </p:nvSpPr>
        <p:spPr>
          <a:xfrm>
            <a:off x="2560320" y="1828800"/>
            <a:ext cx="8229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9" name="Text 7"/>
          <p:cNvSpPr txBox="1"/>
          <p:nvPr/>
        </p:nvSpPr>
        <p:spPr>
          <a:xfrm>
            <a:off x="2148840" y="3108960"/>
            <a:ext cx="1554480" cy="36576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Qo'shish</a:t>
            </a:r>
            <a:endParaRPr lang="en-US" sz="1800" dirty="0"/>
          </a:p>
        </p:txBody>
      </p:sp>
      <p:sp>
        <p:nvSpPr>
          <p:cNvPr id="10" name="Text 8"/>
          <p:cNvSpPr txBox="1"/>
          <p:nvPr/>
        </p:nvSpPr>
        <p:spPr>
          <a:xfrm>
            <a:off x="2148840" y="3474720"/>
            <a:ext cx="155448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INV raqam</a:t>
            </a:r>
            <a:endParaRPr lang="en-US" sz="1400" dirty="0"/>
          </a:p>
        </p:txBody>
      </p:sp>
      <p:sp>
        <p:nvSpPr>
          <p:cNvPr id="11" name="Shape 9"/>
          <p:cNvSpPr/>
          <p:nvPr/>
        </p:nvSpPr>
        <p:spPr>
          <a:xfrm>
            <a:off x="3840480" y="1828800"/>
            <a:ext cx="1645920" cy="1097280"/>
          </a:xfrm>
          <a:prstGeom prst="chevron">
            <a:avLst/>
          </a:prstGeom>
          <a:solidFill>
            <a:srgbClr val="0E7C86"/>
          </a:solidFill>
          <a:ln w="12700">
            <a:solidFill>
              <a:srgbClr val="FFFFFF"/>
            </a:solidFill>
            <a:prstDash val="solid"/>
          </a:ln>
        </p:spPr>
      </p:sp>
      <p:sp>
        <p:nvSpPr>
          <p:cNvPr id="12" name="Text 10"/>
          <p:cNvSpPr txBox="1"/>
          <p:nvPr/>
        </p:nvSpPr>
        <p:spPr>
          <a:xfrm>
            <a:off x="4251960" y="1828800"/>
            <a:ext cx="8229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3" name="Text 11"/>
          <p:cNvSpPr txBox="1"/>
          <p:nvPr/>
        </p:nvSpPr>
        <p:spPr>
          <a:xfrm>
            <a:off x="3840480" y="3108960"/>
            <a:ext cx="1554480" cy="36576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Biriktirish</a:t>
            </a:r>
            <a:endParaRPr lang="en-US" sz="1800" dirty="0"/>
          </a:p>
        </p:txBody>
      </p:sp>
      <p:sp>
        <p:nvSpPr>
          <p:cNvPr id="14" name="Text 12"/>
          <p:cNvSpPr txBox="1"/>
          <p:nvPr/>
        </p:nvSpPr>
        <p:spPr>
          <a:xfrm>
            <a:off x="3840480" y="3474720"/>
            <a:ext cx="155448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Xona, mas'ul</a:t>
            </a:r>
            <a:endParaRPr lang="en-US" sz="1400" dirty="0"/>
          </a:p>
        </p:txBody>
      </p:sp>
      <p:sp>
        <p:nvSpPr>
          <p:cNvPr id="15" name="Shape 13"/>
          <p:cNvSpPr/>
          <p:nvPr/>
        </p:nvSpPr>
        <p:spPr>
          <a:xfrm>
            <a:off x="5532120" y="1828800"/>
            <a:ext cx="1645920" cy="1097280"/>
          </a:xfrm>
          <a:prstGeom prst="chevron">
            <a:avLst/>
          </a:prstGeom>
          <a:solidFill>
            <a:srgbClr val="14A3A8"/>
          </a:solidFill>
          <a:ln w="12700">
            <a:solidFill>
              <a:srgbClr val="FFFFFF"/>
            </a:solidFill>
            <a:prstDash val="solid"/>
          </a:ln>
        </p:spPr>
      </p:sp>
      <p:sp>
        <p:nvSpPr>
          <p:cNvPr id="16" name="Text 14"/>
          <p:cNvSpPr txBox="1"/>
          <p:nvPr/>
        </p:nvSpPr>
        <p:spPr>
          <a:xfrm>
            <a:off x="5943600" y="1828800"/>
            <a:ext cx="8229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17" name="Text 15"/>
          <p:cNvSpPr txBox="1"/>
          <p:nvPr/>
        </p:nvSpPr>
        <p:spPr>
          <a:xfrm>
            <a:off x="5532120" y="3108960"/>
            <a:ext cx="1554480" cy="36576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Yangilash</a:t>
            </a:r>
            <a:endParaRPr lang="en-US" sz="1800" dirty="0"/>
          </a:p>
        </p:txBody>
      </p:sp>
      <p:sp>
        <p:nvSpPr>
          <p:cNvPr id="18" name="Text 16"/>
          <p:cNvSpPr txBox="1"/>
          <p:nvPr/>
        </p:nvSpPr>
        <p:spPr>
          <a:xfrm>
            <a:off x="5532120" y="3474720"/>
            <a:ext cx="155448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Holat, ta'mir</a:t>
            </a:r>
            <a:endParaRPr lang="en-US" sz="1400" dirty="0"/>
          </a:p>
        </p:txBody>
      </p:sp>
      <p:sp>
        <p:nvSpPr>
          <p:cNvPr id="19" name="Shape 17"/>
          <p:cNvSpPr/>
          <p:nvPr/>
        </p:nvSpPr>
        <p:spPr>
          <a:xfrm>
            <a:off x="7223760" y="1828800"/>
            <a:ext cx="1645920" cy="1097280"/>
          </a:xfrm>
          <a:prstGeom prst="chevron">
            <a:avLst/>
          </a:prstGeom>
          <a:solidFill>
            <a:srgbClr val="0E7C86"/>
          </a:solidFill>
          <a:ln w="12700">
            <a:solidFill>
              <a:srgbClr val="FFFFFF"/>
            </a:solidFill>
            <a:prstDash val="solid"/>
          </a:ln>
        </p:spPr>
      </p:sp>
      <p:sp>
        <p:nvSpPr>
          <p:cNvPr id="20" name="Text 18"/>
          <p:cNvSpPr txBox="1"/>
          <p:nvPr/>
        </p:nvSpPr>
        <p:spPr>
          <a:xfrm>
            <a:off x="7635240" y="1828800"/>
            <a:ext cx="8229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21" name="Text 19"/>
          <p:cNvSpPr txBox="1"/>
          <p:nvPr/>
        </p:nvSpPr>
        <p:spPr>
          <a:xfrm>
            <a:off x="7223760" y="3108960"/>
            <a:ext cx="1554480" cy="36576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Hisobot</a:t>
            </a:r>
            <a:endParaRPr lang="en-US" sz="1800" dirty="0"/>
          </a:p>
        </p:txBody>
      </p:sp>
      <p:sp>
        <p:nvSpPr>
          <p:cNvPr id="22" name="Text 20"/>
          <p:cNvSpPr txBox="1"/>
          <p:nvPr/>
        </p:nvSpPr>
        <p:spPr>
          <a:xfrm>
            <a:off x="7223760" y="3474720"/>
            <a:ext cx="155448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Excel / PDF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Demo: asosiy ekranlar</a:t>
            </a:r>
            <a:endParaRPr lang="en-US" sz="3600" dirty="0"/>
          </a:p>
        </p:txBody>
      </p:sp>
      <p:sp>
        <p:nvSpPr>
          <p:cNvPr id="3" name="Shape 1"/>
          <p:cNvSpPr/>
          <p:nvPr/>
        </p:nvSpPr>
        <p:spPr>
          <a:xfrm>
            <a:off x="548640" y="1188720"/>
            <a:ext cx="3840480" cy="1508760"/>
          </a:xfrm>
          <a:prstGeom prst="roundRect">
            <a:avLst>
              <a:gd name="adj" fmla="val 3636"/>
            </a:avLst>
          </a:prstGeom>
          <a:solidFill>
            <a:srgbClr val="FFFFFF"/>
          </a:solidFill>
          <a:ln w="12700">
            <a:solidFill>
              <a:srgbClr val="B8CED3"/>
            </a:solidFill>
            <a:prstDash val="solid"/>
          </a:ln>
        </p:spPr>
      </p:sp>
      <p:sp>
        <p:nvSpPr>
          <p:cNvPr id="4" name="Shape 2"/>
          <p:cNvSpPr/>
          <p:nvPr/>
        </p:nvSpPr>
        <p:spPr>
          <a:xfrm>
            <a:off x="557784" y="1197864"/>
            <a:ext cx="3822192" cy="201168"/>
          </a:xfrm>
          <a:prstGeom prst="rect">
            <a:avLst/>
          </a:prstGeom>
          <a:solidFill>
            <a:srgbClr val="0B3C49"/>
          </a:solidFill>
          <a:ln w="12700">
            <a:solidFill>
              <a:srgbClr val="0B3C49"/>
            </a:solidFill>
            <a:prstDash val="solid"/>
          </a:ln>
        </p:spPr>
      </p:sp>
      <p:sp>
        <p:nvSpPr>
          <p:cNvPr id="5" name="Shape 3"/>
          <p:cNvSpPr/>
          <p:nvPr/>
        </p:nvSpPr>
        <p:spPr>
          <a:xfrm>
            <a:off x="557784" y="1399032"/>
            <a:ext cx="502920" cy="1289304"/>
          </a:xfrm>
          <a:prstGeom prst="rect">
            <a:avLst/>
          </a:prstGeom>
          <a:solidFill>
            <a:srgbClr val="E8F4F3"/>
          </a:solidFill>
          <a:ln w="12700">
            <a:solidFill>
              <a:srgbClr val="E8F4F3"/>
            </a:solidFill>
            <a:prstDash val="solid"/>
          </a:ln>
        </p:spPr>
      </p:sp>
      <p:sp>
        <p:nvSpPr>
          <p:cNvPr id="6" name="Shape 4"/>
          <p:cNvSpPr/>
          <p:nvPr/>
        </p:nvSpPr>
        <p:spPr>
          <a:xfrm>
            <a:off x="1188720" y="1554480"/>
            <a:ext cx="947928" cy="365760"/>
          </a:xfrm>
          <a:prstGeom prst="rect">
            <a:avLst/>
          </a:prstGeom>
          <a:solidFill>
            <a:srgbClr val="0E7C86"/>
          </a:solidFill>
          <a:ln w="12700">
            <a:solidFill>
              <a:srgbClr val="FFFFFF"/>
            </a:solidFill>
            <a:prstDash val="solid"/>
          </a:ln>
        </p:spPr>
      </p:sp>
      <p:sp>
        <p:nvSpPr>
          <p:cNvPr id="7" name="Shape 5"/>
          <p:cNvSpPr/>
          <p:nvPr/>
        </p:nvSpPr>
        <p:spPr>
          <a:xfrm>
            <a:off x="2209800" y="1554480"/>
            <a:ext cx="947928" cy="365760"/>
          </a:xfrm>
          <a:prstGeom prst="rect">
            <a:avLst/>
          </a:prstGeom>
          <a:solidFill>
            <a:srgbClr val="14A3A8"/>
          </a:solidFill>
          <a:ln w="12700">
            <a:solidFill>
              <a:srgbClr val="FFFFFF"/>
            </a:solidFill>
            <a:prstDash val="solid"/>
          </a:ln>
        </p:spPr>
      </p:sp>
      <p:sp>
        <p:nvSpPr>
          <p:cNvPr id="8" name="Shape 6"/>
          <p:cNvSpPr/>
          <p:nvPr/>
        </p:nvSpPr>
        <p:spPr>
          <a:xfrm>
            <a:off x="3230880" y="1554480"/>
            <a:ext cx="947928" cy="365760"/>
          </a:xfrm>
          <a:prstGeom prst="rect">
            <a:avLst/>
          </a:prstGeom>
          <a:solidFill>
            <a:srgbClr val="F2A541"/>
          </a:solidFill>
          <a:ln w="12700">
            <a:solidFill>
              <a:srgbClr val="FFFFFF"/>
            </a:solidFill>
            <a:prstDash val="solid"/>
          </a:ln>
        </p:spPr>
      </p:sp>
      <p:sp>
        <p:nvSpPr>
          <p:cNvPr id="9" name="Shape 7"/>
          <p:cNvSpPr/>
          <p:nvPr/>
        </p:nvSpPr>
        <p:spPr>
          <a:xfrm>
            <a:off x="1371727" y="2238502"/>
            <a:ext cx="274320" cy="457200"/>
          </a:xfrm>
          <a:prstGeom prst="rect">
            <a:avLst/>
          </a:prstGeom>
          <a:solidFill>
            <a:srgbClr val="0E7C86"/>
          </a:solidFill>
          <a:ln w="12700">
            <a:solidFill>
              <a:srgbClr val="0E7C86"/>
            </a:solidFill>
            <a:prstDash val="solid"/>
          </a:ln>
        </p:spPr>
      </p:sp>
      <p:sp>
        <p:nvSpPr>
          <p:cNvPr id="10" name="Shape 8"/>
          <p:cNvSpPr/>
          <p:nvPr/>
        </p:nvSpPr>
        <p:spPr>
          <a:xfrm>
            <a:off x="1774190" y="2052828"/>
            <a:ext cx="274320" cy="640080"/>
          </a:xfrm>
          <a:prstGeom prst="rect">
            <a:avLst/>
          </a:prstGeom>
          <a:solidFill>
            <a:srgbClr val="0E7C86"/>
          </a:solidFill>
          <a:ln w="12700">
            <a:solidFill>
              <a:srgbClr val="0E7C86"/>
            </a:solidFill>
            <a:prstDash val="solid"/>
          </a:ln>
        </p:spPr>
      </p:sp>
      <p:sp>
        <p:nvSpPr>
          <p:cNvPr id="11" name="Shape 9"/>
          <p:cNvSpPr/>
          <p:nvPr/>
        </p:nvSpPr>
        <p:spPr>
          <a:xfrm>
            <a:off x="2176272" y="2221992"/>
            <a:ext cx="274320" cy="480060"/>
          </a:xfrm>
          <a:prstGeom prst="rect">
            <a:avLst/>
          </a:prstGeom>
          <a:solidFill>
            <a:srgbClr val="0E7C86"/>
          </a:solidFill>
          <a:ln w="12700">
            <a:solidFill>
              <a:srgbClr val="0E7C86"/>
            </a:solidFill>
            <a:prstDash val="solid"/>
          </a:ln>
        </p:spPr>
      </p:sp>
      <p:sp>
        <p:nvSpPr>
          <p:cNvPr id="12" name="Shape 10"/>
          <p:cNvSpPr/>
          <p:nvPr/>
        </p:nvSpPr>
        <p:spPr>
          <a:xfrm>
            <a:off x="2579370" y="2329942"/>
            <a:ext cx="274320" cy="365760"/>
          </a:xfrm>
          <a:prstGeom prst="rect">
            <a:avLst/>
          </a:prstGeom>
          <a:solidFill>
            <a:srgbClr val="0E7C86"/>
          </a:solidFill>
          <a:ln w="12700">
            <a:solidFill>
              <a:srgbClr val="0E7C86"/>
            </a:solidFill>
            <a:prstDash val="solid"/>
          </a:ln>
        </p:spPr>
      </p:sp>
      <p:sp>
        <p:nvSpPr>
          <p:cNvPr id="13" name="Shape 11"/>
          <p:cNvSpPr/>
          <p:nvPr/>
        </p:nvSpPr>
        <p:spPr>
          <a:xfrm>
            <a:off x="3509772" y="2036445"/>
            <a:ext cx="596138" cy="596138"/>
          </a:xfrm>
          <a:prstGeom prst="ellipse">
            <a:avLst/>
          </a:prstGeom>
          <a:solidFill>
            <a:srgbClr val="14A3A8"/>
          </a:solidFill>
          <a:ln w="76200">
            <a:solidFill>
              <a:srgbClr val="F2A541"/>
            </a:solidFill>
            <a:prstDash val="solid"/>
          </a:ln>
        </p:spPr>
      </p:sp>
      <p:sp>
        <p:nvSpPr>
          <p:cNvPr id="14" name="Text 12"/>
          <p:cNvSpPr txBox="1"/>
          <p:nvPr/>
        </p:nvSpPr>
        <p:spPr>
          <a:xfrm>
            <a:off x="548640" y="2743200"/>
            <a:ext cx="3840480" cy="256032"/>
          </a:xfrm>
          <a:prstGeom prst="rect">
            <a:avLst/>
          </a:prstGeom>
          <a:noFill/>
          <a:ln/>
        </p:spPr>
        <p:txBody>
          <a:bodyPr wrap="square" lIns="0" tIns="0" rIns="0" bIns="0" rtlCol="0" anchor="ctr"/>
          <a:lstStyle/>
          <a:p>
            <a:pPr marL="0" indent="0" algn="ctr">
              <a:buNone/>
            </a:pPr>
            <a:r>
              <a:rPr lang="en-US" sz="1300" dirty="0">
                <a:solidFill>
                  <a:srgbClr val="5E7480"/>
                </a:solidFill>
                <a:latin typeface="Calibri" pitchFamily="34" charset="0"/>
                <a:ea typeface="Calibri" pitchFamily="34" charset="-122"/>
                <a:cs typeface="Calibri" pitchFamily="34" charset="-120"/>
              </a:rPr>
              <a:t>Dashboard</a:t>
            </a:r>
            <a:endParaRPr lang="en-US" sz="1300" dirty="0"/>
          </a:p>
        </p:txBody>
      </p:sp>
      <p:sp>
        <p:nvSpPr>
          <p:cNvPr id="15" name="Shape 13"/>
          <p:cNvSpPr/>
          <p:nvPr/>
        </p:nvSpPr>
        <p:spPr>
          <a:xfrm>
            <a:off x="4663440" y="1188720"/>
            <a:ext cx="3840480" cy="1508760"/>
          </a:xfrm>
          <a:prstGeom prst="roundRect">
            <a:avLst>
              <a:gd name="adj" fmla="val 3636"/>
            </a:avLst>
          </a:prstGeom>
          <a:solidFill>
            <a:srgbClr val="FFFFFF"/>
          </a:solidFill>
          <a:ln w="12700">
            <a:solidFill>
              <a:srgbClr val="B8CED3"/>
            </a:solidFill>
            <a:prstDash val="solid"/>
          </a:ln>
        </p:spPr>
      </p:sp>
      <p:sp>
        <p:nvSpPr>
          <p:cNvPr id="16" name="Shape 14"/>
          <p:cNvSpPr/>
          <p:nvPr/>
        </p:nvSpPr>
        <p:spPr>
          <a:xfrm>
            <a:off x="4672584" y="1197864"/>
            <a:ext cx="3822192" cy="201168"/>
          </a:xfrm>
          <a:prstGeom prst="rect">
            <a:avLst/>
          </a:prstGeom>
          <a:solidFill>
            <a:srgbClr val="0B3C49"/>
          </a:solidFill>
          <a:ln w="12700">
            <a:solidFill>
              <a:srgbClr val="0B3C49"/>
            </a:solidFill>
            <a:prstDash val="solid"/>
          </a:ln>
        </p:spPr>
      </p:sp>
      <p:sp>
        <p:nvSpPr>
          <p:cNvPr id="17" name="Shape 15"/>
          <p:cNvSpPr/>
          <p:nvPr/>
        </p:nvSpPr>
        <p:spPr>
          <a:xfrm>
            <a:off x="4672584" y="1399032"/>
            <a:ext cx="502920" cy="1289304"/>
          </a:xfrm>
          <a:prstGeom prst="rect">
            <a:avLst/>
          </a:prstGeom>
          <a:solidFill>
            <a:srgbClr val="E8F4F3"/>
          </a:solidFill>
          <a:ln w="12700">
            <a:solidFill>
              <a:srgbClr val="E8F4F3"/>
            </a:solidFill>
            <a:prstDash val="solid"/>
          </a:ln>
        </p:spPr>
      </p:sp>
      <p:sp>
        <p:nvSpPr>
          <p:cNvPr id="18" name="Shape 16"/>
          <p:cNvSpPr/>
          <p:nvPr/>
        </p:nvSpPr>
        <p:spPr>
          <a:xfrm>
            <a:off x="5303520" y="1452880"/>
            <a:ext cx="1837944" cy="182880"/>
          </a:xfrm>
          <a:prstGeom prst="rect">
            <a:avLst/>
          </a:prstGeom>
          <a:solidFill>
            <a:srgbClr val="E8F4F3"/>
          </a:solidFill>
          <a:ln w="12700">
            <a:solidFill>
              <a:srgbClr val="B8CED3"/>
            </a:solidFill>
            <a:prstDash val="solid"/>
          </a:ln>
        </p:spPr>
      </p:sp>
      <p:sp>
        <p:nvSpPr>
          <p:cNvPr id="19" name="Shape 17"/>
          <p:cNvSpPr/>
          <p:nvPr/>
        </p:nvSpPr>
        <p:spPr>
          <a:xfrm>
            <a:off x="5303520" y="1732788"/>
            <a:ext cx="3063240" cy="182880"/>
          </a:xfrm>
          <a:prstGeom prst="rect">
            <a:avLst/>
          </a:prstGeom>
          <a:solidFill>
            <a:srgbClr val="E8F4F3"/>
          </a:solidFill>
          <a:ln w="12700">
            <a:solidFill>
              <a:srgbClr val="DCE8EA"/>
            </a:solidFill>
            <a:prstDash val="solid"/>
          </a:ln>
        </p:spPr>
      </p:sp>
      <p:sp>
        <p:nvSpPr>
          <p:cNvPr id="20" name="Shape 18"/>
          <p:cNvSpPr/>
          <p:nvPr/>
        </p:nvSpPr>
        <p:spPr>
          <a:xfrm>
            <a:off x="7909560" y="1769364"/>
            <a:ext cx="384048" cy="109728"/>
          </a:xfrm>
          <a:prstGeom prst="rect">
            <a:avLst/>
          </a:prstGeom>
          <a:solidFill>
            <a:srgbClr val="3C9D6B"/>
          </a:solidFill>
          <a:ln w="12700">
            <a:solidFill>
              <a:srgbClr val="FFFFFF"/>
            </a:solidFill>
            <a:prstDash val="solid"/>
          </a:ln>
        </p:spPr>
      </p:sp>
      <p:sp>
        <p:nvSpPr>
          <p:cNvPr id="21" name="Shape 19"/>
          <p:cNvSpPr/>
          <p:nvPr/>
        </p:nvSpPr>
        <p:spPr>
          <a:xfrm>
            <a:off x="5303520" y="1961388"/>
            <a:ext cx="3063240" cy="182880"/>
          </a:xfrm>
          <a:prstGeom prst="rect">
            <a:avLst/>
          </a:prstGeom>
          <a:solidFill>
            <a:srgbClr val="FFFFFF"/>
          </a:solidFill>
          <a:ln w="12700">
            <a:solidFill>
              <a:srgbClr val="DCE8EA"/>
            </a:solidFill>
            <a:prstDash val="solid"/>
          </a:ln>
        </p:spPr>
      </p:sp>
      <p:sp>
        <p:nvSpPr>
          <p:cNvPr id="22" name="Shape 20"/>
          <p:cNvSpPr/>
          <p:nvPr/>
        </p:nvSpPr>
        <p:spPr>
          <a:xfrm>
            <a:off x="7909560" y="1997964"/>
            <a:ext cx="384048" cy="109728"/>
          </a:xfrm>
          <a:prstGeom prst="rect">
            <a:avLst/>
          </a:prstGeom>
          <a:solidFill>
            <a:srgbClr val="F2A541"/>
          </a:solidFill>
          <a:ln w="12700">
            <a:solidFill>
              <a:srgbClr val="FFFFFF"/>
            </a:solidFill>
            <a:prstDash val="solid"/>
          </a:ln>
        </p:spPr>
      </p:sp>
      <p:sp>
        <p:nvSpPr>
          <p:cNvPr id="23" name="Shape 21"/>
          <p:cNvSpPr/>
          <p:nvPr/>
        </p:nvSpPr>
        <p:spPr>
          <a:xfrm>
            <a:off x="5303520" y="2189988"/>
            <a:ext cx="3063240" cy="182880"/>
          </a:xfrm>
          <a:prstGeom prst="rect">
            <a:avLst/>
          </a:prstGeom>
          <a:solidFill>
            <a:srgbClr val="E8F4F3"/>
          </a:solidFill>
          <a:ln w="12700">
            <a:solidFill>
              <a:srgbClr val="DCE8EA"/>
            </a:solidFill>
            <a:prstDash val="solid"/>
          </a:ln>
        </p:spPr>
      </p:sp>
      <p:sp>
        <p:nvSpPr>
          <p:cNvPr id="24" name="Shape 22"/>
          <p:cNvSpPr/>
          <p:nvPr/>
        </p:nvSpPr>
        <p:spPr>
          <a:xfrm>
            <a:off x="7909560" y="2226564"/>
            <a:ext cx="384048" cy="109728"/>
          </a:xfrm>
          <a:prstGeom prst="rect">
            <a:avLst/>
          </a:prstGeom>
          <a:solidFill>
            <a:srgbClr val="0E7C86"/>
          </a:solidFill>
          <a:ln w="12700">
            <a:solidFill>
              <a:srgbClr val="FFFFFF"/>
            </a:solidFill>
            <a:prstDash val="solid"/>
          </a:ln>
        </p:spPr>
      </p:sp>
      <p:sp>
        <p:nvSpPr>
          <p:cNvPr id="25" name="Shape 23"/>
          <p:cNvSpPr/>
          <p:nvPr/>
        </p:nvSpPr>
        <p:spPr>
          <a:xfrm>
            <a:off x="5303520" y="2418588"/>
            <a:ext cx="3063240" cy="182880"/>
          </a:xfrm>
          <a:prstGeom prst="rect">
            <a:avLst/>
          </a:prstGeom>
          <a:solidFill>
            <a:srgbClr val="FFFFFF"/>
          </a:solidFill>
          <a:ln w="12700">
            <a:solidFill>
              <a:srgbClr val="DCE8EA"/>
            </a:solidFill>
            <a:prstDash val="solid"/>
          </a:ln>
        </p:spPr>
      </p:sp>
      <p:sp>
        <p:nvSpPr>
          <p:cNvPr id="26" name="Shape 24"/>
          <p:cNvSpPr/>
          <p:nvPr/>
        </p:nvSpPr>
        <p:spPr>
          <a:xfrm>
            <a:off x="7909560" y="2455164"/>
            <a:ext cx="384048" cy="109728"/>
          </a:xfrm>
          <a:prstGeom prst="rect">
            <a:avLst/>
          </a:prstGeom>
          <a:solidFill>
            <a:srgbClr val="C8553D"/>
          </a:solidFill>
          <a:ln w="12700">
            <a:solidFill>
              <a:srgbClr val="FFFFFF"/>
            </a:solidFill>
            <a:prstDash val="solid"/>
          </a:ln>
        </p:spPr>
      </p:sp>
      <p:sp>
        <p:nvSpPr>
          <p:cNvPr id="29" name="Text 27"/>
          <p:cNvSpPr txBox="1"/>
          <p:nvPr/>
        </p:nvSpPr>
        <p:spPr>
          <a:xfrm>
            <a:off x="4672584" y="2748026"/>
            <a:ext cx="3840480" cy="256032"/>
          </a:xfrm>
          <a:prstGeom prst="rect">
            <a:avLst/>
          </a:prstGeom>
          <a:noFill/>
          <a:ln/>
        </p:spPr>
        <p:txBody>
          <a:bodyPr wrap="square" lIns="0" tIns="0" rIns="0" bIns="0" rtlCol="0" anchor="ctr"/>
          <a:lstStyle/>
          <a:p>
            <a:pPr marL="0" indent="0" algn="ctr">
              <a:buNone/>
            </a:pPr>
            <a:r>
              <a:rPr lang="en-US" sz="1300" dirty="0">
                <a:solidFill>
                  <a:srgbClr val="5E7480"/>
                </a:solidFill>
                <a:latin typeface="Calibri" pitchFamily="34" charset="0"/>
                <a:ea typeface="Calibri" pitchFamily="34" charset="-122"/>
                <a:cs typeface="Calibri" pitchFamily="34" charset="-120"/>
              </a:rPr>
              <a:t>Jihozlar ro'yxati</a:t>
            </a:r>
            <a:endParaRPr lang="en-US" sz="1300" dirty="0"/>
          </a:p>
        </p:txBody>
      </p:sp>
      <p:sp>
        <p:nvSpPr>
          <p:cNvPr id="30" name="Shape 28"/>
          <p:cNvSpPr/>
          <p:nvPr/>
        </p:nvSpPr>
        <p:spPr>
          <a:xfrm>
            <a:off x="548640" y="3017520"/>
            <a:ext cx="3840480" cy="1508760"/>
          </a:xfrm>
          <a:prstGeom prst="roundRect">
            <a:avLst>
              <a:gd name="adj" fmla="val 3636"/>
            </a:avLst>
          </a:prstGeom>
          <a:solidFill>
            <a:srgbClr val="FFFFFF"/>
          </a:solidFill>
          <a:ln w="12700">
            <a:solidFill>
              <a:srgbClr val="B8CED3"/>
            </a:solidFill>
            <a:prstDash val="solid"/>
          </a:ln>
        </p:spPr>
      </p:sp>
      <p:sp>
        <p:nvSpPr>
          <p:cNvPr id="31" name="Shape 29"/>
          <p:cNvSpPr/>
          <p:nvPr/>
        </p:nvSpPr>
        <p:spPr>
          <a:xfrm>
            <a:off x="557784" y="3026664"/>
            <a:ext cx="3822192" cy="201168"/>
          </a:xfrm>
          <a:prstGeom prst="rect">
            <a:avLst/>
          </a:prstGeom>
          <a:solidFill>
            <a:srgbClr val="0B3C49"/>
          </a:solidFill>
          <a:ln w="12700">
            <a:solidFill>
              <a:srgbClr val="0B3C49"/>
            </a:solidFill>
            <a:prstDash val="solid"/>
          </a:ln>
        </p:spPr>
      </p:sp>
      <p:sp>
        <p:nvSpPr>
          <p:cNvPr id="32" name="Shape 30"/>
          <p:cNvSpPr/>
          <p:nvPr/>
        </p:nvSpPr>
        <p:spPr>
          <a:xfrm>
            <a:off x="557784" y="3227832"/>
            <a:ext cx="502920" cy="1289304"/>
          </a:xfrm>
          <a:prstGeom prst="rect">
            <a:avLst/>
          </a:prstGeom>
          <a:solidFill>
            <a:srgbClr val="E8F4F3"/>
          </a:solidFill>
          <a:ln w="12700">
            <a:solidFill>
              <a:srgbClr val="E8F4F3"/>
            </a:solidFill>
            <a:prstDash val="solid"/>
          </a:ln>
        </p:spPr>
      </p:sp>
      <p:sp>
        <p:nvSpPr>
          <p:cNvPr id="33" name="Shape 31"/>
          <p:cNvSpPr/>
          <p:nvPr/>
        </p:nvSpPr>
        <p:spPr>
          <a:xfrm>
            <a:off x="1188720" y="3383280"/>
            <a:ext cx="548640" cy="548640"/>
          </a:xfrm>
          <a:prstGeom prst="rect">
            <a:avLst/>
          </a:prstGeom>
          <a:solidFill>
            <a:srgbClr val="0B3C49"/>
          </a:solidFill>
          <a:ln w="12700">
            <a:solidFill>
              <a:srgbClr val="0B3C49"/>
            </a:solidFill>
            <a:prstDash val="solid"/>
          </a:ln>
        </p:spPr>
      </p:sp>
      <p:sp>
        <p:nvSpPr>
          <p:cNvPr id="34" name="Shape 32"/>
          <p:cNvSpPr/>
          <p:nvPr/>
        </p:nvSpPr>
        <p:spPr>
          <a:xfrm>
            <a:off x="1874520" y="3383280"/>
            <a:ext cx="1225296" cy="91440"/>
          </a:xfrm>
          <a:prstGeom prst="rect">
            <a:avLst/>
          </a:prstGeom>
          <a:solidFill>
            <a:srgbClr val="B8CED3"/>
          </a:solidFill>
          <a:ln w="12700">
            <a:solidFill>
              <a:srgbClr val="B8CED3"/>
            </a:solidFill>
            <a:prstDash val="solid"/>
          </a:ln>
        </p:spPr>
      </p:sp>
      <p:sp>
        <p:nvSpPr>
          <p:cNvPr id="35" name="Shape 33"/>
          <p:cNvSpPr/>
          <p:nvPr/>
        </p:nvSpPr>
        <p:spPr>
          <a:xfrm>
            <a:off x="1874520" y="3538728"/>
            <a:ext cx="1225296" cy="91440"/>
          </a:xfrm>
          <a:prstGeom prst="rect">
            <a:avLst/>
          </a:prstGeom>
          <a:solidFill>
            <a:srgbClr val="B8CED3"/>
          </a:solidFill>
          <a:ln w="12700">
            <a:solidFill>
              <a:srgbClr val="B8CED3"/>
            </a:solidFill>
            <a:prstDash val="solid"/>
          </a:ln>
        </p:spPr>
      </p:sp>
      <p:sp>
        <p:nvSpPr>
          <p:cNvPr id="36" name="Shape 34"/>
          <p:cNvSpPr/>
          <p:nvPr/>
        </p:nvSpPr>
        <p:spPr>
          <a:xfrm>
            <a:off x="1874520" y="3694176"/>
            <a:ext cx="1225296" cy="91440"/>
          </a:xfrm>
          <a:prstGeom prst="rect">
            <a:avLst/>
          </a:prstGeom>
          <a:solidFill>
            <a:srgbClr val="B8CED3"/>
          </a:solidFill>
          <a:ln w="12700">
            <a:solidFill>
              <a:srgbClr val="B8CED3"/>
            </a:solidFill>
            <a:prstDash val="solid"/>
          </a:ln>
        </p:spPr>
      </p:sp>
      <p:sp>
        <p:nvSpPr>
          <p:cNvPr id="37" name="Shape 35"/>
          <p:cNvSpPr/>
          <p:nvPr/>
        </p:nvSpPr>
        <p:spPr>
          <a:xfrm>
            <a:off x="1874520" y="3849624"/>
            <a:ext cx="1225296" cy="91440"/>
          </a:xfrm>
          <a:prstGeom prst="rect">
            <a:avLst/>
          </a:prstGeom>
          <a:solidFill>
            <a:srgbClr val="B8CED3"/>
          </a:solidFill>
          <a:ln w="12700">
            <a:solidFill>
              <a:srgbClr val="B8CED3"/>
            </a:solidFill>
            <a:prstDash val="solid"/>
          </a:ln>
        </p:spPr>
      </p:sp>
      <p:sp>
        <p:nvSpPr>
          <p:cNvPr id="38" name="Shape 36"/>
          <p:cNvSpPr/>
          <p:nvPr/>
        </p:nvSpPr>
        <p:spPr>
          <a:xfrm>
            <a:off x="1188720" y="4051300"/>
            <a:ext cx="128016" cy="128016"/>
          </a:xfrm>
          <a:prstGeom prst="ellipse">
            <a:avLst/>
          </a:prstGeom>
          <a:solidFill>
            <a:srgbClr val="0E7C86"/>
          </a:solidFill>
          <a:ln w="12700">
            <a:solidFill>
              <a:srgbClr val="0E7C86"/>
            </a:solidFill>
            <a:prstDash val="solid"/>
          </a:ln>
        </p:spPr>
      </p:sp>
      <p:sp>
        <p:nvSpPr>
          <p:cNvPr id="39" name="Shape 37"/>
          <p:cNvSpPr/>
          <p:nvPr/>
        </p:nvSpPr>
        <p:spPr>
          <a:xfrm>
            <a:off x="1423670" y="4085082"/>
            <a:ext cx="1837944" cy="73152"/>
          </a:xfrm>
          <a:prstGeom prst="rect">
            <a:avLst/>
          </a:prstGeom>
          <a:solidFill>
            <a:srgbClr val="B8CED3"/>
          </a:solidFill>
          <a:ln w="12700">
            <a:solidFill>
              <a:srgbClr val="B8CED3"/>
            </a:solidFill>
            <a:prstDash val="solid"/>
          </a:ln>
        </p:spPr>
      </p:sp>
      <p:sp>
        <p:nvSpPr>
          <p:cNvPr id="40" name="Shape 38"/>
          <p:cNvSpPr/>
          <p:nvPr/>
        </p:nvSpPr>
        <p:spPr>
          <a:xfrm>
            <a:off x="1188720" y="4250182"/>
            <a:ext cx="128016" cy="128016"/>
          </a:xfrm>
          <a:prstGeom prst="ellipse">
            <a:avLst/>
          </a:prstGeom>
          <a:solidFill>
            <a:srgbClr val="0E7C86"/>
          </a:solidFill>
          <a:ln w="12700">
            <a:solidFill>
              <a:srgbClr val="0E7C86"/>
            </a:solidFill>
            <a:prstDash val="solid"/>
          </a:ln>
        </p:spPr>
      </p:sp>
      <p:sp>
        <p:nvSpPr>
          <p:cNvPr id="41" name="Shape 39"/>
          <p:cNvSpPr/>
          <p:nvPr/>
        </p:nvSpPr>
        <p:spPr>
          <a:xfrm>
            <a:off x="1417320" y="4271264"/>
            <a:ext cx="1837944" cy="73152"/>
          </a:xfrm>
          <a:prstGeom prst="rect">
            <a:avLst/>
          </a:prstGeom>
          <a:solidFill>
            <a:srgbClr val="B8CED3"/>
          </a:solidFill>
          <a:ln w="12700">
            <a:solidFill>
              <a:srgbClr val="B8CED3"/>
            </a:solidFill>
            <a:prstDash val="solid"/>
          </a:ln>
        </p:spPr>
      </p:sp>
      <p:sp>
        <p:nvSpPr>
          <p:cNvPr id="44" name="Text 42"/>
          <p:cNvSpPr txBox="1"/>
          <p:nvPr/>
        </p:nvSpPr>
        <p:spPr>
          <a:xfrm>
            <a:off x="530352" y="4640580"/>
            <a:ext cx="3840480" cy="256032"/>
          </a:xfrm>
          <a:prstGeom prst="rect">
            <a:avLst/>
          </a:prstGeom>
          <a:noFill/>
          <a:ln/>
        </p:spPr>
        <p:txBody>
          <a:bodyPr wrap="square" lIns="0" tIns="0" rIns="0" bIns="0" rtlCol="0" anchor="ctr"/>
          <a:lstStyle/>
          <a:p>
            <a:pPr marL="0" indent="0" algn="ctr">
              <a:buNone/>
            </a:pPr>
            <a:r>
              <a:rPr lang="en-US" sz="1300" dirty="0">
                <a:solidFill>
                  <a:srgbClr val="5E7480"/>
                </a:solidFill>
                <a:latin typeface="Calibri" pitchFamily="34" charset="0"/>
                <a:ea typeface="Calibri" pitchFamily="34" charset="-122"/>
                <a:cs typeface="Calibri" pitchFamily="34" charset="-120"/>
              </a:rPr>
              <a:t>Jihoz kartochkasi</a:t>
            </a:r>
            <a:endParaRPr lang="en-US" sz="1300" dirty="0"/>
          </a:p>
        </p:txBody>
      </p:sp>
      <p:sp>
        <p:nvSpPr>
          <p:cNvPr id="45" name="Shape 43"/>
          <p:cNvSpPr/>
          <p:nvPr/>
        </p:nvSpPr>
        <p:spPr>
          <a:xfrm>
            <a:off x="4663440" y="3017520"/>
            <a:ext cx="3840480" cy="1508760"/>
          </a:xfrm>
          <a:prstGeom prst="roundRect">
            <a:avLst>
              <a:gd name="adj" fmla="val 3636"/>
            </a:avLst>
          </a:prstGeom>
          <a:solidFill>
            <a:srgbClr val="FFFFFF"/>
          </a:solidFill>
          <a:ln w="12700">
            <a:solidFill>
              <a:srgbClr val="B8CED3"/>
            </a:solidFill>
            <a:prstDash val="solid"/>
          </a:ln>
        </p:spPr>
      </p:sp>
      <p:sp>
        <p:nvSpPr>
          <p:cNvPr id="46" name="Shape 44"/>
          <p:cNvSpPr/>
          <p:nvPr/>
        </p:nvSpPr>
        <p:spPr>
          <a:xfrm>
            <a:off x="4672584" y="3026664"/>
            <a:ext cx="3822192" cy="201168"/>
          </a:xfrm>
          <a:prstGeom prst="rect">
            <a:avLst/>
          </a:prstGeom>
          <a:solidFill>
            <a:srgbClr val="0B3C49"/>
          </a:solidFill>
          <a:ln w="12700">
            <a:solidFill>
              <a:srgbClr val="0B3C49"/>
            </a:solidFill>
            <a:prstDash val="solid"/>
          </a:ln>
        </p:spPr>
      </p:sp>
      <p:sp>
        <p:nvSpPr>
          <p:cNvPr id="47" name="Shape 45"/>
          <p:cNvSpPr/>
          <p:nvPr/>
        </p:nvSpPr>
        <p:spPr>
          <a:xfrm>
            <a:off x="4672584" y="3227832"/>
            <a:ext cx="502920" cy="1289304"/>
          </a:xfrm>
          <a:prstGeom prst="rect">
            <a:avLst/>
          </a:prstGeom>
          <a:solidFill>
            <a:srgbClr val="E8F4F3"/>
          </a:solidFill>
          <a:ln w="12700">
            <a:solidFill>
              <a:srgbClr val="E8F4F3"/>
            </a:solidFill>
            <a:prstDash val="solid"/>
          </a:ln>
        </p:spPr>
      </p:sp>
      <p:sp>
        <p:nvSpPr>
          <p:cNvPr id="48" name="Shape 46"/>
          <p:cNvSpPr/>
          <p:nvPr/>
        </p:nvSpPr>
        <p:spPr>
          <a:xfrm>
            <a:off x="5303520" y="3383280"/>
            <a:ext cx="1440180" cy="274320"/>
          </a:xfrm>
          <a:prstGeom prst="rect">
            <a:avLst/>
          </a:prstGeom>
          <a:solidFill>
            <a:srgbClr val="FFFFFF"/>
          </a:solidFill>
          <a:ln w="12700">
            <a:solidFill>
              <a:srgbClr val="8FB0B7"/>
            </a:solidFill>
            <a:prstDash val="solid"/>
          </a:ln>
        </p:spPr>
      </p:sp>
      <p:sp>
        <p:nvSpPr>
          <p:cNvPr id="49" name="Shape 47"/>
          <p:cNvSpPr/>
          <p:nvPr/>
        </p:nvSpPr>
        <p:spPr>
          <a:xfrm>
            <a:off x="6835140" y="3383280"/>
            <a:ext cx="1440180" cy="274320"/>
          </a:xfrm>
          <a:prstGeom prst="rect">
            <a:avLst/>
          </a:prstGeom>
          <a:solidFill>
            <a:srgbClr val="FFFFFF"/>
          </a:solidFill>
          <a:ln w="12700">
            <a:solidFill>
              <a:srgbClr val="8FB0B7"/>
            </a:solidFill>
            <a:prstDash val="solid"/>
          </a:ln>
        </p:spPr>
      </p:sp>
      <p:sp>
        <p:nvSpPr>
          <p:cNvPr id="50" name="Shape 48"/>
          <p:cNvSpPr/>
          <p:nvPr/>
        </p:nvSpPr>
        <p:spPr>
          <a:xfrm>
            <a:off x="5303520" y="3794760"/>
            <a:ext cx="1440180" cy="274320"/>
          </a:xfrm>
          <a:prstGeom prst="rect">
            <a:avLst/>
          </a:prstGeom>
          <a:solidFill>
            <a:srgbClr val="FFFFFF"/>
          </a:solidFill>
          <a:ln w="12700">
            <a:solidFill>
              <a:srgbClr val="8FB0B7"/>
            </a:solidFill>
            <a:prstDash val="solid"/>
          </a:ln>
        </p:spPr>
      </p:sp>
      <p:sp>
        <p:nvSpPr>
          <p:cNvPr id="51" name="Shape 49"/>
          <p:cNvSpPr/>
          <p:nvPr/>
        </p:nvSpPr>
        <p:spPr>
          <a:xfrm>
            <a:off x="6835140" y="3794760"/>
            <a:ext cx="1440180" cy="274320"/>
          </a:xfrm>
          <a:prstGeom prst="rect">
            <a:avLst/>
          </a:prstGeom>
          <a:solidFill>
            <a:srgbClr val="FFFFFF"/>
          </a:solidFill>
          <a:ln w="12700">
            <a:solidFill>
              <a:srgbClr val="8FB0B7"/>
            </a:solidFill>
            <a:prstDash val="solid"/>
          </a:ln>
        </p:spPr>
      </p:sp>
      <p:sp>
        <p:nvSpPr>
          <p:cNvPr id="52" name="Shape 50"/>
          <p:cNvSpPr/>
          <p:nvPr/>
        </p:nvSpPr>
        <p:spPr>
          <a:xfrm>
            <a:off x="5303520" y="4236720"/>
            <a:ext cx="822960" cy="256032"/>
          </a:xfrm>
          <a:prstGeom prst="roundRect">
            <a:avLst>
              <a:gd name="adj" fmla="val 17857"/>
            </a:avLst>
          </a:prstGeom>
          <a:solidFill>
            <a:srgbClr val="0E7C86"/>
          </a:solidFill>
          <a:ln w="12700">
            <a:solidFill>
              <a:srgbClr val="0E7C86"/>
            </a:solidFill>
            <a:prstDash val="solid"/>
          </a:ln>
        </p:spPr>
      </p:sp>
      <p:sp>
        <p:nvSpPr>
          <p:cNvPr id="53" name="Text 51"/>
          <p:cNvSpPr txBox="1"/>
          <p:nvPr/>
        </p:nvSpPr>
        <p:spPr>
          <a:xfrm>
            <a:off x="4663440" y="4572000"/>
            <a:ext cx="3840480" cy="256032"/>
          </a:xfrm>
          <a:prstGeom prst="rect">
            <a:avLst/>
          </a:prstGeom>
          <a:noFill/>
          <a:ln/>
        </p:spPr>
        <p:txBody>
          <a:bodyPr wrap="square" lIns="0" tIns="0" rIns="0" bIns="0" rtlCol="0" anchor="ctr"/>
          <a:lstStyle/>
          <a:p>
            <a:pPr marL="0" indent="0" algn="ctr">
              <a:buNone/>
            </a:pPr>
            <a:r>
              <a:rPr lang="en-US" sz="1300" dirty="0">
                <a:solidFill>
                  <a:srgbClr val="5E7480"/>
                </a:solidFill>
                <a:latin typeface="Calibri" pitchFamily="34" charset="0"/>
                <a:ea typeface="Calibri" pitchFamily="34" charset="-122"/>
                <a:cs typeface="Calibri" pitchFamily="34" charset="-120"/>
              </a:rPr>
              <a:t>Qo'shish formasi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Jihoz tarixi</a:t>
            </a:r>
            <a:endParaRPr lang="en-US" sz="3600" dirty="0"/>
          </a:p>
        </p:txBody>
      </p:sp>
      <p:sp>
        <p:nvSpPr>
          <p:cNvPr id="3" name="Text 1"/>
          <p:cNvSpPr txBox="1"/>
          <p:nvPr/>
        </p:nvSpPr>
        <p:spPr>
          <a:xfrm>
            <a:off x="548640" y="1097280"/>
            <a:ext cx="7315200" cy="365760"/>
          </a:xfrm>
          <a:prstGeom prst="rect">
            <a:avLst/>
          </a:prstGeom>
          <a:noFill/>
          <a:ln/>
        </p:spPr>
        <p:txBody>
          <a:bodyPr wrap="square" lIns="0" tIns="0" rIns="0" bIns="0" rtlCol="0" anchor="ctr"/>
          <a:lstStyle/>
          <a:p>
            <a:pPr marL="0" indent="0">
              <a:buNone/>
            </a:pPr>
            <a:r>
              <a:rPr lang="en-US" sz="1600" dirty="0">
                <a:solidFill>
                  <a:srgbClr val="5E7480"/>
                </a:solidFill>
                <a:latin typeface="Calibri" pitchFamily="34" charset="0"/>
                <a:ea typeface="Calibri" pitchFamily="34" charset="-122"/>
                <a:cs typeface="Calibri" pitchFamily="34" charset="-120"/>
              </a:rPr>
              <a:t>Misol: INV-2026-0007 · Dell OptiPlex</a:t>
            </a:r>
            <a:endParaRPr lang="en-US" sz="1600" dirty="0"/>
          </a:p>
        </p:txBody>
      </p:sp>
      <p:sp>
        <p:nvSpPr>
          <p:cNvPr id="4" name="Shape 2"/>
          <p:cNvSpPr/>
          <p:nvPr/>
        </p:nvSpPr>
        <p:spPr>
          <a:xfrm>
            <a:off x="2743200" y="1645920"/>
            <a:ext cx="0" cy="3017520"/>
          </a:xfrm>
          <a:prstGeom prst="line">
            <a:avLst/>
          </a:prstGeom>
          <a:noFill/>
          <a:ln w="25400">
            <a:solidFill>
              <a:srgbClr val="0E7C86"/>
            </a:solidFill>
            <a:prstDash val="solid"/>
          </a:ln>
        </p:spPr>
      </p:sp>
      <p:sp>
        <p:nvSpPr>
          <p:cNvPr id="5" name="Text 3"/>
          <p:cNvSpPr txBox="1"/>
          <p:nvPr/>
        </p:nvSpPr>
        <p:spPr>
          <a:xfrm>
            <a:off x="548640" y="1600200"/>
            <a:ext cx="1920240" cy="365760"/>
          </a:xfrm>
          <a:prstGeom prst="rect">
            <a:avLst/>
          </a:prstGeom>
          <a:noFill/>
          <a:ln/>
        </p:spPr>
        <p:txBody>
          <a:bodyPr wrap="square" lIns="0" tIns="0" rIns="0" bIns="0" rtlCol="0" anchor="ctr"/>
          <a:lstStyle/>
          <a:p>
            <a:pPr marL="0" indent="0" algn="r">
              <a:buNone/>
            </a:pPr>
            <a:r>
              <a:rPr lang="en-US" sz="1400" dirty="0">
                <a:solidFill>
                  <a:srgbClr val="5E7480"/>
                </a:solidFill>
                <a:latin typeface="Calibri" pitchFamily="34" charset="0"/>
                <a:ea typeface="Calibri" pitchFamily="34" charset="-122"/>
                <a:cs typeface="Calibri" pitchFamily="34" charset="-120"/>
              </a:rPr>
              <a:t>12.01.2026</a:t>
            </a:r>
            <a:endParaRPr lang="en-US" sz="1400" dirty="0"/>
          </a:p>
        </p:txBody>
      </p:sp>
      <p:sp>
        <p:nvSpPr>
          <p:cNvPr id="6" name="Shape 4"/>
          <p:cNvSpPr/>
          <p:nvPr/>
        </p:nvSpPr>
        <p:spPr>
          <a:xfrm>
            <a:off x="2651760" y="1691640"/>
            <a:ext cx="182880" cy="182880"/>
          </a:xfrm>
          <a:prstGeom prst="ellipse">
            <a:avLst/>
          </a:prstGeom>
          <a:solidFill>
            <a:srgbClr val="0E7C86"/>
          </a:solidFill>
          <a:ln w="25400">
            <a:solidFill>
              <a:srgbClr val="FFFFFF"/>
            </a:solidFill>
            <a:prstDash val="solid"/>
          </a:ln>
        </p:spPr>
      </p:sp>
      <p:sp>
        <p:nvSpPr>
          <p:cNvPr id="7" name="Text 5"/>
          <p:cNvSpPr txBox="1"/>
          <p:nvPr/>
        </p:nvSpPr>
        <p:spPr>
          <a:xfrm>
            <a:off x="3108960" y="1600200"/>
            <a:ext cx="5303520" cy="365760"/>
          </a:xfrm>
          <a:prstGeom prst="rect">
            <a:avLst/>
          </a:prstGeom>
          <a:noFill/>
          <a:ln/>
        </p:spPr>
        <p:txBody>
          <a:bodyPr wrap="square" lIns="0" tIns="0" rIns="0" bIns="0" rtlCol="0" anchor="ctr"/>
          <a:lstStyle/>
          <a:p>
            <a:pPr marL="0" indent="0">
              <a:buNone/>
            </a:pPr>
            <a:r>
              <a:rPr lang="en-US" sz="1600" b="1" dirty="0">
                <a:solidFill>
                  <a:srgbClr val="0B3C49"/>
                </a:solidFill>
                <a:latin typeface="Calibri" pitchFamily="34" charset="0"/>
                <a:ea typeface="Calibri" pitchFamily="34" charset="-122"/>
                <a:cs typeface="Calibri" pitchFamily="34" charset="-120"/>
              </a:rPr>
              <a:t>Jihoz qo'shildi  </a:t>
            </a:r>
            <a:r>
              <a:rPr lang="en-US" sz="1600" dirty="0">
                <a:solidFill>
                  <a:srgbClr val="5E7480"/>
                </a:solidFill>
                <a:latin typeface="Calibri" pitchFamily="34" charset="0"/>
                <a:ea typeface="Calibri" pitchFamily="34" charset="-122"/>
                <a:cs typeface="Calibri" pitchFamily="34" charset="-120"/>
              </a:rPr>
              <a:t>Yangi · Omborda</a:t>
            </a:r>
            <a:endParaRPr lang="en-US" sz="1600" dirty="0"/>
          </a:p>
        </p:txBody>
      </p:sp>
      <p:sp>
        <p:nvSpPr>
          <p:cNvPr id="8" name="Text 6"/>
          <p:cNvSpPr txBox="1"/>
          <p:nvPr/>
        </p:nvSpPr>
        <p:spPr>
          <a:xfrm>
            <a:off x="548640" y="2221992"/>
            <a:ext cx="1920240" cy="365760"/>
          </a:xfrm>
          <a:prstGeom prst="rect">
            <a:avLst/>
          </a:prstGeom>
          <a:noFill/>
          <a:ln/>
        </p:spPr>
        <p:txBody>
          <a:bodyPr wrap="square" lIns="0" tIns="0" rIns="0" bIns="0" rtlCol="0" anchor="ctr"/>
          <a:lstStyle/>
          <a:p>
            <a:pPr marL="0" indent="0" algn="r">
              <a:buNone/>
            </a:pPr>
            <a:r>
              <a:rPr lang="en-US" sz="1400" dirty="0">
                <a:solidFill>
                  <a:srgbClr val="5E7480"/>
                </a:solidFill>
                <a:latin typeface="Calibri" pitchFamily="34" charset="0"/>
                <a:ea typeface="Calibri" pitchFamily="34" charset="-122"/>
                <a:cs typeface="Calibri" pitchFamily="34" charset="-120"/>
              </a:rPr>
              <a:t>03.02.2026</a:t>
            </a:r>
            <a:endParaRPr lang="en-US" sz="1400" dirty="0"/>
          </a:p>
        </p:txBody>
      </p:sp>
      <p:sp>
        <p:nvSpPr>
          <p:cNvPr id="9" name="Shape 7"/>
          <p:cNvSpPr/>
          <p:nvPr/>
        </p:nvSpPr>
        <p:spPr>
          <a:xfrm>
            <a:off x="2651760" y="2313432"/>
            <a:ext cx="182880" cy="182880"/>
          </a:xfrm>
          <a:prstGeom prst="ellipse">
            <a:avLst/>
          </a:prstGeom>
          <a:solidFill>
            <a:srgbClr val="0E7C86"/>
          </a:solidFill>
          <a:ln w="25400">
            <a:solidFill>
              <a:srgbClr val="FFFFFF"/>
            </a:solidFill>
            <a:prstDash val="solid"/>
          </a:ln>
        </p:spPr>
      </p:sp>
      <p:sp>
        <p:nvSpPr>
          <p:cNvPr id="10" name="Text 8"/>
          <p:cNvSpPr txBox="1"/>
          <p:nvPr/>
        </p:nvSpPr>
        <p:spPr>
          <a:xfrm>
            <a:off x="3108960" y="2221992"/>
            <a:ext cx="5303520" cy="365760"/>
          </a:xfrm>
          <a:prstGeom prst="rect">
            <a:avLst/>
          </a:prstGeom>
          <a:noFill/>
          <a:ln/>
        </p:spPr>
        <p:txBody>
          <a:bodyPr wrap="square" lIns="0" tIns="0" rIns="0" bIns="0" rtlCol="0" anchor="ctr"/>
          <a:lstStyle/>
          <a:p>
            <a:pPr marL="0" indent="0">
              <a:buNone/>
            </a:pPr>
            <a:r>
              <a:rPr lang="en-US" sz="1600" b="1" dirty="0">
                <a:solidFill>
                  <a:srgbClr val="0B3C49"/>
                </a:solidFill>
                <a:latin typeface="Calibri" pitchFamily="34" charset="0"/>
                <a:ea typeface="Calibri" pitchFamily="34" charset="-122"/>
                <a:cs typeface="Calibri" pitchFamily="34" charset="-120"/>
              </a:rPr>
              <a:t>Ko'chirildi  </a:t>
            </a:r>
            <a:r>
              <a:rPr lang="en-US" sz="1600" dirty="0">
                <a:solidFill>
                  <a:srgbClr val="5E7480"/>
                </a:solidFill>
                <a:latin typeface="Calibri" pitchFamily="34" charset="0"/>
                <a:ea typeface="Calibri" pitchFamily="34" charset="-122"/>
                <a:cs typeface="Calibri" pitchFamily="34" charset="-120"/>
              </a:rPr>
              <a:t>Ombor → 204-xona</a:t>
            </a:r>
            <a:endParaRPr lang="en-US" sz="1600" dirty="0"/>
          </a:p>
        </p:txBody>
      </p:sp>
      <p:sp>
        <p:nvSpPr>
          <p:cNvPr id="11" name="Text 9"/>
          <p:cNvSpPr txBox="1"/>
          <p:nvPr/>
        </p:nvSpPr>
        <p:spPr>
          <a:xfrm>
            <a:off x="548640" y="2843784"/>
            <a:ext cx="1920240" cy="365760"/>
          </a:xfrm>
          <a:prstGeom prst="rect">
            <a:avLst/>
          </a:prstGeom>
          <a:noFill/>
          <a:ln/>
        </p:spPr>
        <p:txBody>
          <a:bodyPr wrap="square" lIns="0" tIns="0" rIns="0" bIns="0" rtlCol="0" anchor="ctr"/>
          <a:lstStyle/>
          <a:p>
            <a:pPr marL="0" indent="0" algn="r">
              <a:buNone/>
            </a:pPr>
            <a:r>
              <a:rPr lang="en-US" sz="1400" dirty="0">
                <a:solidFill>
                  <a:srgbClr val="5E7480"/>
                </a:solidFill>
                <a:latin typeface="Calibri" pitchFamily="34" charset="0"/>
                <a:ea typeface="Calibri" pitchFamily="34" charset="-122"/>
                <a:cs typeface="Calibri" pitchFamily="34" charset="-120"/>
              </a:rPr>
              <a:t>15.05.2026</a:t>
            </a:r>
            <a:endParaRPr lang="en-US" sz="1400" dirty="0"/>
          </a:p>
        </p:txBody>
      </p:sp>
      <p:sp>
        <p:nvSpPr>
          <p:cNvPr id="12" name="Shape 10"/>
          <p:cNvSpPr/>
          <p:nvPr/>
        </p:nvSpPr>
        <p:spPr>
          <a:xfrm>
            <a:off x="2651760" y="2935224"/>
            <a:ext cx="182880" cy="182880"/>
          </a:xfrm>
          <a:prstGeom prst="ellipse">
            <a:avLst/>
          </a:prstGeom>
          <a:solidFill>
            <a:srgbClr val="0E7C86"/>
          </a:solidFill>
          <a:ln w="25400">
            <a:solidFill>
              <a:srgbClr val="FFFFFF"/>
            </a:solidFill>
            <a:prstDash val="solid"/>
          </a:ln>
        </p:spPr>
      </p:sp>
      <p:sp>
        <p:nvSpPr>
          <p:cNvPr id="13" name="Text 11"/>
          <p:cNvSpPr txBox="1"/>
          <p:nvPr/>
        </p:nvSpPr>
        <p:spPr>
          <a:xfrm>
            <a:off x="3108960" y="2843784"/>
            <a:ext cx="5303520" cy="365760"/>
          </a:xfrm>
          <a:prstGeom prst="rect">
            <a:avLst/>
          </a:prstGeom>
          <a:noFill/>
          <a:ln/>
        </p:spPr>
        <p:txBody>
          <a:bodyPr wrap="square" lIns="0" tIns="0" rIns="0" bIns="0" rtlCol="0" anchor="ctr"/>
          <a:lstStyle/>
          <a:p>
            <a:pPr marL="0" indent="0">
              <a:buNone/>
            </a:pPr>
            <a:r>
              <a:rPr lang="en-US" sz="1600" b="1" dirty="0">
                <a:solidFill>
                  <a:srgbClr val="0B3C49"/>
                </a:solidFill>
                <a:latin typeface="Calibri" pitchFamily="34" charset="0"/>
                <a:ea typeface="Calibri" pitchFamily="34" charset="-122"/>
                <a:cs typeface="Calibri" pitchFamily="34" charset="-120"/>
              </a:rPr>
              <a:t>Mas'ul o'zgardi  </a:t>
            </a:r>
            <a:r>
              <a:rPr lang="en-US" sz="1600" dirty="0">
                <a:solidFill>
                  <a:srgbClr val="5E7480"/>
                </a:solidFill>
                <a:latin typeface="Calibri" pitchFamily="34" charset="0"/>
                <a:ea typeface="Calibri" pitchFamily="34" charset="-122"/>
                <a:cs typeface="Calibri" pitchFamily="34" charset="-120"/>
              </a:rPr>
              <a:t>A. Karimov → B. Tosheva</a:t>
            </a:r>
            <a:endParaRPr lang="en-US" sz="1600" dirty="0"/>
          </a:p>
        </p:txBody>
      </p:sp>
      <p:sp>
        <p:nvSpPr>
          <p:cNvPr id="14" name="Text 12"/>
          <p:cNvSpPr txBox="1"/>
          <p:nvPr/>
        </p:nvSpPr>
        <p:spPr>
          <a:xfrm>
            <a:off x="548640" y="3465576"/>
            <a:ext cx="1920240" cy="365760"/>
          </a:xfrm>
          <a:prstGeom prst="rect">
            <a:avLst/>
          </a:prstGeom>
          <a:noFill/>
          <a:ln/>
        </p:spPr>
        <p:txBody>
          <a:bodyPr wrap="square" lIns="0" tIns="0" rIns="0" bIns="0" rtlCol="0" anchor="ctr"/>
          <a:lstStyle/>
          <a:p>
            <a:pPr marL="0" indent="0" algn="r">
              <a:buNone/>
            </a:pPr>
            <a:r>
              <a:rPr lang="en-US" sz="1400" dirty="0">
                <a:solidFill>
                  <a:srgbClr val="5E7480"/>
                </a:solidFill>
                <a:latin typeface="Calibri" pitchFamily="34" charset="0"/>
                <a:ea typeface="Calibri" pitchFamily="34" charset="-122"/>
                <a:cs typeface="Calibri" pitchFamily="34" charset="-120"/>
              </a:rPr>
              <a:t>20.08.2026</a:t>
            </a:r>
            <a:endParaRPr lang="en-US" sz="1400" dirty="0"/>
          </a:p>
        </p:txBody>
      </p:sp>
      <p:sp>
        <p:nvSpPr>
          <p:cNvPr id="15" name="Shape 13"/>
          <p:cNvSpPr/>
          <p:nvPr/>
        </p:nvSpPr>
        <p:spPr>
          <a:xfrm>
            <a:off x="2651760" y="3557016"/>
            <a:ext cx="182880" cy="182880"/>
          </a:xfrm>
          <a:prstGeom prst="ellipse">
            <a:avLst/>
          </a:prstGeom>
          <a:solidFill>
            <a:srgbClr val="F2A541"/>
          </a:solidFill>
          <a:ln w="25400">
            <a:solidFill>
              <a:srgbClr val="FFFFFF"/>
            </a:solidFill>
            <a:prstDash val="solid"/>
          </a:ln>
        </p:spPr>
      </p:sp>
      <p:sp>
        <p:nvSpPr>
          <p:cNvPr id="16" name="Text 14"/>
          <p:cNvSpPr txBox="1"/>
          <p:nvPr/>
        </p:nvSpPr>
        <p:spPr>
          <a:xfrm>
            <a:off x="3108960" y="3465576"/>
            <a:ext cx="5303520" cy="365760"/>
          </a:xfrm>
          <a:prstGeom prst="rect">
            <a:avLst/>
          </a:prstGeom>
          <a:noFill/>
          <a:ln/>
        </p:spPr>
        <p:txBody>
          <a:bodyPr wrap="square" lIns="0" tIns="0" rIns="0" bIns="0" rtlCol="0" anchor="ctr"/>
          <a:lstStyle/>
          <a:p>
            <a:pPr marL="0" indent="0">
              <a:buNone/>
            </a:pPr>
            <a:r>
              <a:rPr lang="en-US" sz="1600" b="1" dirty="0">
                <a:solidFill>
                  <a:srgbClr val="0B3C49"/>
                </a:solidFill>
                <a:latin typeface="Calibri" pitchFamily="34" charset="0"/>
                <a:ea typeface="Calibri" pitchFamily="34" charset="-122"/>
                <a:cs typeface="Calibri" pitchFamily="34" charset="-120"/>
              </a:rPr>
              <a:t>Ta'mirga yuborildi  </a:t>
            </a:r>
            <a:r>
              <a:rPr lang="en-US" sz="1600" dirty="0">
                <a:solidFill>
                  <a:srgbClr val="5E7480"/>
                </a:solidFill>
                <a:latin typeface="Calibri" pitchFamily="34" charset="0"/>
                <a:ea typeface="Calibri" pitchFamily="34" charset="-122"/>
                <a:cs typeface="Calibri" pitchFamily="34" charset="-120"/>
              </a:rPr>
              <a:t>Nosoz · Ta'mirda</a:t>
            </a:r>
            <a:endParaRPr lang="en-US" sz="1600" dirty="0"/>
          </a:p>
        </p:txBody>
      </p:sp>
      <p:sp>
        <p:nvSpPr>
          <p:cNvPr id="17" name="Text 15"/>
          <p:cNvSpPr txBox="1"/>
          <p:nvPr/>
        </p:nvSpPr>
        <p:spPr>
          <a:xfrm>
            <a:off x="548640" y="4087368"/>
            <a:ext cx="1920240" cy="365760"/>
          </a:xfrm>
          <a:prstGeom prst="rect">
            <a:avLst/>
          </a:prstGeom>
          <a:noFill/>
          <a:ln/>
        </p:spPr>
        <p:txBody>
          <a:bodyPr wrap="square" lIns="0" tIns="0" rIns="0" bIns="0" rtlCol="0" anchor="ctr"/>
          <a:lstStyle/>
          <a:p>
            <a:pPr marL="0" indent="0" algn="r">
              <a:buNone/>
            </a:pPr>
            <a:r>
              <a:rPr lang="en-US" sz="1400" dirty="0">
                <a:solidFill>
                  <a:srgbClr val="5E7480"/>
                </a:solidFill>
                <a:latin typeface="Calibri" pitchFamily="34" charset="0"/>
                <a:ea typeface="Calibri" pitchFamily="34" charset="-122"/>
                <a:cs typeface="Calibri" pitchFamily="34" charset="-120"/>
              </a:rPr>
              <a:t>02.09.2026</a:t>
            </a:r>
            <a:endParaRPr lang="en-US" sz="1400" dirty="0"/>
          </a:p>
        </p:txBody>
      </p:sp>
      <p:sp>
        <p:nvSpPr>
          <p:cNvPr id="18" name="Shape 16"/>
          <p:cNvSpPr/>
          <p:nvPr/>
        </p:nvSpPr>
        <p:spPr>
          <a:xfrm>
            <a:off x="2651760" y="4178808"/>
            <a:ext cx="182880" cy="182880"/>
          </a:xfrm>
          <a:prstGeom prst="ellipse">
            <a:avLst/>
          </a:prstGeom>
          <a:solidFill>
            <a:srgbClr val="0E7C86"/>
          </a:solidFill>
          <a:ln w="25400">
            <a:solidFill>
              <a:srgbClr val="FFFFFF"/>
            </a:solidFill>
            <a:prstDash val="solid"/>
          </a:ln>
        </p:spPr>
      </p:sp>
      <p:sp>
        <p:nvSpPr>
          <p:cNvPr id="19" name="Text 17"/>
          <p:cNvSpPr txBox="1"/>
          <p:nvPr/>
        </p:nvSpPr>
        <p:spPr>
          <a:xfrm>
            <a:off x="3108960" y="4087368"/>
            <a:ext cx="5303520" cy="365760"/>
          </a:xfrm>
          <a:prstGeom prst="rect">
            <a:avLst/>
          </a:prstGeom>
          <a:noFill/>
          <a:ln/>
        </p:spPr>
        <p:txBody>
          <a:bodyPr wrap="square" lIns="0" tIns="0" rIns="0" bIns="0" rtlCol="0" anchor="ctr"/>
          <a:lstStyle/>
          <a:p>
            <a:pPr marL="0" indent="0">
              <a:buNone/>
            </a:pPr>
            <a:r>
              <a:rPr lang="en-US" sz="1600" b="1" dirty="0">
                <a:solidFill>
                  <a:srgbClr val="0B3C49"/>
                </a:solidFill>
                <a:latin typeface="Calibri" pitchFamily="34" charset="0"/>
                <a:ea typeface="Calibri" pitchFamily="34" charset="-122"/>
                <a:cs typeface="Calibri" pitchFamily="34" charset="-120"/>
              </a:rPr>
              <a:t>Ta'mirdan qaytdi  </a:t>
            </a:r>
            <a:r>
              <a:rPr lang="en-US" sz="1600" dirty="0">
                <a:solidFill>
                  <a:srgbClr val="5E7480"/>
                </a:solidFill>
                <a:latin typeface="Calibri" pitchFamily="34" charset="0"/>
                <a:ea typeface="Calibri" pitchFamily="34" charset="-122"/>
                <a:cs typeface="Calibri" pitchFamily="34" charset="-120"/>
              </a:rPr>
              <a:t>Yaxshi · Ishlatilmoqda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49"/>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AI yordamchi: savol bering, javob oling</a:t>
            </a:r>
            <a:endParaRPr lang="en-US" sz="3600" dirty="0"/>
          </a:p>
        </p:txBody>
      </p:sp>
      <p:sp>
        <p:nvSpPr>
          <p:cNvPr id="3" name="Shape 1"/>
          <p:cNvSpPr/>
          <p:nvPr/>
        </p:nvSpPr>
        <p:spPr>
          <a:xfrm>
            <a:off x="548640" y="1371600"/>
            <a:ext cx="4572000" cy="3108960"/>
          </a:xfrm>
          <a:prstGeom prst="roundRect">
            <a:avLst>
              <a:gd name="adj" fmla="val 3529"/>
            </a:avLst>
          </a:prstGeom>
          <a:solidFill>
            <a:srgbClr val="12505F"/>
          </a:solidFill>
          <a:ln w="12700">
            <a:solidFill>
              <a:srgbClr val="12505F"/>
            </a:solidFill>
            <a:prstDash val="solid"/>
          </a:ln>
        </p:spPr>
      </p:sp>
      <p:sp>
        <p:nvSpPr>
          <p:cNvPr id="4" name="Shape 2"/>
          <p:cNvSpPr/>
          <p:nvPr/>
        </p:nvSpPr>
        <p:spPr>
          <a:xfrm>
            <a:off x="2377440" y="1554480"/>
            <a:ext cx="2560320" cy="548640"/>
          </a:xfrm>
          <a:prstGeom prst="roundRect">
            <a:avLst>
              <a:gd name="adj" fmla="val 25000"/>
            </a:avLst>
          </a:prstGeom>
          <a:solidFill>
            <a:srgbClr val="0E7C86"/>
          </a:solidFill>
          <a:ln w="12700">
            <a:solidFill>
              <a:srgbClr val="0E7C86"/>
            </a:solidFill>
            <a:prstDash val="solid"/>
          </a:ln>
        </p:spPr>
      </p:sp>
      <p:sp>
        <p:nvSpPr>
          <p:cNvPr id="5" name="Text 3"/>
          <p:cNvSpPr txBox="1"/>
          <p:nvPr/>
        </p:nvSpPr>
        <p:spPr>
          <a:xfrm>
            <a:off x="2468880" y="1554480"/>
            <a:ext cx="237744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Qaysi bo'limda eng ko'p nosoz jihoz bor?</a:t>
            </a:r>
            <a:endParaRPr lang="en-US" sz="1300" dirty="0"/>
          </a:p>
        </p:txBody>
      </p:sp>
      <p:sp>
        <p:nvSpPr>
          <p:cNvPr id="6" name="Shape 4"/>
          <p:cNvSpPr/>
          <p:nvPr/>
        </p:nvSpPr>
        <p:spPr>
          <a:xfrm>
            <a:off x="731520" y="2286000"/>
            <a:ext cx="3291840" cy="914400"/>
          </a:xfrm>
          <a:prstGeom prst="roundRect">
            <a:avLst>
              <a:gd name="adj" fmla="val 15000"/>
            </a:avLst>
          </a:prstGeom>
          <a:solidFill>
            <a:srgbClr val="FFFFFF"/>
          </a:solidFill>
          <a:ln w="12700">
            <a:solidFill>
              <a:srgbClr val="FFFFFF"/>
            </a:solidFill>
            <a:prstDash val="solid"/>
          </a:ln>
        </p:spPr>
      </p:sp>
      <p:sp>
        <p:nvSpPr>
          <p:cNvPr id="7" name="Text 5"/>
          <p:cNvSpPr txBox="1"/>
          <p:nvPr/>
        </p:nvSpPr>
        <p:spPr>
          <a:xfrm>
            <a:off x="868680" y="2286000"/>
            <a:ext cx="3017520" cy="914400"/>
          </a:xfrm>
          <a:prstGeom prst="rect">
            <a:avLst/>
          </a:prstGeom>
          <a:noFill/>
          <a:ln/>
        </p:spPr>
        <p:txBody>
          <a:bodyPr wrap="square" lIns="0" tIns="0" rIns="0" bIns="0" rtlCol="0" anchor="ctr"/>
          <a:lstStyle/>
          <a:p>
            <a:pPr marL="0" indent="0">
              <a:buNone/>
            </a:pPr>
            <a:r>
              <a:rPr lang="en-US" sz="1300" dirty="0">
                <a:solidFill>
                  <a:srgbClr val="1B2B34"/>
                </a:solidFill>
                <a:latin typeface="Calibri" pitchFamily="34" charset="0"/>
                <a:ea typeface="Calibri" pitchFamily="34" charset="-122"/>
                <a:cs typeface="Calibri" pitchFamily="34" charset="-120"/>
              </a:rPr>
              <a:t>Buxgalteriya bo'limida: 4 ta nosoz jihoz, ulardan 3 tasi printer.</a:t>
            </a:r>
            <a:endParaRPr lang="en-US" sz="1300" dirty="0"/>
          </a:p>
        </p:txBody>
      </p:sp>
      <p:sp>
        <p:nvSpPr>
          <p:cNvPr id="8" name="Text 6"/>
          <p:cNvSpPr txBox="1"/>
          <p:nvPr/>
        </p:nvSpPr>
        <p:spPr>
          <a:xfrm>
            <a:off x="731520" y="3977640"/>
            <a:ext cx="4206240" cy="365760"/>
          </a:xfrm>
          <a:prstGeom prst="rect">
            <a:avLst/>
          </a:prstGeom>
          <a:noFill/>
          <a:ln/>
        </p:spPr>
        <p:txBody>
          <a:bodyPr wrap="square" lIns="0" tIns="0" rIns="0" bIns="0" rtlCol="0" anchor="ctr"/>
          <a:lstStyle/>
          <a:p>
            <a:pPr marL="0" indent="0">
              <a:buNone/>
            </a:pPr>
            <a:r>
              <a:rPr lang="en-US" sz="1100" i="1" dirty="0">
                <a:solidFill>
                  <a:srgbClr val="9FC9C7"/>
                </a:solidFill>
                <a:latin typeface="Calibri" pitchFamily="34" charset="0"/>
                <a:ea typeface="Calibri" pitchFamily="34" charset="-122"/>
                <a:cs typeface="Calibri" pitchFamily="34" charset="-120"/>
              </a:rPr>
              <a:t>Namuna savol-javob</a:t>
            </a:r>
            <a:endParaRPr lang="en-US" sz="1100" dirty="0"/>
          </a:p>
        </p:txBody>
      </p:sp>
      <p:sp>
        <p:nvSpPr>
          <p:cNvPr id="9" name="Shape 7"/>
          <p:cNvSpPr/>
          <p:nvPr/>
        </p:nvSpPr>
        <p:spPr>
          <a:xfrm>
            <a:off x="5486400" y="1417320"/>
            <a:ext cx="731520" cy="731520"/>
          </a:xfrm>
          <a:prstGeom prst="ellipse">
            <a:avLst/>
          </a:prstGeom>
          <a:solidFill>
            <a:srgbClr val="F2A541"/>
          </a:solidFill>
          <a:ln w="12700">
            <a:solidFill>
              <a:srgbClr val="F2A541"/>
            </a:solidFill>
            <a:prstDash val="solid"/>
          </a:ln>
        </p:spPr>
      </p:sp>
      <p:pic>
        <p:nvPicPr>
          <p:cNvPr id="10" name="Image 0" descr="preencoded.png"/>
          <p:cNvPicPr>
            <a:picLocks noChangeAspect="1"/>
          </p:cNvPicPr>
          <p:nvPr/>
        </p:nvPicPr>
        <p:blipFill>
          <a:blip r:embed="rId3"/>
          <a:stretch>
            <a:fillRect/>
          </a:stretch>
        </p:blipFill>
        <p:spPr>
          <a:xfrm>
            <a:off x="5669280" y="1600200"/>
            <a:ext cx="365760" cy="365760"/>
          </a:xfrm>
          <a:prstGeom prst="rect">
            <a:avLst/>
          </a:prstGeom>
        </p:spPr>
      </p:pic>
      <p:sp>
        <p:nvSpPr>
          <p:cNvPr id="11" name="Text 8"/>
          <p:cNvSpPr txBox="1"/>
          <p:nvPr/>
        </p:nvSpPr>
        <p:spPr>
          <a:xfrm>
            <a:off x="6400800" y="1417320"/>
            <a:ext cx="22860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Tabiiy tilda savol</a:t>
            </a:r>
            <a:endParaRPr lang="en-US" sz="1600" dirty="0"/>
          </a:p>
        </p:txBody>
      </p:sp>
      <p:sp>
        <p:nvSpPr>
          <p:cNvPr id="12" name="Shape 9"/>
          <p:cNvSpPr/>
          <p:nvPr/>
        </p:nvSpPr>
        <p:spPr>
          <a:xfrm>
            <a:off x="5486400" y="2468880"/>
            <a:ext cx="731520" cy="731520"/>
          </a:xfrm>
          <a:prstGeom prst="ellipse">
            <a:avLst/>
          </a:prstGeom>
          <a:solidFill>
            <a:srgbClr val="F2A541"/>
          </a:solidFill>
          <a:ln w="12700">
            <a:solidFill>
              <a:srgbClr val="F2A541"/>
            </a:solidFill>
            <a:prstDash val="solid"/>
          </a:ln>
        </p:spPr>
      </p:sp>
      <p:pic>
        <p:nvPicPr>
          <p:cNvPr id="13" name="Image 1" descr="preencoded.png"/>
          <p:cNvPicPr>
            <a:picLocks noChangeAspect="1"/>
          </p:cNvPicPr>
          <p:nvPr/>
        </p:nvPicPr>
        <p:blipFill>
          <a:blip r:embed="rId4"/>
          <a:stretch>
            <a:fillRect/>
          </a:stretch>
        </p:blipFill>
        <p:spPr>
          <a:xfrm>
            <a:off x="5669280" y="2651760"/>
            <a:ext cx="365760" cy="365760"/>
          </a:xfrm>
          <a:prstGeom prst="rect">
            <a:avLst/>
          </a:prstGeom>
        </p:spPr>
      </p:pic>
      <p:sp>
        <p:nvSpPr>
          <p:cNvPr id="14" name="Text 10"/>
          <p:cNvSpPr txBox="1"/>
          <p:nvPr/>
        </p:nvSpPr>
        <p:spPr>
          <a:xfrm>
            <a:off x="6400800" y="2468880"/>
            <a:ext cx="22860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Faqat o'qiydi, o'zgartirmaydi</a:t>
            </a:r>
            <a:endParaRPr lang="en-US" sz="1600" dirty="0"/>
          </a:p>
        </p:txBody>
      </p:sp>
      <p:sp>
        <p:nvSpPr>
          <p:cNvPr id="15" name="Shape 11"/>
          <p:cNvSpPr/>
          <p:nvPr/>
        </p:nvSpPr>
        <p:spPr>
          <a:xfrm>
            <a:off x="5486400" y="3520440"/>
            <a:ext cx="731520" cy="731520"/>
          </a:xfrm>
          <a:prstGeom prst="ellipse">
            <a:avLst/>
          </a:prstGeom>
          <a:solidFill>
            <a:srgbClr val="F2A541"/>
          </a:solidFill>
          <a:ln w="12700">
            <a:solidFill>
              <a:srgbClr val="F2A541"/>
            </a:solidFill>
            <a:prstDash val="solid"/>
          </a:ln>
        </p:spPr>
      </p:sp>
      <p:pic>
        <p:nvPicPr>
          <p:cNvPr id="16" name="Image 2" descr="preencoded.png"/>
          <p:cNvPicPr>
            <a:picLocks noChangeAspect="1"/>
          </p:cNvPicPr>
          <p:nvPr/>
        </p:nvPicPr>
        <p:blipFill>
          <a:blip r:embed="rId5"/>
          <a:stretch>
            <a:fillRect/>
          </a:stretch>
        </p:blipFill>
        <p:spPr>
          <a:xfrm>
            <a:off x="5669280" y="3703320"/>
            <a:ext cx="365760" cy="365760"/>
          </a:xfrm>
          <a:prstGeom prst="rect">
            <a:avLst/>
          </a:prstGeom>
        </p:spPr>
      </p:pic>
      <p:sp>
        <p:nvSpPr>
          <p:cNvPr id="17" name="Text 12"/>
          <p:cNvSpPr txBox="1"/>
          <p:nvPr/>
        </p:nvSpPr>
        <p:spPr>
          <a:xfrm>
            <a:off x="6400800" y="3520440"/>
            <a:ext cx="22860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Bepul modellar, zaxira zanjiri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Foydalanuvchi rollari</a:t>
            </a:r>
            <a:endParaRPr lang="en-US" sz="3600" dirty="0"/>
          </a:p>
        </p:txBody>
      </p:sp>
      <p:sp>
        <p:nvSpPr>
          <p:cNvPr id="3" name="Shape 1"/>
          <p:cNvSpPr/>
          <p:nvPr/>
        </p:nvSpPr>
        <p:spPr>
          <a:xfrm>
            <a:off x="548640" y="1371600"/>
            <a:ext cx="2560320" cy="2926080"/>
          </a:xfrm>
          <a:prstGeom prst="roundRect">
            <a:avLst>
              <a:gd name="adj" fmla="val 4286"/>
            </a:avLst>
          </a:prstGeom>
          <a:solidFill>
            <a:srgbClr val="E8F4F3"/>
          </a:solidFill>
          <a:ln w="12700">
            <a:solidFill>
              <a:srgbClr val="E8F4F3"/>
            </a:solidFill>
            <a:prstDash val="solid"/>
          </a:ln>
        </p:spPr>
      </p:sp>
      <p:sp>
        <p:nvSpPr>
          <p:cNvPr id="4" name="Shape 2"/>
          <p:cNvSpPr/>
          <p:nvPr/>
        </p:nvSpPr>
        <p:spPr>
          <a:xfrm>
            <a:off x="1371600" y="1600200"/>
            <a:ext cx="914400" cy="914400"/>
          </a:xfrm>
          <a:prstGeom prst="ellipse">
            <a:avLst/>
          </a:prstGeom>
          <a:solidFill>
            <a:srgbClr val="0B3C49"/>
          </a:solidFill>
          <a:ln w="12700">
            <a:solidFill>
              <a:srgbClr val="0B3C49"/>
            </a:solidFill>
            <a:prstDash val="solid"/>
          </a:ln>
        </p:spPr>
      </p:sp>
      <p:pic>
        <p:nvPicPr>
          <p:cNvPr id="5" name="Image 0" descr="preencoded.png"/>
          <p:cNvPicPr>
            <a:picLocks noChangeAspect="1"/>
          </p:cNvPicPr>
          <p:nvPr/>
        </p:nvPicPr>
        <p:blipFill>
          <a:blip r:embed="rId3"/>
          <a:stretch>
            <a:fillRect/>
          </a:stretch>
        </p:blipFill>
        <p:spPr>
          <a:xfrm>
            <a:off x="1600200" y="1828800"/>
            <a:ext cx="457200" cy="457200"/>
          </a:xfrm>
          <a:prstGeom prst="rect">
            <a:avLst/>
          </a:prstGeom>
        </p:spPr>
      </p:pic>
      <p:sp>
        <p:nvSpPr>
          <p:cNvPr id="6" name="Text 3"/>
          <p:cNvSpPr txBox="1"/>
          <p:nvPr/>
        </p:nvSpPr>
        <p:spPr>
          <a:xfrm>
            <a:off x="685800" y="2697480"/>
            <a:ext cx="2286000" cy="457200"/>
          </a:xfrm>
          <a:prstGeom prst="rect">
            <a:avLst/>
          </a:prstGeom>
          <a:noFill/>
          <a:ln/>
        </p:spPr>
        <p:txBody>
          <a:bodyPr wrap="square" lIns="0" tIns="0" rIns="0" bIns="0" rtlCol="0" anchor="ctr"/>
          <a:lstStyle/>
          <a:p>
            <a:pPr marL="0" indent="0" algn="ctr">
              <a:buNone/>
            </a:pPr>
            <a:r>
              <a:rPr lang="en-US" sz="2000" b="1" dirty="0">
                <a:solidFill>
                  <a:srgbClr val="0B3C49"/>
                </a:solidFill>
                <a:latin typeface="Calibri" pitchFamily="34" charset="0"/>
                <a:ea typeface="Calibri" pitchFamily="34" charset="-122"/>
                <a:cs typeface="Calibri" pitchFamily="34" charset="-120"/>
              </a:rPr>
              <a:t>Administrator</a:t>
            </a:r>
            <a:endParaRPr lang="en-US" sz="2000" dirty="0"/>
          </a:p>
        </p:txBody>
      </p:sp>
      <p:sp>
        <p:nvSpPr>
          <p:cNvPr id="7" name="Text 4"/>
          <p:cNvSpPr txBox="1"/>
          <p:nvPr/>
        </p:nvSpPr>
        <p:spPr>
          <a:xfrm>
            <a:off x="731520" y="3200400"/>
            <a:ext cx="2194560" cy="100584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Hamma narsa: jihoz, foydalanuvchi, ma'lumotnoma</a:t>
            </a:r>
            <a:endParaRPr lang="en-US" sz="1400" dirty="0"/>
          </a:p>
        </p:txBody>
      </p:sp>
      <p:sp>
        <p:nvSpPr>
          <p:cNvPr id="8" name="Shape 5"/>
          <p:cNvSpPr/>
          <p:nvPr/>
        </p:nvSpPr>
        <p:spPr>
          <a:xfrm>
            <a:off x="3291840" y="1371600"/>
            <a:ext cx="2560320" cy="2926080"/>
          </a:xfrm>
          <a:prstGeom prst="roundRect">
            <a:avLst>
              <a:gd name="adj" fmla="val 4286"/>
            </a:avLst>
          </a:prstGeom>
          <a:solidFill>
            <a:srgbClr val="E8F4F3"/>
          </a:solidFill>
          <a:ln w="12700">
            <a:solidFill>
              <a:srgbClr val="E8F4F3"/>
            </a:solidFill>
            <a:prstDash val="solid"/>
          </a:ln>
        </p:spPr>
      </p:sp>
      <p:sp>
        <p:nvSpPr>
          <p:cNvPr id="9" name="Shape 6"/>
          <p:cNvSpPr/>
          <p:nvPr/>
        </p:nvSpPr>
        <p:spPr>
          <a:xfrm>
            <a:off x="4114800" y="1600200"/>
            <a:ext cx="914400" cy="914400"/>
          </a:xfrm>
          <a:prstGeom prst="ellipse">
            <a:avLst/>
          </a:prstGeom>
          <a:solidFill>
            <a:srgbClr val="0E7C86"/>
          </a:solidFill>
          <a:ln w="12700">
            <a:solidFill>
              <a:srgbClr val="0E7C86"/>
            </a:solidFill>
            <a:prstDash val="solid"/>
          </a:ln>
        </p:spPr>
      </p:sp>
      <p:pic>
        <p:nvPicPr>
          <p:cNvPr id="10" name="Image 1" descr="preencoded.png"/>
          <p:cNvPicPr>
            <a:picLocks noChangeAspect="1"/>
          </p:cNvPicPr>
          <p:nvPr/>
        </p:nvPicPr>
        <p:blipFill>
          <a:blip r:embed="rId4"/>
          <a:stretch>
            <a:fillRect/>
          </a:stretch>
        </p:blipFill>
        <p:spPr>
          <a:xfrm>
            <a:off x="4343400" y="1828800"/>
            <a:ext cx="457200" cy="457200"/>
          </a:xfrm>
          <a:prstGeom prst="rect">
            <a:avLst/>
          </a:prstGeom>
        </p:spPr>
      </p:pic>
      <p:sp>
        <p:nvSpPr>
          <p:cNvPr id="11" name="Text 7"/>
          <p:cNvSpPr txBox="1"/>
          <p:nvPr/>
        </p:nvSpPr>
        <p:spPr>
          <a:xfrm>
            <a:off x="3429000" y="2697480"/>
            <a:ext cx="2286000" cy="457200"/>
          </a:xfrm>
          <a:prstGeom prst="rect">
            <a:avLst/>
          </a:prstGeom>
          <a:noFill/>
          <a:ln/>
        </p:spPr>
        <p:txBody>
          <a:bodyPr wrap="square" lIns="0" tIns="0" rIns="0" bIns="0" rtlCol="0" anchor="ctr"/>
          <a:lstStyle/>
          <a:p>
            <a:pPr marL="0" indent="0" algn="ctr">
              <a:buNone/>
            </a:pPr>
            <a:r>
              <a:rPr lang="en-US" sz="2000" b="1" dirty="0">
                <a:solidFill>
                  <a:srgbClr val="0B3C49"/>
                </a:solidFill>
                <a:latin typeface="Calibri" pitchFamily="34" charset="0"/>
                <a:ea typeface="Calibri" pitchFamily="34" charset="-122"/>
                <a:cs typeface="Calibri" pitchFamily="34" charset="-120"/>
              </a:rPr>
              <a:t>Mas'ul shaxs</a:t>
            </a:r>
            <a:endParaRPr lang="en-US" sz="2000" dirty="0"/>
          </a:p>
        </p:txBody>
      </p:sp>
      <p:sp>
        <p:nvSpPr>
          <p:cNvPr id="12" name="Text 8"/>
          <p:cNvSpPr txBox="1"/>
          <p:nvPr/>
        </p:nvSpPr>
        <p:spPr>
          <a:xfrm>
            <a:off x="3474720" y="3200400"/>
            <a:ext cx="2194560" cy="100584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O'z jihozlarini ko'radi, holatini yangilaydi, ta'mir qayd etadi</a:t>
            </a:r>
            <a:endParaRPr lang="en-US" sz="1400" dirty="0"/>
          </a:p>
        </p:txBody>
      </p:sp>
      <p:sp>
        <p:nvSpPr>
          <p:cNvPr id="13" name="Shape 9"/>
          <p:cNvSpPr/>
          <p:nvPr/>
        </p:nvSpPr>
        <p:spPr>
          <a:xfrm>
            <a:off x="6035040" y="1371600"/>
            <a:ext cx="2560320" cy="2926080"/>
          </a:xfrm>
          <a:prstGeom prst="roundRect">
            <a:avLst>
              <a:gd name="adj" fmla="val 4286"/>
            </a:avLst>
          </a:prstGeom>
          <a:solidFill>
            <a:srgbClr val="E8F4F3"/>
          </a:solidFill>
          <a:ln w="12700">
            <a:solidFill>
              <a:srgbClr val="E8F4F3"/>
            </a:solidFill>
            <a:prstDash val="solid"/>
          </a:ln>
        </p:spPr>
      </p:sp>
      <p:sp>
        <p:nvSpPr>
          <p:cNvPr id="14" name="Shape 10"/>
          <p:cNvSpPr/>
          <p:nvPr/>
        </p:nvSpPr>
        <p:spPr>
          <a:xfrm>
            <a:off x="6858000" y="1600200"/>
            <a:ext cx="914400" cy="914400"/>
          </a:xfrm>
          <a:prstGeom prst="ellipse">
            <a:avLst/>
          </a:prstGeom>
          <a:solidFill>
            <a:srgbClr val="14A3A8"/>
          </a:solidFill>
          <a:ln w="12700">
            <a:solidFill>
              <a:srgbClr val="14A3A8"/>
            </a:solidFill>
            <a:prstDash val="solid"/>
          </a:ln>
        </p:spPr>
      </p:sp>
      <p:pic>
        <p:nvPicPr>
          <p:cNvPr id="15" name="Image 2" descr="preencoded.png"/>
          <p:cNvPicPr>
            <a:picLocks noChangeAspect="1"/>
          </p:cNvPicPr>
          <p:nvPr/>
        </p:nvPicPr>
        <p:blipFill>
          <a:blip r:embed="rId5"/>
          <a:stretch>
            <a:fillRect/>
          </a:stretch>
        </p:blipFill>
        <p:spPr>
          <a:xfrm>
            <a:off x="7086600" y="1828800"/>
            <a:ext cx="457200" cy="457200"/>
          </a:xfrm>
          <a:prstGeom prst="rect">
            <a:avLst/>
          </a:prstGeom>
        </p:spPr>
      </p:pic>
      <p:sp>
        <p:nvSpPr>
          <p:cNvPr id="16" name="Text 11"/>
          <p:cNvSpPr txBox="1"/>
          <p:nvPr/>
        </p:nvSpPr>
        <p:spPr>
          <a:xfrm>
            <a:off x="6172200" y="2697480"/>
            <a:ext cx="2286000" cy="457200"/>
          </a:xfrm>
          <a:prstGeom prst="rect">
            <a:avLst/>
          </a:prstGeom>
          <a:noFill/>
          <a:ln/>
        </p:spPr>
        <p:txBody>
          <a:bodyPr wrap="square" lIns="0" tIns="0" rIns="0" bIns="0" rtlCol="0" anchor="ctr"/>
          <a:lstStyle/>
          <a:p>
            <a:pPr marL="0" indent="0" algn="ctr">
              <a:buNone/>
            </a:pPr>
            <a:r>
              <a:rPr lang="en-US" sz="2000" b="1" dirty="0">
                <a:solidFill>
                  <a:srgbClr val="0B3C49"/>
                </a:solidFill>
                <a:latin typeface="Calibri" pitchFamily="34" charset="0"/>
                <a:ea typeface="Calibri" pitchFamily="34" charset="-122"/>
                <a:cs typeface="Calibri" pitchFamily="34" charset="-120"/>
              </a:rPr>
              <a:t>Xodim</a:t>
            </a:r>
            <a:endParaRPr lang="en-US" sz="2000" dirty="0"/>
          </a:p>
        </p:txBody>
      </p:sp>
      <p:sp>
        <p:nvSpPr>
          <p:cNvPr id="17" name="Text 12"/>
          <p:cNvSpPr txBox="1"/>
          <p:nvPr/>
        </p:nvSpPr>
        <p:spPr>
          <a:xfrm>
            <a:off x="6217920" y="3200400"/>
            <a:ext cx="2194560" cy="100584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Faqat ko'rish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49"/>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Kiberxavfsizlik choralari</a:t>
            </a:r>
            <a:endParaRPr lang="en-US" sz="3600" dirty="0"/>
          </a:p>
        </p:txBody>
      </p:sp>
      <p:sp>
        <p:nvSpPr>
          <p:cNvPr id="3" name="Shape 1"/>
          <p:cNvSpPr/>
          <p:nvPr/>
        </p:nvSpPr>
        <p:spPr>
          <a:xfrm>
            <a:off x="548640" y="1371600"/>
            <a:ext cx="2560320" cy="1508760"/>
          </a:xfrm>
          <a:prstGeom prst="roundRect">
            <a:avLst>
              <a:gd name="adj" fmla="val 7273"/>
            </a:avLst>
          </a:prstGeom>
          <a:solidFill>
            <a:srgbClr val="12505F"/>
          </a:solidFill>
          <a:ln w="12700">
            <a:solidFill>
              <a:srgbClr val="12505F"/>
            </a:solidFill>
            <a:prstDash val="solid"/>
          </a:ln>
        </p:spPr>
      </p:sp>
      <p:sp>
        <p:nvSpPr>
          <p:cNvPr id="4" name="Shape 2"/>
          <p:cNvSpPr/>
          <p:nvPr/>
        </p:nvSpPr>
        <p:spPr>
          <a:xfrm>
            <a:off x="731520" y="1554480"/>
            <a:ext cx="548640" cy="548640"/>
          </a:xfrm>
          <a:prstGeom prst="ellipse">
            <a:avLst/>
          </a:prstGeom>
          <a:solidFill>
            <a:srgbClr val="F2A541"/>
          </a:solidFill>
          <a:ln w="12700">
            <a:solidFill>
              <a:srgbClr val="F2A541"/>
            </a:solidFill>
            <a:prstDash val="solid"/>
          </a:ln>
        </p:spPr>
      </p:sp>
      <p:pic>
        <p:nvPicPr>
          <p:cNvPr id="5" name="Image 0" descr="preencoded.png"/>
          <p:cNvPicPr>
            <a:picLocks noChangeAspect="1"/>
          </p:cNvPicPr>
          <p:nvPr/>
        </p:nvPicPr>
        <p:blipFill>
          <a:blip r:embed="rId3"/>
          <a:stretch>
            <a:fillRect/>
          </a:stretch>
        </p:blipFill>
        <p:spPr>
          <a:xfrm>
            <a:off x="868680" y="1691640"/>
            <a:ext cx="274320" cy="274320"/>
          </a:xfrm>
          <a:prstGeom prst="rect">
            <a:avLst/>
          </a:prstGeom>
        </p:spPr>
      </p:pic>
      <p:sp>
        <p:nvSpPr>
          <p:cNvPr id="6" name="Text 3"/>
          <p:cNvSpPr txBox="1"/>
          <p:nvPr/>
        </p:nvSpPr>
        <p:spPr>
          <a:xfrm>
            <a:off x="1417320" y="1554480"/>
            <a:ext cx="1600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Parollar</a:t>
            </a:r>
            <a:endParaRPr lang="en-US" sz="1500" dirty="0"/>
          </a:p>
        </p:txBody>
      </p:sp>
      <p:sp>
        <p:nvSpPr>
          <p:cNvPr id="7" name="Text 4"/>
          <p:cNvSpPr txBox="1"/>
          <p:nvPr/>
        </p:nvSpPr>
        <p:spPr>
          <a:xfrm>
            <a:off x="731520" y="2240280"/>
            <a:ext cx="2240280" cy="59436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bcrypt bilan hash, ochiq saqlanmaydi</a:t>
            </a:r>
            <a:endParaRPr lang="en-US" sz="1300" dirty="0"/>
          </a:p>
        </p:txBody>
      </p:sp>
      <p:sp>
        <p:nvSpPr>
          <p:cNvPr id="8" name="Shape 5"/>
          <p:cNvSpPr/>
          <p:nvPr/>
        </p:nvSpPr>
        <p:spPr>
          <a:xfrm>
            <a:off x="3291840" y="1371600"/>
            <a:ext cx="2560320" cy="1508760"/>
          </a:xfrm>
          <a:prstGeom prst="roundRect">
            <a:avLst>
              <a:gd name="adj" fmla="val 7273"/>
            </a:avLst>
          </a:prstGeom>
          <a:solidFill>
            <a:srgbClr val="12505F"/>
          </a:solidFill>
          <a:ln w="12700">
            <a:solidFill>
              <a:srgbClr val="12505F"/>
            </a:solidFill>
            <a:prstDash val="solid"/>
          </a:ln>
        </p:spPr>
      </p:sp>
      <p:sp>
        <p:nvSpPr>
          <p:cNvPr id="9" name="Shape 6"/>
          <p:cNvSpPr/>
          <p:nvPr/>
        </p:nvSpPr>
        <p:spPr>
          <a:xfrm>
            <a:off x="3474720" y="1554480"/>
            <a:ext cx="548640" cy="548640"/>
          </a:xfrm>
          <a:prstGeom prst="ellipse">
            <a:avLst/>
          </a:prstGeom>
          <a:solidFill>
            <a:srgbClr val="F2A541"/>
          </a:solidFill>
          <a:ln w="12700">
            <a:solidFill>
              <a:srgbClr val="F2A541"/>
            </a:solidFill>
            <a:prstDash val="solid"/>
          </a:ln>
        </p:spPr>
      </p:sp>
      <p:pic>
        <p:nvPicPr>
          <p:cNvPr id="10" name="Image 1" descr="preencoded.png"/>
          <p:cNvPicPr>
            <a:picLocks noChangeAspect="1"/>
          </p:cNvPicPr>
          <p:nvPr/>
        </p:nvPicPr>
        <p:blipFill>
          <a:blip r:embed="rId4"/>
          <a:stretch>
            <a:fillRect/>
          </a:stretch>
        </p:blipFill>
        <p:spPr>
          <a:xfrm>
            <a:off x="3611880" y="1691640"/>
            <a:ext cx="274320" cy="274320"/>
          </a:xfrm>
          <a:prstGeom prst="rect">
            <a:avLst/>
          </a:prstGeom>
        </p:spPr>
      </p:pic>
      <p:sp>
        <p:nvSpPr>
          <p:cNvPr id="11" name="Text 7"/>
          <p:cNvSpPr txBox="1"/>
          <p:nvPr/>
        </p:nvSpPr>
        <p:spPr>
          <a:xfrm>
            <a:off x="4160520" y="1554480"/>
            <a:ext cx="1600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JWT kirish</a:t>
            </a:r>
            <a:endParaRPr lang="en-US" sz="1500" dirty="0"/>
          </a:p>
        </p:txBody>
      </p:sp>
      <p:sp>
        <p:nvSpPr>
          <p:cNvPr id="12" name="Text 8"/>
          <p:cNvSpPr txBox="1"/>
          <p:nvPr/>
        </p:nvSpPr>
        <p:spPr>
          <a:xfrm>
            <a:off x="3474720" y="2240280"/>
            <a:ext cx="2240280" cy="59436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Qisqa muddatli token</a:t>
            </a:r>
            <a:endParaRPr lang="en-US" sz="1300" dirty="0"/>
          </a:p>
        </p:txBody>
      </p:sp>
      <p:sp>
        <p:nvSpPr>
          <p:cNvPr id="13" name="Shape 9"/>
          <p:cNvSpPr/>
          <p:nvPr/>
        </p:nvSpPr>
        <p:spPr>
          <a:xfrm>
            <a:off x="6035040" y="1371600"/>
            <a:ext cx="2560320" cy="1508760"/>
          </a:xfrm>
          <a:prstGeom prst="roundRect">
            <a:avLst>
              <a:gd name="adj" fmla="val 7273"/>
            </a:avLst>
          </a:prstGeom>
          <a:solidFill>
            <a:srgbClr val="12505F"/>
          </a:solidFill>
          <a:ln w="12700">
            <a:solidFill>
              <a:srgbClr val="12505F"/>
            </a:solidFill>
            <a:prstDash val="solid"/>
          </a:ln>
        </p:spPr>
      </p:sp>
      <p:sp>
        <p:nvSpPr>
          <p:cNvPr id="14" name="Shape 10"/>
          <p:cNvSpPr/>
          <p:nvPr/>
        </p:nvSpPr>
        <p:spPr>
          <a:xfrm>
            <a:off x="6217920" y="1554480"/>
            <a:ext cx="548640" cy="548640"/>
          </a:xfrm>
          <a:prstGeom prst="ellipse">
            <a:avLst/>
          </a:prstGeom>
          <a:solidFill>
            <a:srgbClr val="F2A541"/>
          </a:solidFill>
          <a:ln w="12700">
            <a:solidFill>
              <a:srgbClr val="F2A541"/>
            </a:solidFill>
            <a:prstDash val="solid"/>
          </a:ln>
        </p:spPr>
      </p:sp>
      <p:pic>
        <p:nvPicPr>
          <p:cNvPr id="15" name="Image 2" descr="preencoded.png"/>
          <p:cNvPicPr>
            <a:picLocks noChangeAspect="1"/>
          </p:cNvPicPr>
          <p:nvPr/>
        </p:nvPicPr>
        <p:blipFill>
          <a:blip r:embed="rId5"/>
          <a:stretch>
            <a:fillRect/>
          </a:stretch>
        </p:blipFill>
        <p:spPr>
          <a:xfrm>
            <a:off x="6355080" y="1691640"/>
            <a:ext cx="274320" cy="274320"/>
          </a:xfrm>
          <a:prstGeom prst="rect">
            <a:avLst/>
          </a:prstGeom>
        </p:spPr>
      </p:pic>
      <p:sp>
        <p:nvSpPr>
          <p:cNvPr id="16" name="Text 11"/>
          <p:cNvSpPr txBox="1"/>
          <p:nvPr/>
        </p:nvSpPr>
        <p:spPr>
          <a:xfrm>
            <a:off x="6903720" y="1554480"/>
            <a:ext cx="1600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Rollar nazorati</a:t>
            </a:r>
            <a:endParaRPr lang="en-US" sz="1500" dirty="0"/>
          </a:p>
        </p:txBody>
      </p:sp>
      <p:sp>
        <p:nvSpPr>
          <p:cNvPr id="17" name="Text 12"/>
          <p:cNvSpPr txBox="1"/>
          <p:nvPr/>
        </p:nvSpPr>
        <p:spPr>
          <a:xfrm>
            <a:off x="6217920" y="2240280"/>
            <a:ext cx="2240280" cy="59436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Ruxsat serverda tekshiriladi (RBAC)</a:t>
            </a:r>
            <a:endParaRPr lang="en-US" sz="1300" dirty="0"/>
          </a:p>
        </p:txBody>
      </p:sp>
      <p:sp>
        <p:nvSpPr>
          <p:cNvPr id="18" name="Shape 13"/>
          <p:cNvSpPr/>
          <p:nvPr/>
        </p:nvSpPr>
        <p:spPr>
          <a:xfrm>
            <a:off x="548640" y="3063240"/>
            <a:ext cx="2560320" cy="1508760"/>
          </a:xfrm>
          <a:prstGeom prst="roundRect">
            <a:avLst>
              <a:gd name="adj" fmla="val 7273"/>
            </a:avLst>
          </a:prstGeom>
          <a:solidFill>
            <a:srgbClr val="12505F"/>
          </a:solidFill>
          <a:ln w="12700">
            <a:solidFill>
              <a:srgbClr val="12505F"/>
            </a:solidFill>
            <a:prstDash val="solid"/>
          </a:ln>
        </p:spPr>
      </p:sp>
      <p:sp>
        <p:nvSpPr>
          <p:cNvPr id="19" name="Shape 14"/>
          <p:cNvSpPr/>
          <p:nvPr/>
        </p:nvSpPr>
        <p:spPr>
          <a:xfrm>
            <a:off x="731520" y="3246120"/>
            <a:ext cx="548640" cy="548640"/>
          </a:xfrm>
          <a:prstGeom prst="ellipse">
            <a:avLst/>
          </a:prstGeom>
          <a:solidFill>
            <a:srgbClr val="F2A541"/>
          </a:solidFill>
          <a:ln w="12700">
            <a:solidFill>
              <a:srgbClr val="F2A541"/>
            </a:solidFill>
            <a:prstDash val="solid"/>
          </a:ln>
        </p:spPr>
      </p:sp>
      <p:pic>
        <p:nvPicPr>
          <p:cNvPr id="20" name="Image 3" descr="preencoded.png"/>
          <p:cNvPicPr>
            <a:picLocks noChangeAspect="1"/>
          </p:cNvPicPr>
          <p:nvPr/>
        </p:nvPicPr>
        <p:blipFill>
          <a:blip r:embed="rId6"/>
          <a:stretch>
            <a:fillRect/>
          </a:stretch>
        </p:blipFill>
        <p:spPr>
          <a:xfrm>
            <a:off x="868680" y="3383280"/>
            <a:ext cx="274320" cy="274320"/>
          </a:xfrm>
          <a:prstGeom prst="rect">
            <a:avLst/>
          </a:prstGeom>
        </p:spPr>
      </p:pic>
      <p:sp>
        <p:nvSpPr>
          <p:cNvPr id="21" name="Text 15"/>
          <p:cNvSpPr txBox="1"/>
          <p:nvPr/>
        </p:nvSpPr>
        <p:spPr>
          <a:xfrm>
            <a:off x="1417320" y="3246120"/>
            <a:ext cx="1600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Kirish tekshiruvi</a:t>
            </a:r>
            <a:endParaRPr lang="en-US" sz="1500" dirty="0"/>
          </a:p>
        </p:txBody>
      </p:sp>
      <p:sp>
        <p:nvSpPr>
          <p:cNvPr id="22" name="Text 16"/>
          <p:cNvSpPr txBox="1"/>
          <p:nvPr/>
        </p:nvSpPr>
        <p:spPr>
          <a:xfrm>
            <a:off x="731520" y="3931920"/>
            <a:ext cx="2240280" cy="59436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Zod validatsiya, Prisma — SQL-injection yo'q</a:t>
            </a:r>
            <a:endParaRPr lang="en-US" sz="1300" dirty="0"/>
          </a:p>
        </p:txBody>
      </p:sp>
      <p:sp>
        <p:nvSpPr>
          <p:cNvPr id="23" name="Shape 17"/>
          <p:cNvSpPr/>
          <p:nvPr/>
        </p:nvSpPr>
        <p:spPr>
          <a:xfrm>
            <a:off x="3291840" y="3063240"/>
            <a:ext cx="2560320" cy="1508760"/>
          </a:xfrm>
          <a:prstGeom prst="roundRect">
            <a:avLst>
              <a:gd name="adj" fmla="val 7273"/>
            </a:avLst>
          </a:prstGeom>
          <a:solidFill>
            <a:srgbClr val="12505F"/>
          </a:solidFill>
          <a:ln w="12700">
            <a:solidFill>
              <a:srgbClr val="12505F"/>
            </a:solidFill>
            <a:prstDash val="solid"/>
          </a:ln>
        </p:spPr>
      </p:sp>
      <p:sp>
        <p:nvSpPr>
          <p:cNvPr id="24" name="Shape 18"/>
          <p:cNvSpPr/>
          <p:nvPr/>
        </p:nvSpPr>
        <p:spPr>
          <a:xfrm>
            <a:off x="3474720" y="3246120"/>
            <a:ext cx="548640" cy="548640"/>
          </a:xfrm>
          <a:prstGeom prst="ellipse">
            <a:avLst/>
          </a:prstGeom>
          <a:solidFill>
            <a:srgbClr val="F2A541"/>
          </a:solidFill>
          <a:ln w="12700">
            <a:solidFill>
              <a:srgbClr val="F2A541"/>
            </a:solidFill>
            <a:prstDash val="solid"/>
          </a:ln>
        </p:spPr>
      </p:sp>
      <p:pic>
        <p:nvPicPr>
          <p:cNvPr id="25" name="Image 4" descr="preencoded.png"/>
          <p:cNvPicPr>
            <a:picLocks noChangeAspect="1"/>
          </p:cNvPicPr>
          <p:nvPr/>
        </p:nvPicPr>
        <p:blipFill>
          <a:blip r:embed="rId7"/>
          <a:stretch>
            <a:fillRect/>
          </a:stretch>
        </p:blipFill>
        <p:spPr>
          <a:xfrm>
            <a:off x="3611880" y="3383280"/>
            <a:ext cx="274320" cy="274320"/>
          </a:xfrm>
          <a:prstGeom prst="rect">
            <a:avLst/>
          </a:prstGeom>
        </p:spPr>
      </p:pic>
      <p:sp>
        <p:nvSpPr>
          <p:cNvPr id="26" name="Text 19"/>
          <p:cNvSpPr txBox="1"/>
          <p:nvPr/>
        </p:nvSpPr>
        <p:spPr>
          <a:xfrm>
            <a:off x="4160520" y="3246120"/>
            <a:ext cx="1600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Himoya sarlavhalari</a:t>
            </a:r>
            <a:endParaRPr lang="en-US" sz="1500" dirty="0"/>
          </a:p>
        </p:txBody>
      </p:sp>
      <p:sp>
        <p:nvSpPr>
          <p:cNvPr id="27" name="Text 20"/>
          <p:cNvSpPr txBox="1"/>
          <p:nvPr/>
        </p:nvSpPr>
        <p:spPr>
          <a:xfrm>
            <a:off x="3474720" y="3931920"/>
            <a:ext cx="2240280" cy="59436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Helmet, CORS, login urinishlari limiti</a:t>
            </a:r>
            <a:endParaRPr lang="en-US" sz="1300" dirty="0"/>
          </a:p>
        </p:txBody>
      </p:sp>
      <p:sp>
        <p:nvSpPr>
          <p:cNvPr id="28" name="Shape 21"/>
          <p:cNvSpPr/>
          <p:nvPr/>
        </p:nvSpPr>
        <p:spPr>
          <a:xfrm>
            <a:off x="6035040" y="3063240"/>
            <a:ext cx="2560320" cy="1508760"/>
          </a:xfrm>
          <a:prstGeom prst="roundRect">
            <a:avLst>
              <a:gd name="adj" fmla="val 7273"/>
            </a:avLst>
          </a:prstGeom>
          <a:solidFill>
            <a:srgbClr val="12505F"/>
          </a:solidFill>
          <a:ln w="12700">
            <a:solidFill>
              <a:srgbClr val="12505F"/>
            </a:solidFill>
            <a:prstDash val="solid"/>
          </a:ln>
        </p:spPr>
      </p:sp>
      <p:sp>
        <p:nvSpPr>
          <p:cNvPr id="29" name="Shape 22"/>
          <p:cNvSpPr/>
          <p:nvPr/>
        </p:nvSpPr>
        <p:spPr>
          <a:xfrm>
            <a:off x="6217920" y="3246120"/>
            <a:ext cx="548640" cy="548640"/>
          </a:xfrm>
          <a:prstGeom prst="ellipse">
            <a:avLst/>
          </a:prstGeom>
          <a:solidFill>
            <a:srgbClr val="F2A541"/>
          </a:solidFill>
          <a:ln w="12700">
            <a:solidFill>
              <a:srgbClr val="F2A541"/>
            </a:solidFill>
            <a:prstDash val="solid"/>
          </a:ln>
        </p:spPr>
      </p:sp>
      <p:pic>
        <p:nvPicPr>
          <p:cNvPr id="30" name="Image 5" descr="preencoded.png"/>
          <p:cNvPicPr>
            <a:picLocks noChangeAspect="1"/>
          </p:cNvPicPr>
          <p:nvPr/>
        </p:nvPicPr>
        <p:blipFill>
          <a:blip r:embed="rId8"/>
          <a:stretch>
            <a:fillRect/>
          </a:stretch>
        </p:blipFill>
        <p:spPr>
          <a:xfrm>
            <a:off x="6355080" y="3383280"/>
            <a:ext cx="274320" cy="274320"/>
          </a:xfrm>
          <a:prstGeom prst="rect">
            <a:avLst/>
          </a:prstGeom>
        </p:spPr>
      </p:pic>
      <p:sp>
        <p:nvSpPr>
          <p:cNvPr id="31" name="Text 23"/>
          <p:cNvSpPr txBox="1"/>
          <p:nvPr/>
        </p:nvSpPr>
        <p:spPr>
          <a:xfrm>
            <a:off x="6903720" y="3246120"/>
            <a:ext cx="1600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va audit</a:t>
            </a:r>
            <a:endParaRPr lang="en-US" sz="1500" dirty="0"/>
          </a:p>
        </p:txBody>
      </p:sp>
      <p:sp>
        <p:nvSpPr>
          <p:cNvPr id="32" name="Text 24"/>
          <p:cNvSpPr txBox="1"/>
          <p:nvPr/>
        </p:nvSpPr>
        <p:spPr>
          <a:xfrm>
            <a:off x="6217920" y="3931920"/>
            <a:ext cx="2240280" cy="59436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AI faqat o'qiydi, so'rovlar yoziladi; kalitlar .env'da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Texnologiyalar va ma'lumotlar bazasi</a:t>
            </a:r>
            <a:endParaRPr lang="en-US" sz="3600" dirty="0"/>
          </a:p>
        </p:txBody>
      </p:sp>
      <p:sp>
        <p:nvSpPr>
          <p:cNvPr id="3" name="Shape 1"/>
          <p:cNvSpPr/>
          <p:nvPr/>
        </p:nvSpPr>
        <p:spPr>
          <a:xfrm>
            <a:off x="548640" y="1280160"/>
            <a:ext cx="3657600" cy="603504"/>
          </a:xfrm>
          <a:prstGeom prst="roundRect">
            <a:avLst>
              <a:gd name="adj" fmla="val 18182"/>
            </a:avLst>
          </a:prstGeom>
          <a:solidFill>
            <a:srgbClr val="E8F4F3"/>
          </a:solidFill>
          <a:ln w="12700">
            <a:solidFill>
              <a:srgbClr val="E8F4F3"/>
            </a:solidFill>
            <a:prstDash val="solid"/>
          </a:ln>
        </p:spPr>
      </p:sp>
      <p:sp>
        <p:nvSpPr>
          <p:cNvPr id="4" name="Text 2"/>
          <p:cNvSpPr txBox="1"/>
          <p:nvPr/>
        </p:nvSpPr>
        <p:spPr>
          <a:xfrm>
            <a:off x="731520" y="1280160"/>
            <a:ext cx="1097280" cy="603504"/>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Frontend</a:t>
            </a:r>
            <a:endParaRPr lang="en-US" sz="1500" dirty="0"/>
          </a:p>
        </p:txBody>
      </p:sp>
      <p:sp>
        <p:nvSpPr>
          <p:cNvPr id="5" name="Text 3"/>
          <p:cNvSpPr txBox="1"/>
          <p:nvPr/>
        </p:nvSpPr>
        <p:spPr>
          <a:xfrm>
            <a:off x="1783080" y="1280160"/>
            <a:ext cx="2377440" cy="603504"/>
          </a:xfrm>
          <a:prstGeom prst="rect">
            <a:avLst/>
          </a:prstGeom>
          <a:noFill/>
          <a:ln/>
        </p:spPr>
        <p:txBody>
          <a:bodyPr wrap="square" lIns="0" tIns="0" rIns="0" bIns="0" rtlCol="0" anchor="ctr"/>
          <a:lstStyle/>
          <a:p>
            <a:pPr marL="0" indent="0">
              <a:buNone/>
            </a:pPr>
            <a:r>
              <a:rPr lang="en-US" sz="1300" dirty="0">
                <a:solidFill>
                  <a:srgbClr val="1B2B34"/>
                </a:solidFill>
                <a:latin typeface="Calibri" pitchFamily="34" charset="0"/>
                <a:ea typeface="Calibri" pitchFamily="34" charset="-122"/>
                <a:cs typeface="Calibri" pitchFamily="34" charset="-120"/>
              </a:rPr>
              <a:t>React · TypeScript · Vite · Tailwind</a:t>
            </a:r>
            <a:endParaRPr lang="en-US" sz="1300" dirty="0"/>
          </a:p>
        </p:txBody>
      </p:sp>
      <p:sp>
        <p:nvSpPr>
          <p:cNvPr id="6" name="Shape 4"/>
          <p:cNvSpPr/>
          <p:nvPr/>
        </p:nvSpPr>
        <p:spPr>
          <a:xfrm>
            <a:off x="548640" y="1993392"/>
            <a:ext cx="3657600" cy="603504"/>
          </a:xfrm>
          <a:prstGeom prst="roundRect">
            <a:avLst>
              <a:gd name="adj" fmla="val 18182"/>
            </a:avLst>
          </a:prstGeom>
          <a:solidFill>
            <a:srgbClr val="E8F4F3"/>
          </a:solidFill>
          <a:ln w="12700">
            <a:solidFill>
              <a:srgbClr val="E8F4F3"/>
            </a:solidFill>
            <a:prstDash val="solid"/>
          </a:ln>
        </p:spPr>
      </p:sp>
      <p:sp>
        <p:nvSpPr>
          <p:cNvPr id="7" name="Text 5"/>
          <p:cNvSpPr txBox="1"/>
          <p:nvPr/>
        </p:nvSpPr>
        <p:spPr>
          <a:xfrm>
            <a:off x="731520" y="1993392"/>
            <a:ext cx="1097280" cy="603504"/>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Ma'lumot</a:t>
            </a:r>
            <a:endParaRPr lang="en-US" sz="1500" dirty="0"/>
          </a:p>
        </p:txBody>
      </p:sp>
      <p:sp>
        <p:nvSpPr>
          <p:cNvPr id="8" name="Text 6"/>
          <p:cNvSpPr txBox="1"/>
          <p:nvPr/>
        </p:nvSpPr>
        <p:spPr>
          <a:xfrm>
            <a:off x="1783080" y="1993392"/>
            <a:ext cx="2377440" cy="603504"/>
          </a:xfrm>
          <a:prstGeom prst="rect">
            <a:avLst/>
          </a:prstGeom>
          <a:noFill/>
          <a:ln/>
        </p:spPr>
        <p:txBody>
          <a:bodyPr wrap="square" lIns="0" tIns="0" rIns="0" bIns="0" rtlCol="0" anchor="ctr"/>
          <a:lstStyle/>
          <a:p>
            <a:pPr marL="0" indent="0">
              <a:buNone/>
            </a:pPr>
            <a:r>
              <a:rPr lang="en-US" sz="1300" dirty="0">
                <a:solidFill>
                  <a:srgbClr val="1B2B34"/>
                </a:solidFill>
                <a:latin typeface="Calibri" pitchFamily="34" charset="0"/>
                <a:ea typeface="Calibri" pitchFamily="34" charset="-122"/>
                <a:cs typeface="Calibri" pitchFamily="34" charset="-120"/>
              </a:rPr>
              <a:t>TanStack Query · Recharts</a:t>
            </a:r>
            <a:endParaRPr lang="en-US" sz="1300" dirty="0"/>
          </a:p>
        </p:txBody>
      </p:sp>
      <p:sp>
        <p:nvSpPr>
          <p:cNvPr id="9" name="Shape 7"/>
          <p:cNvSpPr/>
          <p:nvPr/>
        </p:nvSpPr>
        <p:spPr>
          <a:xfrm>
            <a:off x="548640" y="2706624"/>
            <a:ext cx="3657600" cy="603504"/>
          </a:xfrm>
          <a:prstGeom prst="roundRect">
            <a:avLst>
              <a:gd name="adj" fmla="val 18182"/>
            </a:avLst>
          </a:prstGeom>
          <a:solidFill>
            <a:srgbClr val="E8F4F3"/>
          </a:solidFill>
          <a:ln w="12700">
            <a:solidFill>
              <a:srgbClr val="E8F4F3"/>
            </a:solidFill>
            <a:prstDash val="solid"/>
          </a:ln>
        </p:spPr>
      </p:sp>
      <p:sp>
        <p:nvSpPr>
          <p:cNvPr id="10" name="Text 8"/>
          <p:cNvSpPr txBox="1"/>
          <p:nvPr/>
        </p:nvSpPr>
        <p:spPr>
          <a:xfrm>
            <a:off x="731520" y="2706624"/>
            <a:ext cx="1097280" cy="603504"/>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Backend</a:t>
            </a:r>
            <a:endParaRPr lang="en-US" sz="1500" dirty="0"/>
          </a:p>
        </p:txBody>
      </p:sp>
      <p:sp>
        <p:nvSpPr>
          <p:cNvPr id="11" name="Text 9"/>
          <p:cNvSpPr txBox="1"/>
          <p:nvPr/>
        </p:nvSpPr>
        <p:spPr>
          <a:xfrm>
            <a:off x="1783080" y="2706624"/>
            <a:ext cx="2377440" cy="603504"/>
          </a:xfrm>
          <a:prstGeom prst="rect">
            <a:avLst/>
          </a:prstGeom>
          <a:noFill/>
          <a:ln/>
        </p:spPr>
        <p:txBody>
          <a:bodyPr wrap="square" lIns="0" tIns="0" rIns="0" bIns="0" rtlCol="0" anchor="ctr"/>
          <a:lstStyle/>
          <a:p>
            <a:pPr marL="0" indent="0">
              <a:buNone/>
            </a:pPr>
            <a:r>
              <a:rPr lang="en-US" sz="1300" dirty="0">
                <a:solidFill>
                  <a:srgbClr val="1B2B34"/>
                </a:solidFill>
                <a:latin typeface="Calibri" pitchFamily="34" charset="0"/>
                <a:ea typeface="Calibri" pitchFamily="34" charset="-122"/>
                <a:cs typeface="Calibri" pitchFamily="34" charset="-120"/>
              </a:rPr>
              <a:t>Node.js · Express · Zod</a:t>
            </a:r>
            <a:endParaRPr lang="en-US" sz="1300" dirty="0"/>
          </a:p>
        </p:txBody>
      </p:sp>
      <p:sp>
        <p:nvSpPr>
          <p:cNvPr id="12" name="Shape 10"/>
          <p:cNvSpPr/>
          <p:nvPr/>
        </p:nvSpPr>
        <p:spPr>
          <a:xfrm>
            <a:off x="548640" y="3419856"/>
            <a:ext cx="3657600" cy="603504"/>
          </a:xfrm>
          <a:prstGeom prst="roundRect">
            <a:avLst>
              <a:gd name="adj" fmla="val 18182"/>
            </a:avLst>
          </a:prstGeom>
          <a:solidFill>
            <a:srgbClr val="E8F4F3"/>
          </a:solidFill>
          <a:ln w="12700">
            <a:solidFill>
              <a:srgbClr val="E8F4F3"/>
            </a:solidFill>
            <a:prstDash val="solid"/>
          </a:ln>
        </p:spPr>
      </p:sp>
      <p:sp>
        <p:nvSpPr>
          <p:cNvPr id="13" name="Text 11"/>
          <p:cNvSpPr txBox="1"/>
          <p:nvPr/>
        </p:nvSpPr>
        <p:spPr>
          <a:xfrm>
            <a:off x="731520" y="3419856"/>
            <a:ext cx="1097280" cy="603504"/>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Baza</a:t>
            </a:r>
            <a:endParaRPr lang="en-US" sz="1500" dirty="0"/>
          </a:p>
        </p:txBody>
      </p:sp>
      <p:sp>
        <p:nvSpPr>
          <p:cNvPr id="14" name="Text 12"/>
          <p:cNvSpPr txBox="1"/>
          <p:nvPr/>
        </p:nvSpPr>
        <p:spPr>
          <a:xfrm>
            <a:off x="1783080" y="3419856"/>
            <a:ext cx="2377440" cy="603504"/>
          </a:xfrm>
          <a:prstGeom prst="rect">
            <a:avLst/>
          </a:prstGeom>
          <a:noFill/>
          <a:ln/>
        </p:spPr>
        <p:txBody>
          <a:bodyPr wrap="square" lIns="0" tIns="0" rIns="0" bIns="0" rtlCol="0" anchor="ctr"/>
          <a:lstStyle/>
          <a:p>
            <a:pPr marL="0" indent="0">
              <a:buNone/>
            </a:pPr>
            <a:r>
              <a:rPr lang="en-US" sz="1300" dirty="0">
                <a:solidFill>
                  <a:srgbClr val="1B2B34"/>
                </a:solidFill>
                <a:latin typeface="Calibri" pitchFamily="34" charset="0"/>
                <a:ea typeface="Calibri" pitchFamily="34" charset="-122"/>
                <a:cs typeface="Calibri" pitchFamily="34" charset="-120"/>
              </a:rPr>
              <a:t>PostgreSQL · Prisma ORM</a:t>
            </a:r>
            <a:endParaRPr lang="en-US" sz="1300" dirty="0"/>
          </a:p>
        </p:txBody>
      </p:sp>
      <p:sp>
        <p:nvSpPr>
          <p:cNvPr id="15" name="Shape 13"/>
          <p:cNvSpPr/>
          <p:nvPr/>
        </p:nvSpPr>
        <p:spPr>
          <a:xfrm>
            <a:off x="548640" y="4133088"/>
            <a:ext cx="3657600" cy="603504"/>
          </a:xfrm>
          <a:prstGeom prst="roundRect">
            <a:avLst>
              <a:gd name="adj" fmla="val 18182"/>
            </a:avLst>
          </a:prstGeom>
          <a:solidFill>
            <a:srgbClr val="E8F4F3"/>
          </a:solidFill>
          <a:ln w="12700">
            <a:solidFill>
              <a:srgbClr val="E8F4F3"/>
            </a:solidFill>
            <a:prstDash val="solid"/>
          </a:ln>
        </p:spPr>
      </p:sp>
      <p:sp>
        <p:nvSpPr>
          <p:cNvPr id="16" name="Text 14"/>
          <p:cNvSpPr txBox="1"/>
          <p:nvPr/>
        </p:nvSpPr>
        <p:spPr>
          <a:xfrm>
            <a:off x="731520" y="4133088"/>
            <a:ext cx="1097280" cy="603504"/>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AI</a:t>
            </a:r>
            <a:endParaRPr lang="en-US" sz="1500" dirty="0"/>
          </a:p>
        </p:txBody>
      </p:sp>
      <p:sp>
        <p:nvSpPr>
          <p:cNvPr id="17" name="Text 15"/>
          <p:cNvSpPr txBox="1"/>
          <p:nvPr/>
        </p:nvSpPr>
        <p:spPr>
          <a:xfrm>
            <a:off x="1783080" y="4133088"/>
            <a:ext cx="2377440" cy="603504"/>
          </a:xfrm>
          <a:prstGeom prst="rect">
            <a:avLst/>
          </a:prstGeom>
          <a:noFill/>
          <a:ln/>
        </p:spPr>
        <p:txBody>
          <a:bodyPr wrap="square" lIns="0" tIns="0" rIns="0" bIns="0" rtlCol="0" anchor="ctr"/>
          <a:lstStyle/>
          <a:p>
            <a:pPr marL="0" indent="0">
              <a:buNone/>
            </a:pPr>
            <a:r>
              <a:rPr lang="en-US" sz="1300" dirty="0">
                <a:solidFill>
                  <a:srgbClr val="1B2B34"/>
                </a:solidFill>
                <a:latin typeface="Calibri" pitchFamily="34" charset="0"/>
                <a:ea typeface="Calibri" pitchFamily="34" charset="-122"/>
                <a:cs typeface="Calibri" pitchFamily="34" charset="-120"/>
              </a:rPr>
              <a:t>OpenRouter · bepul modellar</a:t>
            </a:r>
            <a:endParaRPr lang="en-US" sz="1300" dirty="0"/>
          </a:p>
        </p:txBody>
      </p:sp>
      <p:sp>
        <p:nvSpPr>
          <p:cNvPr id="18" name="Shape 16"/>
          <p:cNvSpPr/>
          <p:nvPr/>
        </p:nvSpPr>
        <p:spPr>
          <a:xfrm>
            <a:off x="4572000" y="1280160"/>
            <a:ext cx="2011680" cy="640080"/>
          </a:xfrm>
          <a:prstGeom prst="roundRect">
            <a:avLst>
              <a:gd name="adj" fmla="val 11429"/>
            </a:avLst>
          </a:prstGeom>
          <a:solidFill>
            <a:srgbClr val="0B3C49"/>
          </a:solidFill>
          <a:ln w="12700">
            <a:solidFill>
              <a:srgbClr val="FFFFFF"/>
            </a:solidFill>
            <a:prstDash val="solid"/>
          </a:ln>
        </p:spPr>
      </p:sp>
      <p:sp>
        <p:nvSpPr>
          <p:cNvPr id="19" name="Text 17"/>
          <p:cNvSpPr txBox="1"/>
          <p:nvPr/>
        </p:nvSpPr>
        <p:spPr>
          <a:xfrm>
            <a:off x="4572000" y="128016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users</a:t>
            </a:r>
            <a:endParaRPr lang="en-US" sz="1400" dirty="0"/>
          </a:p>
        </p:txBody>
      </p:sp>
      <p:sp>
        <p:nvSpPr>
          <p:cNvPr id="20" name="Shape 18"/>
          <p:cNvSpPr/>
          <p:nvPr/>
        </p:nvSpPr>
        <p:spPr>
          <a:xfrm>
            <a:off x="6766560" y="1280160"/>
            <a:ext cx="2011680" cy="640080"/>
          </a:xfrm>
          <a:prstGeom prst="roundRect">
            <a:avLst>
              <a:gd name="adj" fmla="val 11429"/>
            </a:avLst>
          </a:prstGeom>
          <a:solidFill>
            <a:srgbClr val="0B3C49"/>
          </a:solidFill>
          <a:ln w="12700">
            <a:solidFill>
              <a:srgbClr val="FFFFFF"/>
            </a:solidFill>
            <a:prstDash val="solid"/>
          </a:ln>
        </p:spPr>
      </p:sp>
      <p:sp>
        <p:nvSpPr>
          <p:cNvPr id="21" name="Text 19"/>
          <p:cNvSpPr txBox="1"/>
          <p:nvPr/>
        </p:nvSpPr>
        <p:spPr>
          <a:xfrm>
            <a:off x="6766560" y="128016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departments</a:t>
            </a:r>
            <a:endParaRPr lang="en-US" sz="1400" dirty="0"/>
          </a:p>
        </p:txBody>
      </p:sp>
      <p:sp>
        <p:nvSpPr>
          <p:cNvPr id="22" name="Shape 20"/>
          <p:cNvSpPr/>
          <p:nvPr/>
        </p:nvSpPr>
        <p:spPr>
          <a:xfrm>
            <a:off x="6766560" y="2286000"/>
            <a:ext cx="2011680" cy="640080"/>
          </a:xfrm>
          <a:prstGeom prst="roundRect">
            <a:avLst>
              <a:gd name="adj" fmla="val 11429"/>
            </a:avLst>
          </a:prstGeom>
          <a:solidFill>
            <a:srgbClr val="0B3C49"/>
          </a:solidFill>
          <a:ln w="12700">
            <a:solidFill>
              <a:srgbClr val="FFFFFF"/>
            </a:solidFill>
            <a:prstDash val="solid"/>
          </a:ln>
        </p:spPr>
      </p:sp>
      <p:sp>
        <p:nvSpPr>
          <p:cNvPr id="23" name="Text 21"/>
          <p:cNvSpPr txBox="1"/>
          <p:nvPr/>
        </p:nvSpPr>
        <p:spPr>
          <a:xfrm>
            <a:off x="6766560" y="228600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rooms</a:t>
            </a:r>
            <a:endParaRPr lang="en-US" sz="1400" dirty="0"/>
          </a:p>
        </p:txBody>
      </p:sp>
      <p:sp>
        <p:nvSpPr>
          <p:cNvPr id="24" name="Shape 22"/>
          <p:cNvSpPr/>
          <p:nvPr/>
        </p:nvSpPr>
        <p:spPr>
          <a:xfrm>
            <a:off x="4572000" y="2286000"/>
            <a:ext cx="2011680" cy="640080"/>
          </a:xfrm>
          <a:prstGeom prst="roundRect">
            <a:avLst>
              <a:gd name="adj" fmla="val 11429"/>
            </a:avLst>
          </a:prstGeom>
          <a:solidFill>
            <a:srgbClr val="0E7C86"/>
          </a:solidFill>
          <a:ln w="12700">
            <a:solidFill>
              <a:srgbClr val="FFFFFF"/>
            </a:solidFill>
            <a:prstDash val="solid"/>
          </a:ln>
        </p:spPr>
      </p:sp>
      <p:sp>
        <p:nvSpPr>
          <p:cNvPr id="25" name="Text 23"/>
          <p:cNvSpPr txBox="1"/>
          <p:nvPr/>
        </p:nvSpPr>
        <p:spPr>
          <a:xfrm>
            <a:off x="4572000" y="228600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equipment</a:t>
            </a:r>
            <a:endParaRPr lang="en-US" sz="1400" dirty="0"/>
          </a:p>
        </p:txBody>
      </p:sp>
      <p:sp>
        <p:nvSpPr>
          <p:cNvPr id="26" name="Shape 24"/>
          <p:cNvSpPr/>
          <p:nvPr/>
        </p:nvSpPr>
        <p:spPr>
          <a:xfrm>
            <a:off x="4572000" y="3291840"/>
            <a:ext cx="2011680" cy="640080"/>
          </a:xfrm>
          <a:prstGeom prst="roundRect">
            <a:avLst>
              <a:gd name="adj" fmla="val 11429"/>
            </a:avLst>
          </a:prstGeom>
          <a:solidFill>
            <a:srgbClr val="0B3C49"/>
          </a:solidFill>
          <a:ln w="12700">
            <a:solidFill>
              <a:srgbClr val="FFFFFF"/>
            </a:solidFill>
            <a:prstDash val="solid"/>
          </a:ln>
        </p:spPr>
      </p:sp>
      <p:sp>
        <p:nvSpPr>
          <p:cNvPr id="27" name="Text 25"/>
          <p:cNvSpPr txBox="1"/>
          <p:nvPr/>
        </p:nvSpPr>
        <p:spPr>
          <a:xfrm>
            <a:off x="4572000" y="329184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equipment_types</a:t>
            </a:r>
            <a:endParaRPr lang="en-US" sz="1400" dirty="0"/>
          </a:p>
        </p:txBody>
      </p:sp>
      <p:sp>
        <p:nvSpPr>
          <p:cNvPr id="28" name="Shape 26"/>
          <p:cNvSpPr/>
          <p:nvPr/>
        </p:nvSpPr>
        <p:spPr>
          <a:xfrm>
            <a:off x="6766560" y="3291840"/>
            <a:ext cx="2011680" cy="640080"/>
          </a:xfrm>
          <a:prstGeom prst="roundRect">
            <a:avLst>
              <a:gd name="adj" fmla="val 11429"/>
            </a:avLst>
          </a:prstGeom>
          <a:solidFill>
            <a:srgbClr val="0B3C49"/>
          </a:solidFill>
          <a:ln w="12700">
            <a:solidFill>
              <a:srgbClr val="FFFFFF"/>
            </a:solidFill>
            <a:prstDash val="solid"/>
          </a:ln>
        </p:spPr>
      </p:sp>
      <p:sp>
        <p:nvSpPr>
          <p:cNvPr id="29" name="Text 27"/>
          <p:cNvSpPr txBox="1"/>
          <p:nvPr/>
        </p:nvSpPr>
        <p:spPr>
          <a:xfrm>
            <a:off x="6766560" y="329184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repairs</a:t>
            </a:r>
            <a:endParaRPr lang="en-US" sz="1400" dirty="0"/>
          </a:p>
        </p:txBody>
      </p:sp>
      <p:sp>
        <p:nvSpPr>
          <p:cNvPr id="30" name="Shape 28"/>
          <p:cNvSpPr/>
          <p:nvPr/>
        </p:nvSpPr>
        <p:spPr>
          <a:xfrm>
            <a:off x="5669280" y="4297680"/>
            <a:ext cx="2011680" cy="640080"/>
          </a:xfrm>
          <a:prstGeom prst="roundRect">
            <a:avLst>
              <a:gd name="adj" fmla="val 11429"/>
            </a:avLst>
          </a:prstGeom>
          <a:solidFill>
            <a:srgbClr val="0B3C49"/>
          </a:solidFill>
          <a:ln w="12700">
            <a:solidFill>
              <a:srgbClr val="FFFFFF"/>
            </a:solidFill>
            <a:prstDash val="solid"/>
          </a:ln>
        </p:spPr>
      </p:sp>
      <p:sp>
        <p:nvSpPr>
          <p:cNvPr id="31" name="Text 29"/>
          <p:cNvSpPr txBox="1"/>
          <p:nvPr/>
        </p:nvSpPr>
        <p:spPr>
          <a:xfrm>
            <a:off x="5669280" y="429768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equipment_history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Inventarizatsiya hisoboti</a:t>
            </a:r>
            <a:endParaRPr lang="en-US" sz="3600" dirty="0"/>
          </a:p>
        </p:txBody>
      </p:sp>
      <p:sp>
        <p:nvSpPr>
          <p:cNvPr id="3" name="Shape 1"/>
          <p:cNvSpPr/>
          <p:nvPr/>
        </p:nvSpPr>
        <p:spPr>
          <a:xfrm>
            <a:off x="548640" y="1371600"/>
            <a:ext cx="1143000" cy="457200"/>
          </a:xfrm>
          <a:prstGeom prst="roundRect">
            <a:avLst>
              <a:gd name="adj" fmla="val 20000"/>
            </a:avLst>
          </a:prstGeom>
          <a:solidFill>
            <a:srgbClr val="E8F4F3"/>
          </a:solidFill>
          <a:ln w="12700">
            <a:solidFill>
              <a:srgbClr val="0E7C86"/>
            </a:solidFill>
            <a:prstDash val="solid"/>
          </a:ln>
        </p:spPr>
      </p:sp>
      <p:sp>
        <p:nvSpPr>
          <p:cNvPr id="4" name="Text 2"/>
          <p:cNvSpPr txBox="1"/>
          <p:nvPr/>
        </p:nvSpPr>
        <p:spPr>
          <a:xfrm>
            <a:off x="548640" y="1371600"/>
            <a:ext cx="1143000" cy="45720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Xona</a:t>
            </a:r>
            <a:endParaRPr lang="en-US" sz="1500" dirty="0"/>
          </a:p>
        </p:txBody>
      </p:sp>
      <p:sp>
        <p:nvSpPr>
          <p:cNvPr id="5" name="Shape 3"/>
          <p:cNvSpPr/>
          <p:nvPr/>
        </p:nvSpPr>
        <p:spPr>
          <a:xfrm>
            <a:off x="1783080" y="1371600"/>
            <a:ext cx="1143000" cy="457200"/>
          </a:xfrm>
          <a:prstGeom prst="roundRect">
            <a:avLst>
              <a:gd name="adj" fmla="val 20000"/>
            </a:avLst>
          </a:prstGeom>
          <a:solidFill>
            <a:srgbClr val="E8F4F3"/>
          </a:solidFill>
          <a:ln w="12700">
            <a:solidFill>
              <a:srgbClr val="0E7C86"/>
            </a:solidFill>
            <a:prstDash val="solid"/>
          </a:ln>
        </p:spPr>
      </p:sp>
      <p:sp>
        <p:nvSpPr>
          <p:cNvPr id="6" name="Text 4"/>
          <p:cNvSpPr txBox="1"/>
          <p:nvPr/>
        </p:nvSpPr>
        <p:spPr>
          <a:xfrm>
            <a:off x="1783080" y="1371600"/>
            <a:ext cx="1143000" cy="45720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Bo'lim</a:t>
            </a:r>
            <a:endParaRPr lang="en-US" sz="1500" dirty="0"/>
          </a:p>
        </p:txBody>
      </p:sp>
      <p:sp>
        <p:nvSpPr>
          <p:cNvPr id="7" name="Shape 5"/>
          <p:cNvSpPr/>
          <p:nvPr/>
        </p:nvSpPr>
        <p:spPr>
          <a:xfrm>
            <a:off x="3017520" y="1371600"/>
            <a:ext cx="1143000" cy="457200"/>
          </a:xfrm>
          <a:prstGeom prst="roundRect">
            <a:avLst>
              <a:gd name="adj" fmla="val 20000"/>
            </a:avLst>
          </a:prstGeom>
          <a:solidFill>
            <a:srgbClr val="E8F4F3"/>
          </a:solidFill>
          <a:ln w="12700">
            <a:solidFill>
              <a:srgbClr val="0E7C86"/>
            </a:solidFill>
            <a:prstDash val="solid"/>
          </a:ln>
        </p:spPr>
      </p:sp>
      <p:sp>
        <p:nvSpPr>
          <p:cNvPr id="8" name="Text 6"/>
          <p:cNvSpPr txBox="1"/>
          <p:nvPr/>
        </p:nvSpPr>
        <p:spPr>
          <a:xfrm>
            <a:off x="3017520" y="1371600"/>
            <a:ext cx="1143000" cy="45720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Tur</a:t>
            </a:r>
            <a:endParaRPr lang="en-US" sz="1500" dirty="0"/>
          </a:p>
        </p:txBody>
      </p:sp>
      <p:sp>
        <p:nvSpPr>
          <p:cNvPr id="9" name="Shape 7"/>
          <p:cNvSpPr/>
          <p:nvPr/>
        </p:nvSpPr>
        <p:spPr>
          <a:xfrm>
            <a:off x="4251960" y="1371600"/>
            <a:ext cx="1143000" cy="457200"/>
          </a:xfrm>
          <a:prstGeom prst="roundRect">
            <a:avLst>
              <a:gd name="adj" fmla="val 20000"/>
            </a:avLst>
          </a:prstGeom>
          <a:solidFill>
            <a:srgbClr val="E8F4F3"/>
          </a:solidFill>
          <a:ln w="12700">
            <a:solidFill>
              <a:srgbClr val="0E7C86"/>
            </a:solidFill>
            <a:prstDash val="solid"/>
          </a:ln>
        </p:spPr>
      </p:sp>
      <p:sp>
        <p:nvSpPr>
          <p:cNvPr id="10" name="Text 8"/>
          <p:cNvSpPr txBox="1"/>
          <p:nvPr/>
        </p:nvSpPr>
        <p:spPr>
          <a:xfrm>
            <a:off x="4251960" y="1371600"/>
            <a:ext cx="1143000" cy="45720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Holat</a:t>
            </a:r>
            <a:endParaRPr lang="en-US" sz="1500" dirty="0"/>
          </a:p>
        </p:txBody>
      </p:sp>
      <p:sp>
        <p:nvSpPr>
          <p:cNvPr id="11" name="Text 9"/>
          <p:cNvSpPr txBox="1"/>
          <p:nvPr/>
        </p:nvSpPr>
        <p:spPr>
          <a:xfrm>
            <a:off x="548640" y="2194560"/>
            <a:ext cx="6400800" cy="457200"/>
          </a:xfrm>
          <a:prstGeom prst="rect">
            <a:avLst/>
          </a:prstGeom>
          <a:noFill/>
          <a:ln/>
        </p:spPr>
        <p:txBody>
          <a:bodyPr wrap="square" lIns="0" tIns="0" rIns="0" bIns="0" rtlCol="0" anchor="ctr"/>
          <a:lstStyle/>
          <a:p>
            <a:pPr marL="0" indent="0">
              <a:buNone/>
            </a:pPr>
            <a:r>
              <a:rPr lang="en-US" sz="2000" dirty="0">
                <a:solidFill>
                  <a:srgbClr val="0B3C49"/>
                </a:solidFill>
                <a:latin typeface="Calibri" pitchFamily="34" charset="0"/>
                <a:ea typeface="Calibri" pitchFamily="34" charset="-122"/>
                <a:cs typeface="Calibri" pitchFamily="34" charset="-120"/>
              </a:rPr>
              <a:t>Filtrlang → ko'ring → yuklab oling</a:t>
            </a:r>
            <a:endParaRPr lang="en-US" sz="2000" dirty="0"/>
          </a:p>
        </p:txBody>
      </p:sp>
      <p:sp>
        <p:nvSpPr>
          <p:cNvPr id="12" name="Shape 10"/>
          <p:cNvSpPr/>
          <p:nvPr/>
        </p:nvSpPr>
        <p:spPr>
          <a:xfrm>
            <a:off x="548640" y="2926080"/>
            <a:ext cx="1005840" cy="1005840"/>
          </a:xfrm>
          <a:prstGeom prst="ellipse">
            <a:avLst/>
          </a:prstGeom>
          <a:solidFill>
            <a:srgbClr val="3C9D6B"/>
          </a:solidFill>
          <a:ln w="12700">
            <a:solidFill>
              <a:srgbClr val="3C9D6B"/>
            </a:solidFill>
            <a:prstDash val="solid"/>
          </a:ln>
        </p:spPr>
      </p:sp>
      <p:pic>
        <p:nvPicPr>
          <p:cNvPr id="13" name="Image 0" descr="preencoded.png"/>
          <p:cNvPicPr>
            <a:picLocks noChangeAspect="1"/>
          </p:cNvPicPr>
          <p:nvPr/>
        </p:nvPicPr>
        <p:blipFill>
          <a:blip r:embed="rId3"/>
          <a:stretch>
            <a:fillRect/>
          </a:stretch>
        </p:blipFill>
        <p:spPr>
          <a:xfrm>
            <a:off x="800100" y="3177540"/>
            <a:ext cx="502920" cy="502920"/>
          </a:xfrm>
          <a:prstGeom prst="rect">
            <a:avLst/>
          </a:prstGeom>
        </p:spPr>
      </p:pic>
      <p:sp>
        <p:nvSpPr>
          <p:cNvPr id="14" name="Text 11"/>
          <p:cNvSpPr txBox="1"/>
          <p:nvPr/>
        </p:nvSpPr>
        <p:spPr>
          <a:xfrm>
            <a:off x="1737360" y="2926080"/>
            <a:ext cx="1828800" cy="100584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Excel (.xlsx)</a:t>
            </a:r>
            <a:endParaRPr lang="en-US" sz="2000" dirty="0"/>
          </a:p>
        </p:txBody>
      </p:sp>
      <p:sp>
        <p:nvSpPr>
          <p:cNvPr id="15" name="Shape 12"/>
          <p:cNvSpPr/>
          <p:nvPr/>
        </p:nvSpPr>
        <p:spPr>
          <a:xfrm>
            <a:off x="3749040" y="2926080"/>
            <a:ext cx="1005840" cy="1005840"/>
          </a:xfrm>
          <a:prstGeom prst="ellipse">
            <a:avLst/>
          </a:prstGeom>
          <a:solidFill>
            <a:srgbClr val="C8553D"/>
          </a:solidFill>
          <a:ln w="12700">
            <a:solidFill>
              <a:srgbClr val="C8553D"/>
            </a:solidFill>
            <a:prstDash val="solid"/>
          </a:ln>
        </p:spPr>
      </p:sp>
      <p:pic>
        <p:nvPicPr>
          <p:cNvPr id="16" name="Image 1" descr="preencoded.png"/>
          <p:cNvPicPr>
            <a:picLocks noChangeAspect="1"/>
          </p:cNvPicPr>
          <p:nvPr/>
        </p:nvPicPr>
        <p:blipFill>
          <a:blip r:embed="rId4"/>
          <a:stretch>
            <a:fillRect/>
          </a:stretch>
        </p:blipFill>
        <p:spPr>
          <a:xfrm>
            <a:off x="4000500" y="3177540"/>
            <a:ext cx="502920" cy="502920"/>
          </a:xfrm>
          <a:prstGeom prst="rect">
            <a:avLst/>
          </a:prstGeom>
        </p:spPr>
      </p:pic>
      <p:sp>
        <p:nvSpPr>
          <p:cNvPr id="17" name="Text 13"/>
          <p:cNvSpPr txBox="1"/>
          <p:nvPr/>
        </p:nvSpPr>
        <p:spPr>
          <a:xfrm>
            <a:off x="4937760" y="2926080"/>
            <a:ext cx="1097280" cy="100584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PDF</a:t>
            </a:r>
            <a:endParaRPr lang="en-US" sz="2000" dirty="0"/>
          </a:p>
        </p:txBody>
      </p:sp>
      <p:sp>
        <p:nvSpPr>
          <p:cNvPr id="18" name="Shape 14"/>
          <p:cNvSpPr/>
          <p:nvPr/>
        </p:nvSpPr>
        <p:spPr>
          <a:xfrm>
            <a:off x="6309360" y="2926080"/>
            <a:ext cx="1005840" cy="1005840"/>
          </a:xfrm>
          <a:prstGeom prst="ellipse">
            <a:avLst/>
          </a:prstGeom>
          <a:solidFill>
            <a:srgbClr val="0E7C86"/>
          </a:solidFill>
          <a:ln w="12700">
            <a:solidFill>
              <a:srgbClr val="0E7C86"/>
            </a:solidFill>
            <a:prstDash val="solid"/>
          </a:ln>
        </p:spPr>
      </p:sp>
      <p:pic>
        <p:nvPicPr>
          <p:cNvPr id="19" name="Image 2" descr="preencoded.png"/>
          <p:cNvPicPr>
            <a:picLocks noChangeAspect="1"/>
          </p:cNvPicPr>
          <p:nvPr/>
        </p:nvPicPr>
        <p:blipFill>
          <a:blip r:embed="rId5"/>
          <a:stretch>
            <a:fillRect/>
          </a:stretch>
        </p:blipFill>
        <p:spPr>
          <a:xfrm>
            <a:off x="6560820" y="3177540"/>
            <a:ext cx="502920" cy="502920"/>
          </a:xfrm>
          <a:prstGeom prst="rect">
            <a:avLst/>
          </a:prstGeom>
        </p:spPr>
      </p:pic>
      <p:sp>
        <p:nvSpPr>
          <p:cNvPr id="20" name="Text 15"/>
          <p:cNvSpPr txBox="1"/>
          <p:nvPr/>
        </p:nvSpPr>
        <p:spPr>
          <a:xfrm>
            <a:off x="7498080" y="2926080"/>
            <a:ext cx="1371600" cy="1005840"/>
          </a:xfrm>
          <a:prstGeom prst="rect">
            <a:avLst/>
          </a:prstGeom>
          <a:noFill/>
          <a:ln/>
        </p:spPr>
        <p:txBody>
          <a:bodyPr wrap="square" lIns="0" tIns="0" rIns="0" bIns="0" rtlCol="0" anchor="ctr"/>
          <a:lstStyle/>
          <a:p>
            <a:pPr marL="0" indent="0">
              <a:buNone/>
            </a:pPr>
            <a:r>
              <a:rPr lang="en-US" sz="2000" b="1" dirty="0">
                <a:solidFill>
                  <a:srgbClr val="0B3C49"/>
                </a:solidFill>
                <a:latin typeface="Calibri" pitchFamily="34" charset="0"/>
                <a:ea typeface="Calibri" pitchFamily="34" charset="-122"/>
                <a:cs typeface="Calibri" pitchFamily="34" charset="-120"/>
              </a:rPr>
              <a:t>Chop etish</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Natija va kelajak rejalari</a:t>
            </a:r>
            <a:endParaRPr lang="en-US" sz="3600" dirty="0"/>
          </a:p>
        </p:txBody>
      </p:sp>
      <p:sp>
        <p:nvSpPr>
          <p:cNvPr id="3" name="Shape 1"/>
          <p:cNvSpPr/>
          <p:nvPr/>
        </p:nvSpPr>
        <p:spPr>
          <a:xfrm>
            <a:off x="548640" y="1371600"/>
            <a:ext cx="3840480" cy="2926080"/>
          </a:xfrm>
          <a:prstGeom prst="roundRect">
            <a:avLst>
              <a:gd name="adj" fmla="val 3750"/>
            </a:avLst>
          </a:prstGeom>
          <a:solidFill>
            <a:srgbClr val="E8F4F3"/>
          </a:solidFill>
          <a:ln w="12700">
            <a:solidFill>
              <a:srgbClr val="E8F4F3"/>
            </a:solidFill>
            <a:prstDash val="solid"/>
          </a:ln>
        </p:spPr>
      </p:sp>
      <p:sp>
        <p:nvSpPr>
          <p:cNvPr id="4" name="Shape 2"/>
          <p:cNvSpPr/>
          <p:nvPr/>
        </p:nvSpPr>
        <p:spPr>
          <a:xfrm>
            <a:off x="4754880" y="1371600"/>
            <a:ext cx="3840480" cy="2926080"/>
          </a:xfrm>
          <a:prstGeom prst="roundRect">
            <a:avLst>
              <a:gd name="adj" fmla="val 3750"/>
            </a:avLst>
          </a:prstGeom>
          <a:solidFill>
            <a:srgbClr val="FDF1DC"/>
          </a:solidFill>
          <a:ln w="12700">
            <a:solidFill>
              <a:srgbClr val="FDF1DC"/>
            </a:solidFill>
            <a:prstDash val="solid"/>
          </a:ln>
        </p:spPr>
      </p:sp>
      <p:sp>
        <p:nvSpPr>
          <p:cNvPr id="5" name="Text 3"/>
          <p:cNvSpPr txBox="1"/>
          <p:nvPr/>
        </p:nvSpPr>
        <p:spPr>
          <a:xfrm>
            <a:off x="822960" y="1554480"/>
            <a:ext cx="3291840" cy="457200"/>
          </a:xfrm>
          <a:prstGeom prst="rect">
            <a:avLst/>
          </a:prstGeom>
          <a:noFill/>
          <a:ln/>
        </p:spPr>
        <p:txBody>
          <a:bodyPr wrap="square" lIns="0" tIns="0" rIns="0" bIns="0" rtlCol="0" anchor="ctr"/>
          <a:lstStyle/>
          <a:p>
            <a:pPr marL="0" indent="0">
              <a:buNone/>
            </a:pPr>
            <a:r>
              <a:rPr lang="en-US" sz="2200" b="1" dirty="0">
                <a:solidFill>
                  <a:srgbClr val="0E7C86"/>
                </a:solidFill>
                <a:latin typeface="Calibri" pitchFamily="34" charset="0"/>
                <a:ea typeface="Calibri" pitchFamily="34" charset="-122"/>
                <a:cs typeface="Calibri" pitchFamily="34" charset="-120"/>
              </a:rPr>
              <a:t>Natija</a:t>
            </a:r>
            <a:endParaRPr lang="en-US" sz="2200" dirty="0"/>
          </a:p>
        </p:txBody>
      </p:sp>
      <p:sp>
        <p:nvSpPr>
          <p:cNvPr id="6" name="Text 4"/>
          <p:cNvSpPr txBox="1"/>
          <p:nvPr/>
        </p:nvSpPr>
        <p:spPr>
          <a:xfrm>
            <a:off x="822960" y="2103120"/>
            <a:ext cx="3291840" cy="20116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Yagona elektron hisob</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To'liq tarix</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Tez hisobot</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Xavfsiz kirish</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AI yordamchi</a:t>
            </a:r>
            <a:endParaRPr lang="en-US" sz="1800" dirty="0"/>
          </a:p>
        </p:txBody>
      </p:sp>
      <p:sp>
        <p:nvSpPr>
          <p:cNvPr id="7" name="Text 5"/>
          <p:cNvSpPr txBox="1"/>
          <p:nvPr/>
        </p:nvSpPr>
        <p:spPr>
          <a:xfrm>
            <a:off x="5029200" y="1554480"/>
            <a:ext cx="3291840" cy="457200"/>
          </a:xfrm>
          <a:prstGeom prst="rect">
            <a:avLst/>
          </a:prstGeom>
          <a:noFill/>
          <a:ln/>
        </p:spPr>
        <p:txBody>
          <a:bodyPr wrap="square" lIns="0" tIns="0" rIns="0" bIns="0" rtlCol="0" anchor="ctr"/>
          <a:lstStyle/>
          <a:p>
            <a:pPr marL="0" indent="0">
              <a:buNone/>
            </a:pPr>
            <a:r>
              <a:rPr lang="en-US" sz="2200" b="1" dirty="0">
                <a:solidFill>
                  <a:srgbClr val="B9770E"/>
                </a:solidFill>
                <a:latin typeface="Calibri" pitchFamily="34" charset="0"/>
                <a:ea typeface="Calibri" pitchFamily="34" charset="-122"/>
                <a:cs typeface="Calibri" pitchFamily="34" charset="-120"/>
              </a:rPr>
              <a:t>Kelajak</a:t>
            </a:r>
            <a:endParaRPr lang="en-US" sz="2200" dirty="0"/>
          </a:p>
        </p:txBody>
      </p:sp>
      <p:sp>
        <p:nvSpPr>
          <p:cNvPr id="8" name="Text 6"/>
          <p:cNvSpPr txBox="1"/>
          <p:nvPr/>
        </p:nvSpPr>
        <p:spPr>
          <a:xfrm>
            <a:off x="5029200" y="2103120"/>
            <a:ext cx="3291840" cy="20116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AI: tahliliy xulosalar</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QR / shtrix-kod skaner</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Bildirishnomalar</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Mobil ilova</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marL="0" indent="0">
              <a:buNone/>
            </a:pPr>
            <a:r>
              <a:rPr lang="en-US" sz="3600" b="1" dirty="0">
                <a:solidFill>
                  <a:srgbClr val="0B3C49"/>
                </a:solidFill>
                <a:latin typeface="Cambria" pitchFamily="34" charset="0"/>
                <a:ea typeface="Cambria" pitchFamily="34" charset="-122"/>
                <a:cs typeface="Cambria" pitchFamily="34" charset="-120"/>
              </a:rPr>
              <a:t>Jamoa: 404 Found</a:t>
            </a:r>
            <a:endParaRPr lang="en-US" sz="3600" dirty="0"/>
          </a:p>
        </p:txBody>
      </p:sp>
      <p:sp>
        <p:nvSpPr>
          <p:cNvPr id="3" name="Shape 1"/>
          <p:cNvSpPr/>
          <p:nvPr/>
        </p:nvSpPr>
        <p:spPr>
          <a:xfrm>
            <a:off x="548640" y="1463040"/>
            <a:ext cx="1920240" cy="2377440"/>
          </a:xfrm>
          <a:prstGeom prst="roundRect">
            <a:avLst>
              <a:gd name="adj" fmla="val 5714"/>
            </a:avLst>
          </a:prstGeom>
          <a:solidFill>
            <a:srgbClr val="E8F4F3"/>
          </a:solidFill>
          <a:ln w="12700">
            <a:solidFill>
              <a:srgbClr val="E8F4F3"/>
            </a:solidFill>
            <a:prstDash val="solid"/>
          </a:ln>
        </p:spPr>
      </p:sp>
      <p:sp>
        <p:nvSpPr>
          <p:cNvPr id="4" name="Shape 2"/>
          <p:cNvSpPr/>
          <p:nvPr/>
        </p:nvSpPr>
        <p:spPr>
          <a:xfrm>
            <a:off x="1051560" y="1691640"/>
            <a:ext cx="914400" cy="914400"/>
          </a:xfrm>
          <a:prstGeom prst="ellipse">
            <a:avLst/>
          </a:prstGeom>
          <a:solidFill>
            <a:srgbClr val="0E7C86"/>
          </a:solidFill>
          <a:ln w="12700">
            <a:solidFill>
              <a:srgbClr val="0E7C86"/>
            </a:solidFill>
            <a:prstDash val="solid"/>
          </a:ln>
        </p:spPr>
      </p:sp>
      <p:pic>
        <p:nvPicPr>
          <p:cNvPr id="5" name="Image 0" descr="preencoded.png"/>
          <p:cNvPicPr>
            <a:picLocks noChangeAspect="1"/>
          </p:cNvPicPr>
          <p:nvPr/>
        </p:nvPicPr>
        <p:blipFill>
          <a:blip r:embed="rId3"/>
          <a:stretch>
            <a:fillRect/>
          </a:stretch>
        </p:blipFill>
        <p:spPr>
          <a:xfrm>
            <a:off x="1280160" y="1920240"/>
            <a:ext cx="457200" cy="457200"/>
          </a:xfrm>
          <a:prstGeom prst="rect">
            <a:avLst/>
          </a:prstGeom>
        </p:spPr>
      </p:pic>
      <p:sp>
        <p:nvSpPr>
          <p:cNvPr id="6" name="Text 3"/>
          <p:cNvSpPr txBox="1"/>
          <p:nvPr/>
        </p:nvSpPr>
        <p:spPr>
          <a:xfrm>
            <a:off x="640080" y="2788920"/>
            <a:ext cx="1737360" cy="41148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A'zo 1</a:t>
            </a:r>
            <a:endParaRPr lang="en-US" sz="1800" dirty="0"/>
          </a:p>
        </p:txBody>
      </p:sp>
      <p:sp>
        <p:nvSpPr>
          <p:cNvPr id="7" name="Text 4"/>
          <p:cNvSpPr txBox="1"/>
          <p:nvPr/>
        </p:nvSpPr>
        <p:spPr>
          <a:xfrm>
            <a:off x="640080" y="3200400"/>
            <a:ext cx="173736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Vazifasi</a:t>
            </a:r>
            <a:endParaRPr lang="en-US" sz="1400" dirty="0"/>
          </a:p>
        </p:txBody>
      </p:sp>
      <p:sp>
        <p:nvSpPr>
          <p:cNvPr id="8" name="Shape 5"/>
          <p:cNvSpPr/>
          <p:nvPr/>
        </p:nvSpPr>
        <p:spPr>
          <a:xfrm>
            <a:off x="2651760" y="1463040"/>
            <a:ext cx="1920240" cy="2377440"/>
          </a:xfrm>
          <a:prstGeom prst="roundRect">
            <a:avLst>
              <a:gd name="adj" fmla="val 5714"/>
            </a:avLst>
          </a:prstGeom>
          <a:solidFill>
            <a:srgbClr val="E8F4F3"/>
          </a:solidFill>
          <a:ln w="12700">
            <a:solidFill>
              <a:srgbClr val="E8F4F3"/>
            </a:solidFill>
            <a:prstDash val="solid"/>
          </a:ln>
        </p:spPr>
      </p:sp>
      <p:sp>
        <p:nvSpPr>
          <p:cNvPr id="9" name="Shape 6"/>
          <p:cNvSpPr/>
          <p:nvPr/>
        </p:nvSpPr>
        <p:spPr>
          <a:xfrm>
            <a:off x="3154680" y="1691640"/>
            <a:ext cx="914400" cy="914400"/>
          </a:xfrm>
          <a:prstGeom prst="ellipse">
            <a:avLst/>
          </a:prstGeom>
          <a:solidFill>
            <a:srgbClr val="14A3A8"/>
          </a:solidFill>
          <a:ln w="12700">
            <a:solidFill>
              <a:srgbClr val="14A3A8"/>
            </a:solidFill>
            <a:prstDash val="solid"/>
          </a:ln>
        </p:spPr>
      </p:sp>
      <p:pic>
        <p:nvPicPr>
          <p:cNvPr id="10" name="Image 1" descr="preencoded.png"/>
          <p:cNvPicPr>
            <a:picLocks noChangeAspect="1"/>
          </p:cNvPicPr>
          <p:nvPr/>
        </p:nvPicPr>
        <p:blipFill>
          <a:blip r:embed="rId3"/>
          <a:stretch>
            <a:fillRect/>
          </a:stretch>
        </p:blipFill>
        <p:spPr>
          <a:xfrm>
            <a:off x="3383280" y="1920240"/>
            <a:ext cx="457200" cy="457200"/>
          </a:xfrm>
          <a:prstGeom prst="rect">
            <a:avLst/>
          </a:prstGeom>
        </p:spPr>
      </p:pic>
      <p:sp>
        <p:nvSpPr>
          <p:cNvPr id="11" name="Text 7"/>
          <p:cNvSpPr txBox="1"/>
          <p:nvPr/>
        </p:nvSpPr>
        <p:spPr>
          <a:xfrm>
            <a:off x="2743200" y="2788920"/>
            <a:ext cx="1737360" cy="41148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A'zo 2</a:t>
            </a:r>
            <a:endParaRPr lang="en-US" sz="1800" dirty="0"/>
          </a:p>
        </p:txBody>
      </p:sp>
      <p:sp>
        <p:nvSpPr>
          <p:cNvPr id="12" name="Text 8"/>
          <p:cNvSpPr txBox="1"/>
          <p:nvPr/>
        </p:nvSpPr>
        <p:spPr>
          <a:xfrm>
            <a:off x="2743200" y="3200400"/>
            <a:ext cx="173736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Vazifasi</a:t>
            </a:r>
            <a:endParaRPr lang="en-US" sz="1400" dirty="0"/>
          </a:p>
        </p:txBody>
      </p:sp>
      <p:sp>
        <p:nvSpPr>
          <p:cNvPr id="13" name="Shape 9"/>
          <p:cNvSpPr/>
          <p:nvPr/>
        </p:nvSpPr>
        <p:spPr>
          <a:xfrm>
            <a:off x="4754880" y="1463040"/>
            <a:ext cx="1920240" cy="2377440"/>
          </a:xfrm>
          <a:prstGeom prst="roundRect">
            <a:avLst>
              <a:gd name="adj" fmla="val 5714"/>
            </a:avLst>
          </a:prstGeom>
          <a:solidFill>
            <a:srgbClr val="E8F4F3"/>
          </a:solidFill>
          <a:ln w="12700">
            <a:solidFill>
              <a:srgbClr val="E8F4F3"/>
            </a:solidFill>
            <a:prstDash val="solid"/>
          </a:ln>
        </p:spPr>
      </p:sp>
      <p:sp>
        <p:nvSpPr>
          <p:cNvPr id="14" name="Shape 10"/>
          <p:cNvSpPr/>
          <p:nvPr/>
        </p:nvSpPr>
        <p:spPr>
          <a:xfrm>
            <a:off x="5257800" y="1691640"/>
            <a:ext cx="914400" cy="914400"/>
          </a:xfrm>
          <a:prstGeom prst="ellipse">
            <a:avLst/>
          </a:prstGeom>
          <a:solidFill>
            <a:srgbClr val="0E7C86"/>
          </a:solidFill>
          <a:ln w="12700">
            <a:solidFill>
              <a:srgbClr val="0E7C86"/>
            </a:solidFill>
            <a:prstDash val="solid"/>
          </a:ln>
        </p:spPr>
      </p:sp>
      <p:pic>
        <p:nvPicPr>
          <p:cNvPr id="15" name="Image 2" descr="preencoded.png"/>
          <p:cNvPicPr>
            <a:picLocks noChangeAspect="1"/>
          </p:cNvPicPr>
          <p:nvPr/>
        </p:nvPicPr>
        <p:blipFill>
          <a:blip r:embed="rId3"/>
          <a:stretch>
            <a:fillRect/>
          </a:stretch>
        </p:blipFill>
        <p:spPr>
          <a:xfrm>
            <a:off x="5486400" y="1920240"/>
            <a:ext cx="457200" cy="457200"/>
          </a:xfrm>
          <a:prstGeom prst="rect">
            <a:avLst/>
          </a:prstGeom>
        </p:spPr>
      </p:pic>
      <p:sp>
        <p:nvSpPr>
          <p:cNvPr id="16" name="Text 11"/>
          <p:cNvSpPr txBox="1"/>
          <p:nvPr/>
        </p:nvSpPr>
        <p:spPr>
          <a:xfrm>
            <a:off x="4846320" y="2788920"/>
            <a:ext cx="1737360" cy="41148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A'zo 3</a:t>
            </a:r>
            <a:endParaRPr lang="en-US" sz="1800" dirty="0"/>
          </a:p>
        </p:txBody>
      </p:sp>
      <p:sp>
        <p:nvSpPr>
          <p:cNvPr id="17" name="Text 12"/>
          <p:cNvSpPr txBox="1"/>
          <p:nvPr/>
        </p:nvSpPr>
        <p:spPr>
          <a:xfrm>
            <a:off x="4846320" y="3200400"/>
            <a:ext cx="173736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Vazifasi</a:t>
            </a:r>
            <a:endParaRPr lang="en-US" sz="1400" dirty="0"/>
          </a:p>
        </p:txBody>
      </p:sp>
      <p:sp>
        <p:nvSpPr>
          <p:cNvPr id="18" name="Shape 13"/>
          <p:cNvSpPr/>
          <p:nvPr/>
        </p:nvSpPr>
        <p:spPr>
          <a:xfrm>
            <a:off x="6858000" y="1463040"/>
            <a:ext cx="1920240" cy="2377440"/>
          </a:xfrm>
          <a:prstGeom prst="roundRect">
            <a:avLst>
              <a:gd name="adj" fmla="val 5714"/>
            </a:avLst>
          </a:prstGeom>
          <a:solidFill>
            <a:srgbClr val="E8F4F3"/>
          </a:solidFill>
          <a:ln w="12700">
            <a:solidFill>
              <a:srgbClr val="E8F4F3"/>
            </a:solidFill>
            <a:prstDash val="solid"/>
          </a:ln>
        </p:spPr>
      </p:sp>
      <p:sp>
        <p:nvSpPr>
          <p:cNvPr id="19" name="Shape 14"/>
          <p:cNvSpPr/>
          <p:nvPr/>
        </p:nvSpPr>
        <p:spPr>
          <a:xfrm>
            <a:off x="7360920" y="1691640"/>
            <a:ext cx="914400" cy="914400"/>
          </a:xfrm>
          <a:prstGeom prst="ellipse">
            <a:avLst/>
          </a:prstGeom>
          <a:solidFill>
            <a:srgbClr val="14A3A8"/>
          </a:solidFill>
          <a:ln w="12700">
            <a:solidFill>
              <a:srgbClr val="14A3A8"/>
            </a:solidFill>
            <a:prstDash val="solid"/>
          </a:ln>
        </p:spPr>
      </p:sp>
      <p:pic>
        <p:nvPicPr>
          <p:cNvPr id="20" name="Image 3" descr="preencoded.png"/>
          <p:cNvPicPr>
            <a:picLocks noChangeAspect="1"/>
          </p:cNvPicPr>
          <p:nvPr/>
        </p:nvPicPr>
        <p:blipFill>
          <a:blip r:embed="rId3"/>
          <a:stretch>
            <a:fillRect/>
          </a:stretch>
        </p:blipFill>
        <p:spPr>
          <a:xfrm>
            <a:off x="7589520" y="1920240"/>
            <a:ext cx="457200" cy="457200"/>
          </a:xfrm>
          <a:prstGeom prst="rect">
            <a:avLst/>
          </a:prstGeom>
        </p:spPr>
      </p:pic>
      <p:sp>
        <p:nvSpPr>
          <p:cNvPr id="21" name="Text 15"/>
          <p:cNvSpPr txBox="1"/>
          <p:nvPr/>
        </p:nvSpPr>
        <p:spPr>
          <a:xfrm>
            <a:off x="6949440" y="2788920"/>
            <a:ext cx="1737360" cy="411480"/>
          </a:xfrm>
          <a:prstGeom prst="rect">
            <a:avLst/>
          </a:prstGeom>
          <a:noFill/>
          <a:ln/>
        </p:spPr>
        <p:txBody>
          <a:bodyPr wrap="square" lIns="0" tIns="0" rIns="0" bIns="0" rtlCol="0" anchor="ctr"/>
          <a:lstStyle/>
          <a:p>
            <a:pPr marL="0" indent="0" algn="ctr">
              <a:buNone/>
            </a:pPr>
            <a:r>
              <a:rPr lang="en-US" sz="1800" b="1" dirty="0">
                <a:solidFill>
                  <a:srgbClr val="0B3C49"/>
                </a:solidFill>
                <a:latin typeface="Calibri" pitchFamily="34" charset="0"/>
                <a:ea typeface="Calibri" pitchFamily="34" charset="-122"/>
                <a:cs typeface="Calibri" pitchFamily="34" charset="-120"/>
              </a:rPr>
              <a:t>A'zo 4</a:t>
            </a:r>
            <a:endParaRPr lang="en-US" sz="1800" dirty="0"/>
          </a:p>
        </p:txBody>
      </p:sp>
      <p:sp>
        <p:nvSpPr>
          <p:cNvPr id="22" name="Text 16"/>
          <p:cNvSpPr txBox="1"/>
          <p:nvPr/>
        </p:nvSpPr>
        <p:spPr>
          <a:xfrm>
            <a:off x="6949440" y="3200400"/>
            <a:ext cx="1737360" cy="365760"/>
          </a:xfrm>
          <a:prstGeom prst="rect">
            <a:avLst/>
          </a:prstGeom>
          <a:noFill/>
          <a:ln/>
        </p:spPr>
        <p:txBody>
          <a:bodyPr wrap="square" lIns="0" tIns="0" rIns="0" bIns="0" rtlCol="0" anchor="ctr"/>
          <a:lstStyle/>
          <a:p>
            <a:pPr marL="0" indent="0" algn="ctr">
              <a:buNone/>
            </a:pPr>
            <a:r>
              <a:rPr lang="en-US" sz="1400" dirty="0">
                <a:solidFill>
                  <a:srgbClr val="5E7480"/>
                </a:solidFill>
                <a:latin typeface="Calibri" pitchFamily="34" charset="0"/>
                <a:ea typeface="Calibri" pitchFamily="34" charset="-122"/>
                <a:cs typeface="Calibri" pitchFamily="34" charset="-120"/>
              </a:rPr>
              <a:t>Vazifasi</a:t>
            </a:r>
            <a:endParaRPr lang="en-US" sz="1400" dirty="0"/>
          </a:p>
        </p:txBody>
      </p:sp>
      <p:sp>
        <p:nvSpPr>
          <p:cNvPr id="23" name="Text 17"/>
          <p:cNvSpPr txBox="1"/>
          <p:nvPr/>
        </p:nvSpPr>
        <p:spPr>
          <a:xfrm>
            <a:off x="548640" y="4114800"/>
            <a:ext cx="8046720" cy="457200"/>
          </a:xfrm>
          <a:prstGeom prst="rect">
            <a:avLst/>
          </a:prstGeom>
          <a:noFill/>
          <a:ln/>
        </p:spPr>
        <p:txBody>
          <a:bodyPr wrap="square" lIns="0" tIns="0" rIns="0" bIns="0" rtlCol="0" anchor="ctr"/>
          <a:lstStyle/>
          <a:p>
            <a:pPr marL="0" indent="0">
              <a:buNone/>
            </a:pPr>
            <a:r>
              <a:rPr lang="en-US" sz="2000" b="1" dirty="0">
                <a:solidFill>
                  <a:srgbClr val="0E7C86"/>
                </a:solidFill>
                <a:latin typeface="Calibri" pitchFamily="34" charset="0"/>
                <a:ea typeface="Calibri" pitchFamily="34" charset="-122"/>
                <a:cs typeface="Calibri" pitchFamily="34" charset="-120"/>
              </a:rPr>
              <a:t>Hamkorlikka va pilot sinovga tayyormiz</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49"/>
        </a:solidFill>
        <a:effectLst/>
      </p:bgPr>
    </p:bg>
    <p:spTree>
      <p:nvGrpSpPr>
        <p:cNvPr id="1" name=""/>
        <p:cNvGrpSpPr/>
        <p:nvPr/>
      </p:nvGrpSpPr>
      <p:grpSpPr>
        <a:xfrm>
          <a:off x="0" y="0"/>
          <a:ext cx="0" cy="0"/>
          <a:chOff x="0" y="0"/>
          <a:chExt cx="0" cy="0"/>
        </a:xfrm>
      </p:grpSpPr>
      <p:sp>
        <p:nvSpPr>
          <p:cNvPr id="2" name="Shape 0"/>
          <p:cNvSpPr/>
          <p:nvPr/>
        </p:nvSpPr>
        <p:spPr>
          <a:xfrm>
            <a:off x="-1371600" y="2926080"/>
            <a:ext cx="4114800" cy="4114800"/>
          </a:xfrm>
          <a:prstGeom prst="ellipse">
            <a:avLst/>
          </a:prstGeom>
          <a:solidFill>
            <a:srgbClr val="0E7C86"/>
          </a:solidFill>
          <a:ln w="12700">
            <a:solidFill>
              <a:srgbClr val="0E7C86"/>
            </a:solidFill>
            <a:prstDash val="solid"/>
          </a:ln>
        </p:spPr>
      </p:sp>
      <p:sp>
        <p:nvSpPr>
          <p:cNvPr id="3" name="Text 1"/>
          <p:cNvSpPr txBox="1"/>
          <p:nvPr/>
        </p:nvSpPr>
        <p:spPr>
          <a:xfrm>
            <a:off x="731520" y="1463040"/>
            <a:ext cx="768096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E'tiboringiz uchun rahmat!</a:t>
            </a:r>
            <a:endParaRPr lang="en-US" sz="4400" dirty="0"/>
          </a:p>
        </p:txBody>
      </p:sp>
      <p:sp>
        <p:nvSpPr>
          <p:cNvPr id="4" name="Text 2"/>
          <p:cNvSpPr txBox="1"/>
          <p:nvPr/>
        </p:nvSpPr>
        <p:spPr>
          <a:xfrm>
            <a:off x="731520" y="2651760"/>
            <a:ext cx="7680960" cy="548640"/>
          </a:xfrm>
          <a:prstGeom prst="rect">
            <a:avLst/>
          </a:prstGeom>
          <a:noFill/>
          <a:ln/>
        </p:spPr>
        <p:txBody>
          <a:bodyPr wrap="square" lIns="0" tIns="0" rIns="0" bIns="0" rtlCol="0" anchor="ctr"/>
          <a:lstStyle/>
          <a:p>
            <a:pPr marL="0" indent="0" algn="ctr">
              <a:buNone/>
            </a:pPr>
            <a:r>
              <a:rPr lang="en-US" sz="2400" dirty="0">
                <a:solidFill>
                  <a:srgbClr val="F2A541"/>
                </a:solidFill>
                <a:latin typeface="Calibri" pitchFamily="34" charset="0"/>
                <a:ea typeface="Calibri" pitchFamily="34" charset="-122"/>
                <a:cs typeface="Calibri" pitchFamily="34" charset="-120"/>
              </a:rPr>
              <a:t>Savol-javob</a:t>
            </a:r>
            <a:endParaRPr lang="en-US" sz="2400" dirty="0"/>
          </a:p>
        </p:txBody>
      </p:sp>
      <p:sp>
        <p:nvSpPr>
          <p:cNvPr id="5" name="Text 3"/>
          <p:cNvSpPr txBox="1"/>
          <p:nvPr/>
        </p:nvSpPr>
        <p:spPr>
          <a:xfrm>
            <a:off x="731520" y="4023360"/>
            <a:ext cx="7680960" cy="365760"/>
          </a:xfrm>
          <a:prstGeom prst="rect">
            <a:avLst/>
          </a:prstGeom>
          <a:noFill/>
          <a:ln/>
        </p:spPr>
        <p:txBody>
          <a:bodyPr wrap="square" lIns="0" tIns="0" rIns="0" bIns="0" rtlCol="0" anchor="ctr"/>
          <a:lstStyle/>
          <a:p>
            <a:pPr marL="0" indent="0" algn="ctr">
              <a:buNone/>
            </a:pPr>
            <a:r>
              <a:rPr lang="en-US" sz="1600" dirty="0">
                <a:solidFill>
                  <a:srgbClr val="BFE6E4"/>
                </a:solidFill>
                <a:latin typeface="Calibri" pitchFamily="34" charset="0"/>
                <a:ea typeface="Calibri" pitchFamily="34" charset="-122"/>
                <a:cs typeface="Calibri" pitchFamily="34" charset="-120"/>
              </a:rPr>
              <a:t>InvenTrack · 404 Found</a:t>
            </a:r>
            <a:endParaRPr lang="en-US" sz="1600" dirty="0"/>
          </a:p>
        </p:txBody>
      </p:sp>
    </p:spTree>
  </p:cSld>
  <p:clrMapOvr>
    <a:masterClrMapping/>
  </p:clrMapOvr>
</p:sld>
</file>

<file path=ppt/theme/theme1.xml><?xml version="1.0" encoding="utf-8"?>
<a:theme xmlns:a="http://schemas.openxmlformats.org/drawingml/2006/main" name="InvenTrack">
  <a:themeElements>
    <a:clrScheme name="InvenTrack">
      <a:dk1>
        <a:srgbClr val="1B2B34"/>
      </a:dk1>
      <a:lt1>
        <a:srgbClr val="FFFFFF"/>
      </a:lt1>
      <a:dk2>
        <a:srgbClr val="0B3C49"/>
      </a:dk2>
      <a:lt2>
        <a:srgbClr val="E8F4F3"/>
      </a:lt2>
      <a:accent1>
        <a:srgbClr val="0E7C86"/>
      </a:accent1>
      <a:accent2>
        <a:srgbClr val="14A3A8"/>
      </a:accent2>
      <a:accent3>
        <a:srgbClr val="F2A541"/>
      </a:accent3>
      <a:accent4>
        <a:srgbClr val="5B7C99"/>
      </a:accent4>
      <a:accent5>
        <a:srgbClr val="C8553D"/>
      </a:accent5>
      <a:accent6>
        <a:srgbClr val="3C9D6B"/>
      </a:accent6>
      <a:hlink>
        <a:srgbClr val="0E7C86"/>
      </a:hlink>
      <a:folHlink>
        <a:srgbClr val="5B7C99"/>
      </a:folHlink>
    </a:clrScheme>
    <a:fontScheme name="Inven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897</Words>
  <Application>Microsoft Office PowerPoint</Application>
  <PresentationFormat>Экран (16:9)</PresentationFormat>
  <Paragraphs>183</Paragraphs>
  <Slides>16</Slides>
  <Notes>16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Arial</vt:lpstr>
      <vt:lpstr>Calibri</vt:lpstr>
      <vt:lpstr>Cambria</vt:lpstr>
      <vt:lpstr>InvenTrack</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InvenTrack</dc:title>
  <dc:subject>PptxGenJS Presentation</dc:subject>
  <dc:creator>404 Found</dc:creator>
  <cp:lastModifiedBy>Savitar N1</cp:lastModifiedBy>
  <cp:revision>2</cp:revision>
  <dcterms:created xsi:type="dcterms:W3CDTF">2026-10-14T07:11:55Z</dcterms:created>
  <dcterms:modified xsi:type="dcterms:W3CDTF">2026-10-14T07:18:17Z</dcterms:modified>
</cp:coreProperties>
</file>