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Assalomu alaykum! Biz 404 Found jamoasimiz. Bugun sizga InvenTrack — tashkilotdagi kompyuter va texnik vositalarni elektron hisobga olish tizimini taqdim etamiz. Shiorimiz: har bir jihoz hisobda, har bir o'zgarish tarixda.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Ko'pchilik tashkilotlarda jihozlar qog'oz yoki Excel'da yuritiladi. Natijada ma'lumot eskiradi, texnika yo'qoladi, inventarizatsiya esa juda ko'p vaqt oladi.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Maqsadimiz — jihozlarni bitta web-tizimda hisobga olish. Yechim: yagona baza, avtomatik inventar raqam, to'liq tarix va tez hisobot.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Funksiyalarni to'rt guruhga ajratdik: hisobga olish, joylashuv va mas'ul, holat va ta'mir, tarix va hisobot.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Tizim yettita asosiy jihoz turini qo'llab-quvvatlaydi. Administrator istalgan vaqtda yangi tur qo'sha oladi.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Jarayon: foydalanuvchi kiradi, jihoz qo'shiladi va avtomatik raqam oladi, xona va mas'ulga biriktiriladi, holati yangilanadi, oxirida hisobot olinadi. Har bir qadam tarixga yoziladi.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ilovaning haqiqiy skrinshotlari: dashboard, jihozlar ro'yxati, jihoz kartochkasi QR-kod va tarix bilan, hamda qo'shish formasi. Ma'lumotlar sinov uchun.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bitta jihozning tarixi: kim, qachon, nima o'zgargani yozilgan. Misol uchun sinov ma'lumotlari ishlatilgan. Tarix yozuvlari o'zgartirilmaydi.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Tizimga AI yordamchi qo'shiladi: foydalanuvchi oddiy o'zbek tilida savol beradi, masalan qaysi bo'limda nosoz jihoz ko'p. Agent faqat oldindan belgilangan xavfsiz asboblarni chaqiradi, bazani o'zgartira olmaydi va foydalanuvchi roliga ko'ra ma'lumot oladi. Model OpenRouter orqali bepul modellar zanjiri bilan ishlaydi, biri javob bermasa keyingisi ishga tushadi.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Uch rol: Administrator hamma narsani boshqaradi, Mas'ul shaxs o'z jihozlarini yangilaydi, Xodim faqat ko'ra oladi. Ruxsatlar serverda tekshiriladi.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Xavfsizlik bo'yicha: parollar bcrypt bilan hashlanadi; JWT qisqa muddatli; ruxsatlar frontendda emas, serverda tekshiriladi; barcha kirish ma'lumotlari Zod bilan tekshiriladi, Prisma parametrlangan so'rovlar ishlatadi; Helmet, CORS va login urinishlari cheklanadi; barcha o'zgarishlar tarixga yoziladi; kalitlar kodda emas, .env faylida.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React va TypeScript, backend Node.js va Express, ma'lumotlar bazasi PostgreSQL, Prisma ORM orqali. Markazda equipment jadvali, unga turlar, xonalar, ta'mirlar va tarix bog'langan.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Hisobotni xona, bo'lim, tur va holat bo'yicha filtrlash mumkin. Natija Excel yoki PDF'ga yuklanadi, chop etishga qulay ko'rinishi ham bor.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Natijada tashkilot jihozlarining yagona, xavfsiz va yangilanib turadigan hisobi paydo bo'ladi. Kelajakda QR skaner, bildirishnomalar va mobil ilova qo'shishni rejalashtirganmiz.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Jamoamiz 404 Found, olti kishidan iborat. Nurmuhammad loyihani boshqaradi, Dalerbek arxitektura va AI yordamchi ustida ishladi, G'olibjon backend va xavfsizlikni, Sanobar frontendni qurdi, Feruza hisobot va ko'rsatkichlarni tahlil qildi, Atham testlash va hujjatlarni yuritdi. Biz tizimni pilot sifatida bitta bo'limda sinab ko'rishga tayyormiz.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E'tiboringiz uchun rahmat! Savollaringiz bo'lsa, javob beramiz.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6309360" y="-1097280"/>
            <a:ext cx="4206240" cy="4206240"/>
          </a:xfrm>
          <a:prstGeom prst="ellipse">
            <a:avLst/>
          </a:prstGeom>
          <a:solidFill>
            <a:srgbClr val="0E7C86"/>
          </a:solidFill>
          <a:ln w="12700">
            <a:solidFill>
              <a:srgbClr val="0E7C86"/>
            </a:solidFill>
            <a:prstDash val="solid"/>
          </a:ln>
        </p:spPr>
      </p:sp>
      <p:sp>
        <p:nvSpPr>
          <p:cNvPr id="3" name="Shape 1"/>
          <p:cNvSpPr/>
          <p:nvPr/>
        </p:nvSpPr>
        <p:spPr>
          <a:xfrm>
            <a:off x="7223760" y="2560320"/>
            <a:ext cx="2743200" cy="2743200"/>
          </a:xfrm>
          <a:prstGeom prst="ellipse">
            <a:avLst/>
          </a:prstGeom>
          <a:solidFill>
            <a:srgbClr val="14A3A8"/>
          </a:solidFill>
          <a:ln w="12700">
            <a:solidFill>
              <a:srgbClr val="14A3A8"/>
            </a:solidFill>
            <a:prstDash val="solid"/>
          </a:ln>
        </p:spPr>
      </p:sp>
      <p:sp>
        <p:nvSpPr>
          <p:cNvPr id="4" name="Shape 2"/>
          <p:cNvSpPr/>
          <p:nvPr/>
        </p:nvSpPr>
        <p:spPr>
          <a:xfrm>
            <a:off x="640080" y="640080"/>
            <a:ext cx="822960" cy="82296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45820" y="845820"/>
            <a:ext cx="411480" cy="411480"/>
          </a:xfrm>
          <a:prstGeom prst="rect">
            <a:avLst/>
          </a:prstGeom>
        </p:spPr>
      </p:pic>
      <p:sp>
        <p:nvSpPr>
          <p:cNvPr id="6" name="Text 3"/>
          <p:cNvSpPr txBox="1"/>
          <p:nvPr/>
        </p:nvSpPr>
        <p:spPr>
          <a:xfrm>
            <a:off x="640080" y="1645920"/>
            <a:ext cx="640080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InvenTrack</a:t>
            </a:r>
            <a:endParaRPr lang="en-US" sz="6000" dirty="0"/>
          </a:p>
        </p:txBody>
      </p:sp>
      <p:sp>
        <p:nvSpPr>
          <p:cNvPr id="7" name="Text 4"/>
          <p:cNvSpPr txBox="1"/>
          <p:nvPr/>
        </p:nvSpPr>
        <p:spPr>
          <a:xfrm>
            <a:off x="640080" y="2651760"/>
            <a:ext cx="6400800" cy="548640"/>
          </a:xfrm>
          <a:prstGeom prst="rect">
            <a:avLst/>
          </a:prstGeom>
          <a:noFill/>
          <a:ln/>
        </p:spPr>
        <p:txBody>
          <a:bodyPr wrap="square" lIns="0" tIns="0" rIns="0" bIns="0" rtlCol="0" anchor="ctr"/>
          <a:lstStyle/>
          <a:p>
            <a:pPr indent="0" marL="0">
              <a:buNone/>
            </a:pPr>
            <a:r>
              <a:rPr lang="en-US" sz="2200" i="1" dirty="0">
                <a:solidFill>
                  <a:srgbClr val="BFE6E4"/>
                </a:solidFill>
                <a:latin typeface="Calibri" pitchFamily="34" charset="0"/>
                <a:ea typeface="Calibri" pitchFamily="34" charset="-122"/>
                <a:cs typeface="Calibri" pitchFamily="34" charset="-120"/>
              </a:rPr>
              <a:t>Har bir jihoz hisobda, har bir o'zgarish tarixda.</a:t>
            </a:r>
            <a:endParaRPr lang="en-US" sz="2200" dirty="0"/>
          </a:p>
        </p:txBody>
      </p:sp>
      <p:sp>
        <p:nvSpPr>
          <p:cNvPr id="8" name="Text 5"/>
          <p:cNvSpPr txBox="1"/>
          <p:nvPr/>
        </p:nvSpPr>
        <p:spPr>
          <a:xfrm>
            <a:off x="640080" y="3840480"/>
            <a:ext cx="786384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Jamoa: 404 Found</a:t>
            </a:r>
            <a:endParaRPr lang="en-US" sz="1600" dirty="0"/>
          </a:p>
          <a:p>
            <a:pPr indent="0" marL="0">
              <a:buNone/>
            </a:pPr>
            <a:r>
              <a:rPr lang="en-US" sz="1300" dirty="0">
                <a:solidFill>
                  <a:srgbClr val="FFFFFF"/>
                </a:solidFill>
                <a:latin typeface="Calibri" pitchFamily="34" charset="0"/>
                <a:ea typeface="Calibri" pitchFamily="34" charset="-122"/>
                <a:cs typeface="Calibri" pitchFamily="34" charset="-120"/>
              </a:rPr>
              <a:t>Boynazarov N. · Artikmuratov D. · Ro’ziboyev G. · Yo’ldosheva S. · Eshnazarova F. · Tursunov 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Muammo</a:t>
            </a:r>
            <a:endParaRPr lang="en-US" sz="3600" dirty="0"/>
          </a:p>
        </p:txBody>
      </p:sp>
      <p:sp>
        <p:nvSpPr>
          <p:cNvPr id="3" name="Shape 1"/>
          <p:cNvSpPr/>
          <p:nvPr/>
        </p:nvSpPr>
        <p:spPr>
          <a:xfrm>
            <a:off x="548640" y="1371600"/>
            <a:ext cx="3840480" cy="1463040"/>
          </a:xfrm>
          <a:prstGeom prst="roundRect">
            <a:avLst>
              <a:gd name="adj" fmla="val 7500"/>
            </a:avLst>
          </a:prstGeom>
          <a:solidFill>
            <a:srgbClr val="E8F4F3"/>
          </a:solidFill>
          <a:ln w="12700">
            <a:solidFill>
              <a:srgbClr val="E8F4F3"/>
            </a:solidFill>
            <a:prstDash val="solid"/>
          </a:ln>
        </p:spPr>
      </p:sp>
      <p:sp>
        <p:nvSpPr>
          <p:cNvPr id="4" name="Shape 2"/>
          <p:cNvSpPr/>
          <p:nvPr/>
        </p:nvSpPr>
        <p:spPr>
          <a:xfrm>
            <a:off x="777240" y="1691640"/>
            <a:ext cx="822960" cy="822960"/>
          </a:xfrm>
          <a:prstGeom prst="ellipse">
            <a:avLst/>
          </a:prstGeom>
          <a:solidFill>
            <a:srgbClr val="C8553D"/>
          </a:solidFill>
          <a:ln w="12700">
            <a:solidFill>
              <a:srgbClr val="C8553D"/>
            </a:solidFill>
            <a:prstDash val="solid"/>
          </a:ln>
        </p:spPr>
      </p:sp>
      <p:pic>
        <p:nvPicPr>
          <p:cNvPr id="5" name="Image 0" descr="preencoded.png">    </p:cNvPr>
          <p:cNvPicPr>
            <a:picLocks noChangeAspect="1"/>
          </p:cNvPicPr>
          <p:nvPr/>
        </p:nvPicPr>
        <p:blipFill>
          <a:blip r:embed="rId1"/>
          <a:stretch>
            <a:fillRect/>
          </a:stretch>
        </p:blipFill>
        <p:spPr>
          <a:xfrm>
            <a:off x="982980" y="1897380"/>
            <a:ext cx="411480" cy="411480"/>
          </a:xfrm>
          <a:prstGeom prst="rect">
            <a:avLst/>
          </a:prstGeom>
        </p:spPr>
      </p:pic>
      <p:sp>
        <p:nvSpPr>
          <p:cNvPr id="6" name="Text 3"/>
          <p:cNvSpPr txBox="1"/>
          <p:nvPr/>
        </p:nvSpPr>
        <p:spPr>
          <a:xfrm>
            <a:off x="1828800" y="1691640"/>
            <a:ext cx="2468880" cy="411480"/>
          </a:xfrm>
          <a:prstGeom prst="rect">
            <a:avLst/>
          </a:prstGeom>
          <a:noFill/>
          <a:ln/>
        </p:spPr>
        <p:txBody>
          <a:bodyPr wrap="square" lIns="0" tIns="0" rIns="0" bIns="0" rtlCol="0" anchor="ctr"/>
          <a:lstStyle/>
          <a:p>
            <a:pPr indent="0" marL="0">
              <a:buNone/>
            </a:pPr>
            <a:r>
              <a:rPr lang="en-US" sz="2000" b="1" dirty="0">
                <a:solidFill>
                  <a:srgbClr val="0B3C49"/>
                </a:solidFill>
                <a:latin typeface="Calibri" pitchFamily="34" charset="0"/>
                <a:ea typeface="Calibri" pitchFamily="34" charset="-122"/>
                <a:cs typeface="Calibri" pitchFamily="34" charset="-120"/>
              </a:rPr>
              <a:t>Qog'oz va Excel</a:t>
            </a:r>
            <a:endParaRPr lang="en-US" sz="2000" dirty="0"/>
          </a:p>
        </p:txBody>
      </p:sp>
      <p:sp>
        <p:nvSpPr>
          <p:cNvPr id="7" name="Text 4"/>
          <p:cNvSpPr txBox="1"/>
          <p:nvPr/>
        </p:nvSpPr>
        <p:spPr>
          <a:xfrm>
            <a:off x="1828800" y="2148840"/>
            <a:ext cx="2468880" cy="457200"/>
          </a:xfrm>
          <a:prstGeom prst="rect">
            <a:avLst/>
          </a:prstGeom>
          <a:noFill/>
          <a:ln/>
        </p:spPr>
        <p:txBody>
          <a:bodyPr wrap="square" lIns="0" tIns="0" rIns="0" bIns="0" rtlCol="0" anchor="ctr"/>
          <a:lstStyle/>
          <a:p>
            <a:pPr indent="0" marL="0">
              <a:buNone/>
            </a:pPr>
            <a:r>
              <a:rPr lang="en-US" sz="1400" dirty="0">
                <a:solidFill>
                  <a:srgbClr val="5E7480"/>
                </a:solidFill>
                <a:latin typeface="Calibri" pitchFamily="34" charset="0"/>
                <a:ea typeface="Calibri" pitchFamily="34" charset="-122"/>
                <a:cs typeface="Calibri" pitchFamily="34" charset="-120"/>
              </a:rPr>
              <a:t>Hisob tarqoq fayllarda yuritiladi</a:t>
            </a:r>
            <a:endParaRPr lang="en-US" sz="1400" dirty="0"/>
          </a:p>
        </p:txBody>
      </p:sp>
      <p:sp>
        <p:nvSpPr>
          <p:cNvPr id="8" name="Shape 5"/>
          <p:cNvSpPr/>
          <p:nvPr/>
        </p:nvSpPr>
        <p:spPr>
          <a:xfrm>
            <a:off x="4663440" y="1371600"/>
            <a:ext cx="3840480" cy="1463040"/>
          </a:xfrm>
          <a:prstGeom prst="roundRect">
            <a:avLst>
              <a:gd name="adj" fmla="val 7500"/>
            </a:avLst>
          </a:prstGeom>
          <a:solidFill>
            <a:srgbClr val="E8F4F3"/>
          </a:solidFill>
          <a:ln w="12700">
            <a:solidFill>
              <a:srgbClr val="E8F4F3"/>
            </a:solidFill>
            <a:prstDash val="solid"/>
          </a:ln>
        </p:spPr>
      </p:sp>
      <p:sp>
        <p:nvSpPr>
          <p:cNvPr id="9" name="Shape 6"/>
          <p:cNvSpPr/>
          <p:nvPr/>
        </p:nvSpPr>
        <p:spPr>
          <a:xfrm>
            <a:off x="4892040" y="1691640"/>
            <a:ext cx="822960" cy="822960"/>
          </a:xfrm>
          <a:prstGeom prst="ellipse">
            <a:avLst/>
          </a:prstGeom>
          <a:solidFill>
            <a:srgbClr val="C8553D"/>
          </a:solidFill>
          <a:ln w="12700">
            <a:solidFill>
              <a:srgbClr val="C8553D"/>
            </a:solidFill>
            <a:prstDash val="solid"/>
          </a:ln>
        </p:spPr>
      </p:sp>
      <p:pic>
        <p:nvPicPr>
          <p:cNvPr id="10" name="Image 1" descr="preencoded.png">    </p:cNvPr>
          <p:cNvPicPr>
            <a:picLocks noChangeAspect="1"/>
          </p:cNvPicPr>
          <p:nvPr/>
        </p:nvPicPr>
        <p:blipFill>
          <a:blip r:embed="rId2"/>
          <a:stretch>
            <a:fillRect/>
          </a:stretch>
        </p:blipFill>
        <p:spPr>
          <a:xfrm>
            <a:off x="5097780" y="1897380"/>
            <a:ext cx="411480" cy="411480"/>
          </a:xfrm>
          <a:prstGeom prst="rect">
            <a:avLst/>
          </a:prstGeom>
        </p:spPr>
      </p:pic>
      <p:sp>
        <p:nvSpPr>
          <p:cNvPr id="11" name="Text 7"/>
          <p:cNvSpPr txBox="1"/>
          <p:nvPr/>
        </p:nvSpPr>
        <p:spPr>
          <a:xfrm>
            <a:off x="5943600" y="1691640"/>
            <a:ext cx="2468880" cy="411480"/>
          </a:xfrm>
          <a:prstGeom prst="rect">
            <a:avLst/>
          </a:prstGeom>
          <a:noFill/>
          <a:ln/>
        </p:spPr>
        <p:txBody>
          <a:bodyPr wrap="square" lIns="0" tIns="0" rIns="0" bIns="0" rtlCol="0" anchor="ctr"/>
          <a:lstStyle/>
          <a:p>
            <a:pPr indent="0" marL="0">
              <a:buNone/>
            </a:pPr>
            <a:r>
              <a:rPr lang="en-US" sz="2000" b="1" dirty="0">
                <a:solidFill>
                  <a:srgbClr val="0B3C49"/>
                </a:solidFill>
                <a:latin typeface="Calibri" pitchFamily="34" charset="0"/>
                <a:ea typeface="Calibri" pitchFamily="34" charset="-122"/>
                <a:cs typeface="Calibri" pitchFamily="34" charset="-120"/>
              </a:rPr>
              <a:t>Eskirgan ma'lumot</a:t>
            </a:r>
            <a:endParaRPr lang="en-US" sz="2000" dirty="0"/>
          </a:p>
        </p:txBody>
      </p:sp>
      <p:sp>
        <p:nvSpPr>
          <p:cNvPr id="12" name="Text 8"/>
          <p:cNvSpPr txBox="1"/>
          <p:nvPr/>
        </p:nvSpPr>
        <p:spPr>
          <a:xfrm>
            <a:off x="5943600" y="2148840"/>
            <a:ext cx="2468880" cy="457200"/>
          </a:xfrm>
          <a:prstGeom prst="rect">
            <a:avLst/>
          </a:prstGeom>
          <a:noFill/>
          <a:ln/>
        </p:spPr>
        <p:txBody>
          <a:bodyPr wrap="square" lIns="0" tIns="0" rIns="0" bIns="0" rtlCol="0" anchor="ctr"/>
          <a:lstStyle/>
          <a:p>
            <a:pPr indent="0" marL="0">
              <a:buNone/>
            </a:pPr>
            <a:r>
              <a:rPr lang="en-US" sz="1400" dirty="0">
                <a:solidFill>
                  <a:srgbClr val="5E7480"/>
                </a:solidFill>
                <a:latin typeface="Calibri" pitchFamily="34" charset="0"/>
                <a:ea typeface="Calibri" pitchFamily="34" charset="-122"/>
                <a:cs typeface="Calibri" pitchFamily="34" charset="-120"/>
              </a:rPr>
              <a:t>Kim, qayerda — noma'lum</a:t>
            </a:r>
            <a:endParaRPr lang="en-US" sz="1400" dirty="0"/>
          </a:p>
        </p:txBody>
      </p:sp>
      <p:sp>
        <p:nvSpPr>
          <p:cNvPr id="13" name="Shape 9"/>
          <p:cNvSpPr/>
          <p:nvPr/>
        </p:nvSpPr>
        <p:spPr>
          <a:xfrm>
            <a:off x="548640" y="3108960"/>
            <a:ext cx="3840480" cy="1463040"/>
          </a:xfrm>
          <a:prstGeom prst="roundRect">
            <a:avLst>
              <a:gd name="adj" fmla="val 7500"/>
            </a:avLst>
          </a:prstGeom>
          <a:solidFill>
            <a:srgbClr val="E8F4F3"/>
          </a:solidFill>
          <a:ln w="12700">
            <a:solidFill>
              <a:srgbClr val="E8F4F3"/>
            </a:solidFill>
            <a:prstDash val="solid"/>
          </a:ln>
        </p:spPr>
      </p:sp>
      <p:sp>
        <p:nvSpPr>
          <p:cNvPr id="14" name="Shape 10"/>
          <p:cNvSpPr/>
          <p:nvPr/>
        </p:nvSpPr>
        <p:spPr>
          <a:xfrm>
            <a:off x="777240" y="3429000"/>
            <a:ext cx="822960" cy="822960"/>
          </a:xfrm>
          <a:prstGeom prst="ellipse">
            <a:avLst/>
          </a:prstGeom>
          <a:solidFill>
            <a:srgbClr val="C8553D"/>
          </a:solidFill>
          <a:ln w="12700">
            <a:solidFill>
              <a:srgbClr val="C8553D"/>
            </a:solidFill>
            <a:prstDash val="solid"/>
          </a:ln>
        </p:spPr>
      </p:sp>
      <p:pic>
        <p:nvPicPr>
          <p:cNvPr id="15" name="Image 2" descr="preencoded.png">    </p:cNvPr>
          <p:cNvPicPr>
            <a:picLocks noChangeAspect="1"/>
          </p:cNvPicPr>
          <p:nvPr/>
        </p:nvPicPr>
        <p:blipFill>
          <a:blip r:embed="rId3"/>
          <a:stretch>
            <a:fillRect/>
          </a:stretch>
        </p:blipFill>
        <p:spPr>
          <a:xfrm>
            <a:off x="982980" y="3634740"/>
            <a:ext cx="411480" cy="411480"/>
          </a:xfrm>
          <a:prstGeom prst="rect">
            <a:avLst/>
          </a:prstGeom>
        </p:spPr>
      </p:pic>
      <p:sp>
        <p:nvSpPr>
          <p:cNvPr id="16" name="Text 11"/>
          <p:cNvSpPr txBox="1"/>
          <p:nvPr/>
        </p:nvSpPr>
        <p:spPr>
          <a:xfrm>
            <a:off x="1828800" y="3429000"/>
            <a:ext cx="2468880" cy="411480"/>
          </a:xfrm>
          <a:prstGeom prst="rect">
            <a:avLst/>
          </a:prstGeom>
          <a:noFill/>
          <a:ln/>
        </p:spPr>
        <p:txBody>
          <a:bodyPr wrap="square" lIns="0" tIns="0" rIns="0" bIns="0" rtlCol="0" anchor="ctr"/>
          <a:lstStyle/>
          <a:p>
            <a:pPr indent="0" marL="0">
              <a:buNone/>
            </a:pPr>
            <a:r>
              <a:rPr lang="en-US" sz="2000" b="1" dirty="0">
                <a:solidFill>
                  <a:srgbClr val="0B3C49"/>
                </a:solidFill>
                <a:latin typeface="Calibri" pitchFamily="34" charset="0"/>
                <a:ea typeface="Calibri" pitchFamily="34" charset="-122"/>
                <a:cs typeface="Calibri" pitchFamily="34" charset="-120"/>
              </a:rPr>
              <a:t>Yo'qolgan texnika</a:t>
            </a:r>
            <a:endParaRPr lang="en-US" sz="2000" dirty="0"/>
          </a:p>
        </p:txBody>
      </p:sp>
      <p:sp>
        <p:nvSpPr>
          <p:cNvPr id="17" name="Text 12"/>
          <p:cNvSpPr txBox="1"/>
          <p:nvPr/>
        </p:nvSpPr>
        <p:spPr>
          <a:xfrm>
            <a:off x="1828800" y="3886200"/>
            <a:ext cx="2468880" cy="457200"/>
          </a:xfrm>
          <a:prstGeom prst="rect">
            <a:avLst/>
          </a:prstGeom>
          <a:noFill/>
          <a:ln/>
        </p:spPr>
        <p:txBody>
          <a:bodyPr wrap="square" lIns="0" tIns="0" rIns="0" bIns="0" rtlCol="0" anchor="ctr"/>
          <a:lstStyle/>
          <a:p>
            <a:pPr indent="0" marL="0">
              <a:buNone/>
            </a:pPr>
            <a:r>
              <a:rPr lang="en-US" sz="1400" dirty="0">
                <a:solidFill>
                  <a:srgbClr val="5E7480"/>
                </a:solidFill>
                <a:latin typeface="Calibri" pitchFamily="34" charset="0"/>
                <a:ea typeface="Calibri" pitchFamily="34" charset="-122"/>
                <a:cs typeface="Calibri" pitchFamily="34" charset="-120"/>
              </a:rPr>
              <a:t>Jihozni topish qiyin</a:t>
            </a:r>
            <a:endParaRPr lang="en-US" sz="1400" dirty="0"/>
          </a:p>
        </p:txBody>
      </p:sp>
      <p:sp>
        <p:nvSpPr>
          <p:cNvPr id="18" name="Shape 13"/>
          <p:cNvSpPr/>
          <p:nvPr/>
        </p:nvSpPr>
        <p:spPr>
          <a:xfrm>
            <a:off x="4663440" y="3108960"/>
            <a:ext cx="3840480" cy="1463040"/>
          </a:xfrm>
          <a:prstGeom prst="roundRect">
            <a:avLst>
              <a:gd name="adj" fmla="val 7500"/>
            </a:avLst>
          </a:prstGeom>
          <a:solidFill>
            <a:srgbClr val="E8F4F3"/>
          </a:solidFill>
          <a:ln w="12700">
            <a:solidFill>
              <a:srgbClr val="E8F4F3"/>
            </a:solidFill>
            <a:prstDash val="solid"/>
          </a:ln>
        </p:spPr>
      </p:sp>
      <p:sp>
        <p:nvSpPr>
          <p:cNvPr id="19" name="Shape 14"/>
          <p:cNvSpPr/>
          <p:nvPr/>
        </p:nvSpPr>
        <p:spPr>
          <a:xfrm>
            <a:off x="4892040" y="3429000"/>
            <a:ext cx="822960" cy="822960"/>
          </a:xfrm>
          <a:prstGeom prst="ellipse">
            <a:avLst/>
          </a:prstGeom>
          <a:solidFill>
            <a:srgbClr val="C8553D"/>
          </a:solidFill>
          <a:ln w="12700">
            <a:solidFill>
              <a:srgbClr val="C8553D"/>
            </a:solidFill>
            <a:prstDash val="solid"/>
          </a:ln>
        </p:spPr>
      </p:sp>
      <p:pic>
        <p:nvPicPr>
          <p:cNvPr id="20" name="Image 3" descr="preencoded.png">    </p:cNvPr>
          <p:cNvPicPr>
            <a:picLocks noChangeAspect="1"/>
          </p:cNvPicPr>
          <p:nvPr/>
        </p:nvPicPr>
        <p:blipFill>
          <a:blip r:embed="rId4"/>
          <a:stretch>
            <a:fillRect/>
          </a:stretch>
        </p:blipFill>
        <p:spPr>
          <a:xfrm>
            <a:off x="5097780" y="3634740"/>
            <a:ext cx="411480" cy="411480"/>
          </a:xfrm>
          <a:prstGeom prst="rect">
            <a:avLst/>
          </a:prstGeom>
        </p:spPr>
      </p:pic>
      <p:sp>
        <p:nvSpPr>
          <p:cNvPr id="21" name="Text 15"/>
          <p:cNvSpPr txBox="1"/>
          <p:nvPr/>
        </p:nvSpPr>
        <p:spPr>
          <a:xfrm>
            <a:off x="5943600" y="3429000"/>
            <a:ext cx="2468880" cy="411480"/>
          </a:xfrm>
          <a:prstGeom prst="rect">
            <a:avLst/>
          </a:prstGeom>
          <a:noFill/>
          <a:ln/>
        </p:spPr>
        <p:txBody>
          <a:bodyPr wrap="square" lIns="0" tIns="0" rIns="0" bIns="0" rtlCol="0" anchor="ctr"/>
          <a:lstStyle/>
          <a:p>
            <a:pPr indent="0" marL="0">
              <a:buNone/>
            </a:pPr>
            <a:r>
              <a:rPr lang="en-US" sz="2000" b="1" dirty="0">
                <a:solidFill>
                  <a:srgbClr val="0B3C49"/>
                </a:solidFill>
                <a:latin typeface="Calibri" pitchFamily="34" charset="0"/>
                <a:ea typeface="Calibri" pitchFamily="34" charset="-122"/>
                <a:cs typeface="Calibri" pitchFamily="34" charset="-120"/>
              </a:rPr>
              <a:t>Uzoq inventarizatsiya</a:t>
            </a:r>
            <a:endParaRPr lang="en-US" sz="2000" dirty="0"/>
          </a:p>
        </p:txBody>
      </p:sp>
      <p:sp>
        <p:nvSpPr>
          <p:cNvPr id="22" name="Text 16"/>
          <p:cNvSpPr txBox="1"/>
          <p:nvPr/>
        </p:nvSpPr>
        <p:spPr>
          <a:xfrm>
            <a:off x="5943600" y="3886200"/>
            <a:ext cx="2468880" cy="457200"/>
          </a:xfrm>
          <a:prstGeom prst="rect">
            <a:avLst/>
          </a:prstGeom>
          <a:noFill/>
          <a:ln/>
        </p:spPr>
        <p:txBody>
          <a:bodyPr wrap="square" lIns="0" tIns="0" rIns="0" bIns="0" rtlCol="0" anchor="ctr"/>
          <a:lstStyle/>
          <a:p>
            <a:pPr indent="0" marL="0">
              <a:buNone/>
            </a:pPr>
            <a:r>
              <a:rPr lang="en-US" sz="1400" dirty="0">
                <a:solidFill>
                  <a:srgbClr val="5E7480"/>
                </a:solidFill>
                <a:latin typeface="Calibri" pitchFamily="34" charset="0"/>
                <a:ea typeface="Calibri" pitchFamily="34" charset="-122"/>
                <a:cs typeface="Calibri" pitchFamily="34" charset="-120"/>
              </a:rPr>
              <a:t>Haftalab qo'lda sanash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Maqsad va yechim</a:t>
            </a:r>
            <a:endParaRPr lang="en-US" sz="3600" dirty="0"/>
          </a:p>
        </p:txBody>
      </p:sp>
      <p:sp>
        <p:nvSpPr>
          <p:cNvPr id="3" name="Shape 1"/>
          <p:cNvSpPr/>
          <p:nvPr/>
        </p:nvSpPr>
        <p:spPr>
          <a:xfrm>
            <a:off x="548640" y="1371600"/>
            <a:ext cx="3840480" cy="2926080"/>
          </a:xfrm>
          <a:prstGeom prst="roundRect">
            <a:avLst>
              <a:gd name="adj" fmla="val 3750"/>
            </a:avLst>
          </a:prstGeom>
          <a:solidFill>
            <a:srgbClr val="F6E3DE"/>
          </a:solidFill>
          <a:ln w="12700">
            <a:solidFill>
              <a:srgbClr val="F6E3DE"/>
            </a:solidFill>
            <a:prstDash val="solid"/>
          </a:ln>
        </p:spPr>
      </p:sp>
      <p:sp>
        <p:nvSpPr>
          <p:cNvPr id="4" name="Shape 2"/>
          <p:cNvSpPr/>
          <p:nvPr/>
        </p:nvSpPr>
        <p:spPr>
          <a:xfrm>
            <a:off x="4754880" y="1371600"/>
            <a:ext cx="3840480" cy="2926080"/>
          </a:xfrm>
          <a:prstGeom prst="roundRect">
            <a:avLst>
              <a:gd name="adj" fmla="val 3750"/>
            </a:avLst>
          </a:prstGeom>
          <a:solidFill>
            <a:srgbClr val="E8F4F3"/>
          </a:solidFill>
          <a:ln w="12700">
            <a:solidFill>
              <a:srgbClr val="E8F4F3"/>
            </a:solidFill>
            <a:prstDash val="solid"/>
          </a:ln>
        </p:spPr>
      </p:sp>
      <p:sp>
        <p:nvSpPr>
          <p:cNvPr id="5" name="Text 3"/>
          <p:cNvSpPr txBox="1"/>
          <p:nvPr/>
        </p:nvSpPr>
        <p:spPr>
          <a:xfrm>
            <a:off x="822960" y="1554480"/>
            <a:ext cx="3291840" cy="457200"/>
          </a:xfrm>
          <a:prstGeom prst="rect">
            <a:avLst/>
          </a:prstGeom>
          <a:noFill/>
          <a:ln/>
        </p:spPr>
        <p:txBody>
          <a:bodyPr wrap="square" lIns="0" tIns="0" rIns="0" bIns="0" rtlCol="0" anchor="ctr"/>
          <a:lstStyle/>
          <a:p>
            <a:pPr indent="0" marL="0">
              <a:buNone/>
            </a:pPr>
            <a:r>
              <a:rPr lang="en-US" sz="2200" b="1" dirty="0">
                <a:solidFill>
                  <a:srgbClr val="C8553D"/>
                </a:solidFill>
                <a:latin typeface="Calibri" pitchFamily="34" charset="0"/>
                <a:ea typeface="Calibri" pitchFamily="34" charset="-122"/>
                <a:cs typeface="Calibri" pitchFamily="34" charset="-120"/>
              </a:rPr>
              <a:t>Maqsad</a:t>
            </a:r>
            <a:endParaRPr lang="en-US" sz="2200" dirty="0"/>
          </a:p>
        </p:txBody>
      </p:sp>
      <p:sp>
        <p:nvSpPr>
          <p:cNvPr id="6" name="Text 4"/>
          <p:cNvSpPr txBox="1"/>
          <p:nvPr/>
        </p:nvSpPr>
        <p:spPr>
          <a:xfrm>
            <a:off x="822960" y="2103120"/>
            <a:ext cx="3291840" cy="1463040"/>
          </a:xfrm>
          <a:prstGeom prst="rect">
            <a:avLst/>
          </a:prstGeom>
          <a:noFill/>
          <a:ln/>
        </p:spPr>
        <p:txBody>
          <a:bodyPr wrap="square" lIns="0" tIns="0" rIns="0" bIns="0" rtlCol="0" anchor="ctr"/>
          <a:lstStyle/>
          <a:p>
            <a:pPr indent="0" marL="0">
              <a:buNone/>
            </a:pPr>
            <a:r>
              <a:rPr lang="en-US" sz="2000" dirty="0">
                <a:solidFill>
                  <a:srgbClr val="1B2B34"/>
                </a:solidFill>
                <a:latin typeface="Calibri" pitchFamily="34" charset="0"/>
                <a:ea typeface="Calibri" pitchFamily="34" charset="-122"/>
                <a:cs typeface="Calibri" pitchFamily="34" charset="-120"/>
              </a:rPr>
              <a:t>Jihozlarni elektron hisobga olish web-tizimini yaratish</a:t>
            </a:r>
            <a:endParaRPr lang="en-US" sz="2000" dirty="0"/>
          </a:p>
        </p:txBody>
      </p:sp>
      <p:sp>
        <p:nvSpPr>
          <p:cNvPr id="7" name="Text 5"/>
          <p:cNvSpPr txBox="1"/>
          <p:nvPr/>
        </p:nvSpPr>
        <p:spPr>
          <a:xfrm>
            <a:off x="5029200" y="1554480"/>
            <a:ext cx="3291840" cy="457200"/>
          </a:xfrm>
          <a:prstGeom prst="rect">
            <a:avLst/>
          </a:prstGeom>
          <a:noFill/>
          <a:ln/>
        </p:spPr>
        <p:txBody>
          <a:bodyPr wrap="square" lIns="0" tIns="0" rIns="0" bIns="0" rtlCol="0" anchor="ctr"/>
          <a:lstStyle/>
          <a:p>
            <a:pPr indent="0" marL="0">
              <a:buNone/>
            </a:pPr>
            <a:r>
              <a:rPr lang="en-US" sz="2200" b="1" dirty="0">
                <a:solidFill>
                  <a:srgbClr val="0E7C86"/>
                </a:solidFill>
                <a:latin typeface="Calibri" pitchFamily="34" charset="0"/>
                <a:ea typeface="Calibri" pitchFamily="34" charset="-122"/>
                <a:cs typeface="Calibri" pitchFamily="34" charset="-120"/>
              </a:rPr>
              <a:t>Yechim</a:t>
            </a:r>
            <a:endParaRPr lang="en-US" sz="2200" dirty="0"/>
          </a:p>
        </p:txBody>
      </p:sp>
      <p:sp>
        <p:nvSpPr>
          <p:cNvPr id="8" name="Text 6"/>
          <p:cNvSpPr txBox="1"/>
          <p:nvPr/>
        </p:nvSpPr>
        <p:spPr>
          <a:xfrm>
            <a:off x="5029200" y="2103120"/>
            <a:ext cx="3291840" cy="2011680"/>
          </a:xfrm>
          <a:prstGeom prst="rect">
            <a:avLst/>
          </a:prstGeom>
          <a:noFill/>
          <a:ln/>
        </p:spPr>
        <p:txBody>
          <a:bodyPr wrap="square" lIns="0" tIns="0" rIns="0" bIns="0" rtlCol="0" anchor="ctr"/>
          <a:lstStyle/>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Yagona baza</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Avtomatik inventar raqam</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To'liq o'zgarishlar tarixi</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Bir tugmada hisobot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Asosiy funksiyalar</a:t>
            </a:r>
            <a:endParaRPr lang="en-US" sz="3600" dirty="0"/>
          </a:p>
        </p:txBody>
      </p:sp>
      <p:sp>
        <p:nvSpPr>
          <p:cNvPr id="3" name="Shape 1"/>
          <p:cNvSpPr/>
          <p:nvPr/>
        </p:nvSpPr>
        <p:spPr>
          <a:xfrm>
            <a:off x="548640" y="1371600"/>
            <a:ext cx="3840480" cy="1463040"/>
          </a:xfrm>
          <a:prstGeom prst="roundRect">
            <a:avLst>
              <a:gd name="adj" fmla="val 7500"/>
            </a:avLst>
          </a:prstGeom>
          <a:solidFill>
            <a:srgbClr val="E8F4F3"/>
          </a:solidFill>
          <a:ln w="12700">
            <a:solidFill>
              <a:srgbClr val="E8F4F3"/>
            </a:solidFill>
            <a:prstDash val="solid"/>
          </a:ln>
        </p:spPr>
      </p:sp>
      <p:sp>
        <p:nvSpPr>
          <p:cNvPr id="4" name="Shape 2"/>
          <p:cNvSpPr/>
          <p:nvPr/>
        </p:nvSpPr>
        <p:spPr>
          <a:xfrm>
            <a:off x="777240" y="1691640"/>
            <a:ext cx="822960" cy="822960"/>
          </a:xfrm>
          <a:prstGeom prst="ellipse">
            <a:avLst/>
          </a:prstGeom>
          <a:solidFill>
            <a:srgbClr val="0E7C86"/>
          </a:solidFill>
          <a:ln w="12700">
            <a:solidFill>
              <a:srgbClr val="0E7C86"/>
            </a:solidFill>
            <a:prstDash val="solid"/>
          </a:ln>
        </p:spPr>
      </p:sp>
      <p:pic>
        <p:nvPicPr>
          <p:cNvPr id="5" name="Image 0" descr="preencoded.png">    </p:cNvPr>
          <p:cNvPicPr>
            <a:picLocks noChangeAspect="1"/>
          </p:cNvPicPr>
          <p:nvPr/>
        </p:nvPicPr>
        <p:blipFill>
          <a:blip r:embed="rId1"/>
          <a:stretch>
            <a:fillRect/>
          </a:stretch>
        </p:blipFill>
        <p:spPr>
          <a:xfrm>
            <a:off x="982980" y="1897380"/>
            <a:ext cx="411480" cy="411480"/>
          </a:xfrm>
          <a:prstGeom prst="rect">
            <a:avLst/>
          </a:prstGeom>
        </p:spPr>
      </p:pic>
      <p:sp>
        <p:nvSpPr>
          <p:cNvPr id="6" name="Text 3"/>
          <p:cNvSpPr txBox="1"/>
          <p:nvPr/>
        </p:nvSpPr>
        <p:spPr>
          <a:xfrm>
            <a:off x="1828800" y="1645920"/>
            <a:ext cx="2468880" cy="411480"/>
          </a:xfrm>
          <a:prstGeom prst="rect">
            <a:avLst/>
          </a:prstGeom>
          <a:noFill/>
          <a:ln/>
        </p:spPr>
        <p:txBody>
          <a:bodyPr wrap="square" lIns="0" tIns="0" rIns="0" bIns="0" rtlCol="0" anchor="ctr"/>
          <a:lstStyle/>
          <a:p>
            <a:pPr indent="0" marL="0">
              <a:buNone/>
            </a:pPr>
            <a:r>
              <a:rPr lang="en-US" sz="2000" b="1" dirty="0">
                <a:solidFill>
                  <a:srgbClr val="0B3C49"/>
                </a:solidFill>
                <a:latin typeface="Calibri" pitchFamily="34" charset="0"/>
                <a:ea typeface="Calibri" pitchFamily="34" charset="-122"/>
                <a:cs typeface="Calibri" pitchFamily="34" charset="-120"/>
              </a:rPr>
              <a:t>Hisobga olish</a:t>
            </a:r>
            <a:endParaRPr lang="en-US" sz="2000" dirty="0"/>
          </a:p>
        </p:txBody>
      </p:sp>
      <p:sp>
        <p:nvSpPr>
          <p:cNvPr id="7" name="Text 4"/>
          <p:cNvSpPr txBox="1"/>
          <p:nvPr/>
        </p:nvSpPr>
        <p:spPr>
          <a:xfrm>
            <a:off x="1828800" y="2103120"/>
            <a:ext cx="2468880" cy="594360"/>
          </a:xfrm>
          <a:prstGeom prst="rect">
            <a:avLst/>
          </a:prstGeom>
          <a:noFill/>
          <a:ln/>
        </p:spPr>
        <p:txBody>
          <a:bodyPr wrap="square" lIns="0" tIns="0" rIns="0" bIns="0" rtlCol="0" anchor="ctr"/>
          <a:lstStyle/>
          <a:p>
            <a:pPr indent="0" marL="0">
              <a:buNone/>
            </a:pPr>
            <a:r>
              <a:rPr lang="en-US" sz="1400" dirty="0">
                <a:solidFill>
                  <a:srgbClr val="5E7480"/>
                </a:solidFill>
                <a:latin typeface="Calibri" pitchFamily="34" charset="0"/>
                <a:ea typeface="Calibri" pitchFamily="34" charset="-122"/>
                <a:cs typeface="Calibri" pitchFamily="34" charset="-120"/>
              </a:rPr>
              <a:t>Qo'shish, tahrirlash, arxivlash, INV-2026-0001</a:t>
            </a:r>
            <a:endParaRPr lang="en-US" sz="1400" dirty="0"/>
          </a:p>
        </p:txBody>
      </p:sp>
      <p:sp>
        <p:nvSpPr>
          <p:cNvPr id="8" name="Shape 5"/>
          <p:cNvSpPr/>
          <p:nvPr/>
        </p:nvSpPr>
        <p:spPr>
          <a:xfrm>
            <a:off x="4663440" y="1371600"/>
            <a:ext cx="3840480" cy="1463040"/>
          </a:xfrm>
          <a:prstGeom prst="roundRect">
            <a:avLst>
              <a:gd name="adj" fmla="val 7500"/>
            </a:avLst>
          </a:prstGeom>
          <a:solidFill>
            <a:srgbClr val="E8F4F3"/>
          </a:solidFill>
          <a:ln w="12700">
            <a:solidFill>
              <a:srgbClr val="E8F4F3"/>
            </a:solidFill>
            <a:prstDash val="solid"/>
          </a:ln>
        </p:spPr>
      </p:sp>
      <p:sp>
        <p:nvSpPr>
          <p:cNvPr id="9" name="Shape 6"/>
          <p:cNvSpPr/>
          <p:nvPr/>
        </p:nvSpPr>
        <p:spPr>
          <a:xfrm>
            <a:off x="4892040" y="1691640"/>
            <a:ext cx="822960" cy="822960"/>
          </a:xfrm>
          <a:prstGeom prst="ellipse">
            <a:avLst/>
          </a:prstGeom>
          <a:solidFill>
            <a:srgbClr val="0E7C86"/>
          </a:solidFill>
          <a:ln w="12700">
            <a:solidFill>
              <a:srgbClr val="0E7C86"/>
            </a:solidFill>
            <a:prstDash val="solid"/>
          </a:ln>
        </p:spPr>
      </p:sp>
      <p:pic>
        <p:nvPicPr>
          <p:cNvPr id="10" name="Image 1" descr="preencoded.png">    </p:cNvPr>
          <p:cNvPicPr>
            <a:picLocks noChangeAspect="1"/>
          </p:cNvPicPr>
          <p:nvPr/>
        </p:nvPicPr>
        <p:blipFill>
          <a:blip r:embed="rId2"/>
          <a:stretch>
            <a:fillRect/>
          </a:stretch>
        </p:blipFill>
        <p:spPr>
          <a:xfrm>
            <a:off x="5097780" y="1897380"/>
            <a:ext cx="411480" cy="411480"/>
          </a:xfrm>
          <a:prstGeom prst="rect">
            <a:avLst/>
          </a:prstGeom>
        </p:spPr>
      </p:pic>
      <p:sp>
        <p:nvSpPr>
          <p:cNvPr id="11" name="Text 7"/>
          <p:cNvSpPr txBox="1"/>
          <p:nvPr/>
        </p:nvSpPr>
        <p:spPr>
          <a:xfrm>
            <a:off x="5943600" y="1645920"/>
            <a:ext cx="2468880" cy="411480"/>
          </a:xfrm>
          <a:prstGeom prst="rect">
            <a:avLst/>
          </a:prstGeom>
          <a:noFill/>
          <a:ln/>
        </p:spPr>
        <p:txBody>
          <a:bodyPr wrap="square" lIns="0" tIns="0" rIns="0" bIns="0" rtlCol="0" anchor="ctr"/>
          <a:lstStyle/>
          <a:p>
            <a:pPr indent="0" marL="0">
              <a:buNone/>
            </a:pPr>
            <a:r>
              <a:rPr lang="en-US" sz="2000" b="1" dirty="0">
                <a:solidFill>
                  <a:srgbClr val="0B3C49"/>
                </a:solidFill>
                <a:latin typeface="Calibri" pitchFamily="34" charset="0"/>
                <a:ea typeface="Calibri" pitchFamily="34" charset="-122"/>
                <a:cs typeface="Calibri" pitchFamily="34" charset="-120"/>
              </a:rPr>
              <a:t>Joylashuv va mas'ul</a:t>
            </a:r>
            <a:endParaRPr lang="en-US" sz="2000" dirty="0"/>
          </a:p>
        </p:txBody>
      </p:sp>
      <p:sp>
        <p:nvSpPr>
          <p:cNvPr id="12" name="Text 8"/>
          <p:cNvSpPr txBox="1"/>
          <p:nvPr/>
        </p:nvSpPr>
        <p:spPr>
          <a:xfrm>
            <a:off x="5943600" y="2103120"/>
            <a:ext cx="2468880" cy="594360"/>
          </a:xfrm>
          <a:prstGeom prst="rect">
            <a:avLst/>
          </a:prstGeom>
          <a:noFill/>
          <a:ln/>
        </p:spPr>
        <p:txBody>
          <a:bodyPr wrap="square" lIns="0" tIns="0" rIns="0" bIns="0" rtlCol="0" anchor="ctr"/>
          <a:lstStyle/>
          <a:p>
            <a:pPr indent="0" marL="0">
              <a:buNone/>
            </a:pPr>
            <a:r>
              <a:rPr lang="en-US" sz="1400" dirty="0">
                <a:solidFill>
                  <a:srgbClr val="5E7480"/>
                </a:solidFill>
                <a:latin typeface="Calibri" pitchFamily="34" charset="0"/>
                <a:ea typeface="Calibri" pitchFamily="34" charset="-122"/>
                <a:cs typeface="Calibri" pitchFamily="34" charset="-120"/>
              </a:rPr>
              <a:t>Xona, bo'lim, mas'ul shaxs</a:t>
            </a:r>
            <a:endParaRPr lang="en-US" sz="1400" dirty="0"/>
          </a:p>
        </p:txBody>
      </p:sp>
      <p:sp>
        <p:nvSpPr>
          <p:cNvPr id="13" name="Shape 9"/>
          <p:cNvSpPr/>
          <p:nvPr/>
        </p:nvSpPr>
        <p:spPr>
          <a:xfrm>
            <a:off x="548640" y="3108960"/>
            <a:ext cx="3840480" cy="1463040"/>
          </a:xfrm>
          <a:prstGeom prst="roundRect">
            <a:avLst>
              <a:gd name="adj" fmla="val 7500"/>
            </a:avLst>
          </a:prstGeom>
          <a:solidFill>
            <a:srgbClr val="E8F4F3"/>
          </a:solidFill>
          <a:ln w="12700">
            <a:solidFill>
              <a:srgbClr val="E8F4F3"/>
            </a:solidFill>
            <a:prstDash val="solid"/>
          </a:ln>
        </p:spPr>
      </p:sp>
      <p:sp>
        <p:nvSpPr>
          <p:cNvPr id="14" name="Shape 10"/>
          <p:cNvSpPr/>
          <p:nvPr/>
        </p:nvSpPr>
        <p:spPr>
          <a:xfrm>
            <a:off x="777240" y="3429000"/>
            <a:ext cx="822960" cy="822960"/>
          </a:xfrm>
          <a:prstGeom prst="ellipse">
            <a:avLst/>
          </a:prstGeom>
          <a:solidFill>
            <a:srgbClr val="0E7C86"/>
          </a:solidFill>
          <a:ln w="12700">
            <a:solidFill>
              <a:srgbClr val="0E7C86"/>
            </a:solidFill>
            <a:prstDash val="solid"/>
          </a:ln>
        </p:spPr>
      </p:sp>
      <p:pic>
        <p:nvPicPr>
          <p:cNvPr id="15" name="Image 2" descr="preencoded.png">    </p:cNvPr>
          <p:cNvPicPr>
            <a:picLocks noChangeAspect="1"/>
          </p:cNvPicPr>
          <p:nvPr/>
        </p:nvPicPr>
        <p:blipFill>
          <a:blip r:embed="rId3"/>
          <a:stretch>
            <a:fillRect/>
          </a:stretch>
        </p:blipFill>
        <p:spPr>
          <a:xfrm>
            <a:off x="982980" y="3634740"/>
            <a:ext cx="411480" cy="411480"/>
          </a:xfrm>
          <a:prstGeom prst="rect">
            <a:avLst/>
          </a:prstGeom>
        </p:spPr>
      </p:pic>
      <p:sp>
        <p:nvSpPr>
          <p:cNvPr id="16" name="Text 11"/>
          <p:cNvSpPr txBox="1"/>
          <p:nvPr/>
        </p:nvSpPr>
        <p:spPr>
          <a:xfrm>
            <a:off x="1828800" y="3383280"/>
            <a:ext cx="2468880" cy="411480"/>
          </a:xfrm>
          <a:prstGeom prst="rect">
            <a:avLst/>
          </a:prstGeom>
          <a:noFill/>
          <a:ln/>
        </p:spPr>
        <p:txBody>
          <a:bodyPr wrap="square" lIns="0" tIns="0" rIns="0" bIns="0" rtlCol="0" anchor="ctr"/>
          <a:lstStyle/>
          <a:p>
            <a:pPr indent="0" marL="0">
              <a:buNone/>
            </a:pPr>
            <a:r>
              <a:rPr lang="en-US" sz="2000" b="1" dirty="0">
                <a:solidFill>
                  <a:srgbClr val="0B3C49"/>
                </a:solidFill>
                <a:latin typeface="Calibri" pitchFamily="34" charset="0"/>
                <a:ea typeface="Calibri" pitchFamily="34" charset="-122"/>
                <a:cs typeface="Calibri" pitchFamily="34" charset="-120"/>
              </a:rPr>
              <a:t>Holat va ta'mir</a:t>
            </a:r>
            <a:endParaRPr lang="en-US" sz="2000" dirty="0"/>
          </a:p>
        </p:txBody>
      </p:sp>
      <p:sp>
        <p:nvSpPr>
          <p:cNvPr id="17" name="Text 12"/>
          <p:cNvSpPr txBox="1"/>
          <p:nvPr/>
        </p:nvSpPr>
        <p:spPr>
          <a:xfrm>
            <a:off x="1828800" y="3840480"/>
            <a:ext cx="2468880" cy="594360"/>
          </a:xfrm>
          <a:prstGeom prst="rect">
            <a:avLst/>
          </a:prstGeom>
          <a:noFill/>
          <a:ln/>
        </p:spPr>
        <p:txBody>
          <a:bodyPr wrap="square" lIns="0" tIns="0" rIns="0" bIns="0" rtlCol="0" anchor="ctr"/>
          <a:lstStyle/>
          <a:p>
            <a:pPr indent="0" marL="0">
              <a:buNone/>
            </a:pPr>
            <a:r>
              <a:rPr lang="en-US" sz="1400" dirty="0">
                <a:solidFill>
                  <a:srgbClr val="5E7480"/>
                </a:solidFill>
                <a:latin typeface="Calibri" pitchFamily="34" charset="0"/>
                <a:ea typeface="Calibri" pitchFamily="34" charset="-122"/>
                <a:cs typeface="Calibri" pitchFamily="34" charset="-120"/>
              </a:rPr>
              <a:t>Texnik holat, ta'mir qaydlari</a:t>
            </a:r>
            <a:endParaRPr lang="en-US" sz="1400" dirty="0"/>
          </a:p>
        </p:txBody>
      </p:sp>
      <p:sp>
        <p:nvSpPr>
          <p:cNvPr id="18" name="Shape 13"/>
          <p:cNvSpPr/>
          <p:nvPr/>
        </p:nvSpPr>
        <p:spPr>
          <a:xfrm>
            <a:off x="4663440" y="3108960"/>
            <a:ext cx="3840480" cy="1463040"/>
          </a:xfrm>
          <a:prstGeom prst="roundRect">
            <a:avLst>
              <a:gd name="adj" fmla="val 7500"/>
            </a:avLst>
          </a:prstGeom>
          <a:solidFill>
            <a:srgbClr val="E8F4F3"/>
          </a:solidFill>
          <a:ln w="12700">
            <a:solidFill>
              <a:srgbClr val="E8F4F3"/>
            </a:solidFill>
            <a:prstDash val="solid"/>
          </a:ln>
        </p:spPr>
      </p:sp>
      <p:sp>
        <p:nvSpPr>
          <p:cNvPr id="19" name="Shape 14"/>
          <p:cNvSpPr/>
          <p:nvPr/>
        </p:nvSpPr>
        <p:spPr>
          <a:xfrm>
            <a:off x="4892040" y="3429000"/>
            <a:ext cx="822960" cy="822960"/>
          </a:xfrm>
          <a:prstGeom prst="ellipse">
            <a:avLst/>
          </a:prstGeom>
          <a:solidFill>
            <a:srgbClr val="0E7C86"/>
          </a:solidFill>
          <a:ln w="12700">
            <a:solidFill>
              <a:srgbClr val="0E7C86"/>
            </a:solidFill>
            <a:prstDash val="solid"/>
          </a:ln>
        </p:spPr>
      </p:sp>
      <p:pic>
        <p:nvPicPr>
          <p:cNvPr id="20" name="Image 3" descr="preencoded.png">    </p:cNvPr>
          <p:cNvPicPr>
            <a:picLocks noChangeAspect="1"/>
          </p:cNvPicPr>
          <p:nvPr/>
        </p:nvPicPr>
        <p:blipFill>
          <a:blip r:embed="rId4"/>
          <a:stretch>
            <a:fillRect/>
          </a:stretch>
        </p:blipFill>
        <p:spPr>
          <a:xfrm>
            <a:off x="5097780" y="3634740"/>
            <a:ext cx="411480" cy="411480"/>
          </a:xfrm>
          <a:prstGeom prst="rect">
            <a:avLst/>
          </a:prstGeom>
        </p:spPr>
      </p:pic>
      <p:sp>
        <p:nvSpPr>
          <p:cNvPr id="21" name="Text 15"/>
          <p:cNvSpPr txBox="1"/>
          <p:nvPr/>
        </p:nvSpPr>
        <p:spPr>
          <a:xfrm>
            <a:off x="5943600" y="3383280"/>
            <a:ext cx="2468880" cy="411480"/>
          </a:xfrm>
          <a:prstGeom prst="rect">
            <a:avLst/>
          </a:prstGeom>
          <a:noFill/>
          <a:ln/>
        </p:spPr>
        <p:txBody>
          <a:bodyPr wrap="square" lIns="0" tIns="0" rIns="0" bIns="0" rtlCol="0" anchor="ctr"/>
          <a:lstStyle/>
          <a:p>
            <a:pPr indent="0" marL="0">
              <a:buNone/>
            </a:pPr>
            <a:r>
              <a:rPr lang="en-US" sz="2000" b="1" dirty="0">
                <a:solidFill>
                  <a:srgbClr val="0B3C49"/>
                </a:solidFill>
                <a:latin typeface="Calibri" pitchFamily="34" charset="0"/>
                <a:ea typeface="Calibri" pitchFamily="34" charset="-122"/>
                <a:cs typeface="Calibri" pitchFamily="34" charset="-120"/>
              </a:rPr>
              <a:t>Tarix va hisobot</a:t>
            </a:r>
            <a:endParaRPr lang="en-US" sz="2000" dirty="0"/>
          </a:p>
        </p:txBody>
      </p:sp>
      <p:sp>
        <p:nvSpPr>
          <p:cNvPr id="22" name="Text 16"/>
          <p:cNvSpPr txBox="1"/>
          <p:nvPr/>
        </p:nvSpPr>
        <p:spPr>
          <a:xfrm>
            <a:off x="5943600" y="3840480"/>
            <a:ext cx="2468880" cy="594360"/>
          </a:xfrm>
          <a:prstGeom prst="rect">
            <a:avLst/>
          </a:prstGeom>
          <a:noFill/>
          <a:ln/>
        </p:spPr>
        <p:txBody>
          <a:bodyPr wrap="square" lIns="0" tIns="0" rIns="0" bIns="0" rtlCol="0" anchor="ctr"/>
          <a:lstStyle/>
          <a:p>
            <a:pPr indent="0" marL="0">
              <a:buNone/>
            </a:pPr>
            <a:r>
              <a:rPr lang="en-US" sz="1400" dirty="0">
                <a:solidFill>
                  <a:srgbClr val="5E7480"/>
                </a:solidFill>
                <a:latin typeface="Calibri" pitchFamily="34" charset="0"/>
                <a:ea typeface="Calibri" pitchFamily="34" charset="-122"/>
                <a:cs typeface="Calibri" pitchFamily="34" charset="-120"/>
              </a:rPr>
              <a:t>Timeline, Excel/PDF, QR-kod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Hisobga olinadigan jihozlar</a:t>
            </a:r>
            <a:endParaRPr lang="en-US" sz="3600" dirty="0"/>
          </a:p>
        </p:txBody>
      </p:sp>
      <p:sp>
        <p:nvSpPr>
          <p:cNvPr id="3" name="Shape 1"/>
          <p:cNvSpPr/>
          <p:nvPr/>
        </p:nvSpPr>
        <p:spPr>
          <a:xfrm>
            <a:off x="1143000" y="1463040"/>
            <a:ext cx="914400" cy="914400"/>
          </a:xfrm>
          <a:prstGeom prst="ellipse">
            <a:avLst/>
          </a:prstGeom>
          <a:solidFill>
            <a:srgbClr val="0E7C86"/>
          </a:solidFill>
          <a:ln w="12700">
            <a:solidFill>
              <a:srgbClr val="0E7C86"/>
            </a:solidFill>
            <a:prstDash val="solid"/>
          </a:ln>
        </p:spPr>
      </p:sp>
      <p:pic>
        <p:nvPicPr>
          <p:cNvPr id="4" name="Image 0" descr="preencoded.png">    </p:cNvPr>
          <p:cNvPicPr>
            <a:picLocks noChangeAspect="1"/>
          </p:cNvPicPr>
          <p:nvPr/>
        </p:nvPicPr>
        <p:blipFill>
          <a:blip r:embed="rId1"/>
          <a:stretch>
            <a:fillRect/>
          </a:stretch>
        </p:blipFill>
        <p:spPr>
          <a:xfrm>
            <a:off x="1371600" y="1691640"/>
            <a:ext cx="457200" cy="457200"/>
          </a:xfrm>
          <a:prstGeom prst="rect">
            <a:avLst/>
          </a:prstGeom>
        </p:spPr>
      </p:pic>
      <p:sp>
        <p:nvSpPr>
          <p:cNvPr id="5" name="Text 2"/>
          <p:cNvSpPr txBox="1"/>
          <p:nvPr/>
        </p:nvSpPr>
        <p:spPr>
          <a:xfrm>
            <a:off x="731520" y="2468880"/>
            <a:ext cx="17373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Kompyuter</a:t>
            </a:r>
            <a:endParaRPr lang="en-US" sz="1600" dirty="0"/>
          </a:p>
        </p:txBody>
      </p:sp>
      <p:sp>
        <p:nvSpPr>
          <p:cNvPr id="6" name="Shape 3"/>
          <p:cNvSpPr/>
          <p:nvPr/>
        </p:nvSpPr>
        <p:spPr>
          <a:xfrm>
            <a:off x="3154680" y="1463040"/>
            <a:ext cx="914400" cy="914400"/>
          </a:xfrm>
          <a:prstGeom prst="ellipse">
            <a:avLst/>
          </a:prstGeom>
          <a:solidFill>
            <a:srgbClr val="0E7C86"/>
          </a:solidFill>
          <a:ln w="12700">
            <a:solidFill>
              <a:srgbClr val="0E7C86"/>
            </a:solidFill>
            <a:prstDash val="solid"/>
          </a:ln>
        </p:spPr>
      </p:sp>
      <p:pic>
        <p:nvPicPr>
          <p:cNvPr id="7" name="Image 1" descr="preencoded.png">    </p:cNvPr>
          <p:cNvPicPr>
            <a:picLocks noChangeAspect="1"/>
          </p:cNvPicPr>
          <p:nvPr/>
        </p:nvPicPr>
        <p:blipFill>
          <a:blip r:embed="rId2"/>
          <a:stretch>
            <a:fillRect/>
          </a:stretch>
        </p:blipFill>
        <p:spPr>
          <a:xfrm>
            <a:off x="3383280" y="1691640"/>
            <a:ext cx="457200" cy="457200"/>
          </a:xfrm>
          <a:prstGeom prst="rect">
            <a:avLst/>
          </a:prstGeom>
        </p:spPr>
      </p:pic>
      <p:sp>
        <p:nvSpPr>
          <p:cNvPr id="8" name="Text 4"/>
          <p:cNvSpPr txBox="1"/>
          <p:nvPr/>
        </p:nvSpPr>
        <p:spPr>
          <a:xfrm>
            <a:off x="2743200" y="2468880"/>
            <a:ext cx="17373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Monitor</a:t>
            </a:r>
            <a:endParaRPr lang="en-US" sz="1600" dirty="0"/>
          </a:p>
        </p:txBody>
      </p:sp>
      <p:sp>
        <p:nvSpPr>
          <p:cNvPr id="9" name="Shape 5"/>
          <p:cNvSpPr/>
          <p:nvPr/>
        </p:nvSpPr>
        <p:spPr>
          <a:xfrm>
            <a:off x="5166360" y="1463040"/>
            <a:ext cx="914400" cy="914400"/>
          </a:xfrm>
          <a:prstGeom prst="ellipse">
            <a:avLst/>
          </a:prstGeom>
          <a:solidFill>
            <a:srgbClr val="0E7C86"/>
          </a:solidFill>
          <a:ln w="12700">
            <a:solidFill>
              <a:srgbClr val="0E7C86"/>
            </a:solidFill>
            <a:prstDash val="solid"/>
          </a:ln>
        </p:spPr>
      </p:sp>
      <p:pic>
        <p:nvPicPr>
          <p:cNvPr id="10" name="Image 2" descr="preencoded.png">    </p:cNvPr>
          <p:cNvPicPr>
            <a:picLocks noChangeAspect="1"/>
          </p:cNvPicPr>
          <p:nvPr/>
        </p:nvPicPr>
        <p:blipFill>
          <a:blip r:embed="rId3"/>
          <a:stretch>
            <a:fillRect/>
          </a:stretch>
        </p:blipFill>
        <p:spPr>
          <a:xfrm>
            <a:off x="5394960" y="1691640"/>
            <a:ext cx="457200" cy="457200"/>
          </a:xfrm>
          <a:prstGeom prst="rect">
            <a:avLst/>
          </a:prstGeom>
        </p:spPr>
      </p:pic>
      <p:sp>
        <p:nvSpPr>
          <p:cNvPr id="11" name="Text 6"/>
          <p:cNvSpPr txBox="1"/>
          <p:nvPr/>
        </p:nvSpPr>
        <p:spPr>
          <a:xfrm>
            <a:off x="4754880" y="2468880"/>
            <a:ext cx="17373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Printer</a:t>
            </a:r>
            <a:endParaRPr lang="en-US" sz="1600" dirty="0"/>
          </a:p>
        </p:txBody>
      </p:sp>
      <p:sp>
        <p:nvSpPr>
          <p:cNvPr id="12" name="Shape 7"/>
          <p:cNvSpPr/>
          <p:nvPr/>
        </p:nvSpPr>
        <p:spPr>
          <a:xfrm>
            <a:off x="7178040" y="1463040"/>
            <a:ext cx="914400" cy="914400"/>
          </a:xfrm>
          <a:prstGeom prst="ellipse">
            <a:avLst/>
          </a:prstGeom>
          <a:solidFill>
            <a:srgbClr val="0E7C86"/>
          </a:solidFill>
          <a:ln w="12700">
            <a:solidFill>
              <a:srgbClr val="0E7C86"/>
            </a:solidFill>
            <a:prstDash val="solid"/>
          </a:ln>
        </p:spPr>
      </p:sp>
      <p:pic>
        <p:nvPicPr>
          <p:cNvPr id="13" name="Image 3" descr="preencoded.png">    </p:cNvPr>
          <p:cNvPicPr>
            <a:picLocks noChangeAspect="1"/>
          </p:cNvPicPr>
          <p:nvPr/>
        </p:nvPicPr>
        <p:blipFill>
          <a:blip r:embed="rId4"/>
          <a:stretch>
            <a:fillRect/>
          </a:stretch>
        </p:blipFill>
        <p:spPr>
          <a:xfrm>
            <a:off x="7406640" y="1691640"/>
            <a:ext cx="457200" cy="457200"/>
          </a:xfrm>
          <a:prstGeom prst="rect">
            <a:avLst/>
          </a:prstGeom>
        </p:spPr>
      </p:pic>
      <p:sp>
        <p:nvSpPr>
          <p:cNvPr id="14" name="Text 8"/>
          <p:cNvSpPr txBox="1"/>
          <p:nvPr/>
        </p:nvSpPr>
        <p:spPr>
          <a:xfrm>
            <a:off x="6766560" y="2468880"/>
            <a:ext cx="17373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Proyektor</a:t>
            </a:r>
            <a:endParaRPr lang="en-US" sz="1600" dirty="0"/>
          </a:p>
        </p:txBody>
      </p:sp>
      <p:sp>
        <p:nvSpPr>
          <p:cNvPr id="15" name="Shape 9"/>
          <p:cNvSpPr/>
          <p:nvPr/>
        </p:nvSpPr>
        <p:spPr>
          <a:xfrm>
            <a:off x="1143000" y="3017520"/>
            <a:ext cx="914400" cy="914400"/>
          </a:xfrm>
          <a:prstGeom prst="ellipse">
            <a:avLst/>
          </a:prstGeom>
          <a:solidFill>
            <a:srgbClr val="0E7C86"/>
          </a:solidFill>
          <a:ln w="12700">
            <a:solidFill>
              <a:srgbClr val="0E7C86"/>
            </a:solidFill>
            <a:prstDash val="solid"/>
          </a:ln>
        </p:spPr>
      </p:sp>
      <p:pic>
        <p:nvPicPr>
          <p:cNvPr id="16" name="Image 4" descr="preencoded.png">    </p:cNvPr>
          <p:cNvPicPr>
            <a:picLocks noChangeAspect="1"/>
          </p:cNvPicPr>
          <p:nvPr/>
        </p:nvPicPr>
        <p:blipFill>
          <a:blip r:embed="rId5"/>
          <a:stretch>
            <a:fillRect/>
          </a:stretch>
        </p:blipFill>
        <p:spPr>
          <a:xfrm>
            <a:off x="1371600" y="3246120"/>
            <a:ext cx="457200" cy="457200"/>
          </a:xfrm>
          <a:prstGeom prst="rect">
            <a:avLst/>
          </a:prstGeom>
        </p:spPr>
      </p:pic>
      <p:sp>
        <p:nvSpPr>
          <p:cNvPr id="17" name="Text 10"/>
          <p:cNvSpPr txBox="1"/>
          <p:nvPr/>
        </p:nvSpPr>
        <p:spPr>
          <a:xfrm>
            <a:off x="731520" y="4023360"/>
            <a:ext cx="17373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Router</a:t>
            </a:r>
            <a:endParaRPr lang="en-US" sz="1600" dirty="0"/>
          </a:p>
        </p:txBody>
      </p:sp>
      <p:sp>
        <p:nvSpPr>
          <p:cNvPr id="18" name="Shape 11"/>
          <p:cNvSpPr/>
          <p:nvPr/>
        </p:nvSpPr>
        <p:spPr>
          <a:xfrm>
            <a:off x="3154680" y="3017520"/>
            <a:ext cx="914400" cy="914400"/>
          </a:xfrm>
          <a:prstGeom prst="ellipse">
            <a:avLst/>
          </a:prstGeom>
          <a:solidFill>
            <a:srgbClr val="0E7C86"/>
          </a:solidFill>
          <a:ln w="12700">
            <a:solidFill>
              <a:srgbClr val="0E7C86"/>
            </a:solidFill>
            <a:prstDash val="solid"/>
          </a:ln>
        </p:spPr>
      </p:sp>
      <p:pic>
        <p:nvPicPr>
          <p:cNvPr id="19" name="Image 5" descr="preencoded.png">    </p:cNvPr>
          <p:cNvPicPr>
            <a:picLocks noChangeAspect="1"/>
          </p:cNvPicPr>
          <p:nvPr/>
        </p:nvPicPr>
        <p:blipFill>
          <a:blip r:embed="rId6"/>
          <a:stretch>
            <a:fillRect/>
          </a:stretch>
        </p:blipFill>
        <p:spPr>
          <a:xfrm>
            <a:off x="3383280" y="3246120"/>
            <a:ext cx="457200" cy="457200"/>
          </a:xfrm>
          <a:prstGeom prst="rect">
            <a:avLst/>
          </a:prstGeom>
        </p:spPr>
      </p:pic>
      <p:sp>
        <p:nvSpPr>
          <p:cNvPr id="20" name="Text 12"/>
          <p:cNvSpPr txBox="1"/>
          <p:nvPr/>
        </p:nvSpPr>
        <p:spPr>
          <a:xfrm>
            <a:off x="2743200" y="4023360"/>
            <a:ext cx="17373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UPS</a:t>
            </a:r>
            <a:endParaRPr lang="en-US" sz="1600" dirty="0"/>
          </a:p>
        </p:txBody>
      </p:sp>
      <p:sp>
        <p:nvSpPr>
          <p:cNvPr id="21" name="Shape 13"/>
          <p:cNvSpPr/>
          <p:nvPr/>
        </p:nvSpPr>
        <p:spPr>
          <a:xfrm>
            <a:off x="5166360" y="3017520"/>
            <a:ext cx="914400" cy="914400"/>
          </a:xfrm>
          <a:prstGeom prst="ellipse">
            <a:avLst/>
          </a:prstGeom>
          <a:solidFill>
            <a:srgbClr val="0E7C86"/>
          </a:solidFill>
          <a:ln w="12700">
            <a:solidFill>
              <a:srgbClr val="0E7C86"/>
            </a:solidFill>
            <a:prstDash val="solid"/>
          </a:ln>
        </p:spPr>
      </p:sp>
      <p:pic>
        <p:nvPicPr>
          <p:cNvPr id="22" name="Image 6" descr="preencoded.png">    </p:cNvPr>
          <p:cNvPicPr>
            <a:picLocks noChangeAspect="1"/>
          </p:cNvPicPr>
          <p:nvPr/>
        </p:nvPicPr>
        <p:blipFill>
          <a:blip r:embed="rId7"/>
          <a:stretch>
            <a:fillRect/>
          </a:stretch>
        </p:blipFill>
        <p:spPr>
          <a:xfrm>
            <a:off x="5394960" y="3246120"/>
            <a:ext cx="457200" cy="457200"/>
          </a:xfrm>
          <a:prstGeom prst="rect">
            <a:avLst/>
          </a:prstGeom>
        </p:spPr>
      </p:pic>
      <p:sp>
        <p:nvSpPr>
          <p:cNvPr id="23" name="Text 14"/>
          <p:cNvSpPr txBox="1"/>
          <p:nvPr/>
        </p:nvSpPr>
        <p:spPr>
          <a:xfrm>
            <a:off x="4754880" y="4023360"/>
            <a:ext cx="17373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Noutbuk</a:t>
            </a:r>
            <a:endParaRPr lang="en-US" sz="1600" dirty="0"/>
          </a:p>
        </p:txBody>
      </p:sp>
      <p:sp>
        <p:nvSpPr>
          <p:cNvPr id="24" name="Shape 15"/>
          <p:cNvSpPr/>
          <p:nvPr/>
        </p:nvSpPr>
        <p:spPr>
          <a:xfrm>
            <a:off x="7178040" y="3017520"/>
            <a:ext cx="914400" cy="914400"/>
          </a:xfrm>
          <a:prstGeom prst="ellipse">
            <a:avLst/>
          </a:prstGeom>
          <a:solidFill>
            <a:srgbClr val="F2A541"/>
          </a:solidFill>
          <a:ln w="12700">
            <a:solidFill>
              <a:srgbClr val="F2A541"/>
            </a:solidFill>
            <a:prstDash val="solid"/>
          </a:ln>
        </p:spPr>
      </p:sp>
      <p:pic>
        <p:nvPicPr>
          <p:cNvPr id="25" name="Image 7" descr="preencoded.png">    </p:cNvPr>
          <p:cNvPicPr>
            <a:picLocks noChangeAspect="1"/>
          </p:cNvPicPr>
          <p:nvPr/>
        </p:nvPicPr>
        <p:blipFill>
          <a:blip r:embed="rId8"/>
          <a:stretch>
            <a:fillRect/>
          </a:stretch>
        </p:blipFill>
        <p:spPr>
          <a:xfrm>
            <a:off x="7406640" y="3246120"/>
            <a:ext cx="457200" cy="457200"/>
          </a:xfrm>
          <a:prstGeom prst="rect">
            <a:avLst/>
          </a:prstGeom>
        </p:spPr>
      </p:pic>
      <p:sp>
        <p:nvSpPr>
          <p:cNvPr id="26" name="Text 16"/>
          <p:cNvSpPr txBox="1"/>
          <p:nvPr/>
        </p:nvSpPr>
        <p:spPr>
          <a:xfrm>
            <a:off x="6766560" y="4023360"/>
            <a:ext cx="17373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Yangi tur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Tizim ishlash jarayoni</a:t>
            </a:r>
            <a:endParaRPr lang="en-US" sz="3600" dirty="0"/>
          </a:p>
        </p:txBody>
      </p:sp>
      <p:sp>
        <p:nvSpPr>
          <p:cNvPr id="3" name="Shape 1"/>
          <p:cNvSpPr/>
          <p:nvPr/>
        </p:nvSpPr>
        <p:spPr>
          <a:xfrm>
            <a:off x="457200" y="1828800"/>
            <a:ext cx="1645920" cy="1097280"/>
          </a:xfrm>
          <a:prstGeom prst="chevron">
            <a:avLst/>
          </a:prstGeom>
          <a:solidFill>
            <a:srgbClr val="0E7C86"/>
          </a:solidFill>
          <a:ln w="12700">
            <a:solidFill>
              <a:srgbClr val="FFFFFF"/>
            </a:solidFill>
            <a:prstDash val="solid"/>
          </a:ln>
        </p:spPr>
      </p:sp>
      <p:sp>
        <p:nvSpPr>
          <p:cNvPr id="4" name="Text 2"/>
          <p:cNvSpPr txBox="1"/>
          <p:nvPr/>
        </p:nvSpPr>
        <p:spPr>
          <a:xfrm>
            <a:off x="868680" y="1828800"/>
            <a:ext cx="82296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457200" y="3108960"/>
            <a:ext cx="1554480" cy="365760"/>
          </a:xfrm>
          <a:prstGeom prst="rect">
            <a:avLst/>
          </a:prstGeom>
          <a:noFill/>
          <a:ln/>
        </p:spPr>
        <p:txBody>
          <a:bodyPr wrap="square" lIns="0" tIns="0" rIns="0" bIns="0" rtlCol="0" anchor="ctr"/>
          <a:lstStyle/>
          <a:p>
            <a:pPr algn="ctr" indent="0" marL="0">
              <a:buNone/>
            </a:pPr>
            <a:r>
              <a:rPr lang="en-US" sz="1800" b="1" dirty="0">
                <a:solidFill>
                  <a:srgbClr val="0B3C49"/>
                </a:solidFill>
                <a:latin typeface="Calibri" pitchFamily="34" charset="0"/>
                <a:ea typeface="Calibri" pitchFamily="34" charset="-122"/>
                <a:cs typeface="Calibri" pitchFamily="34" charset="-120"/>
              </a:rPr>
              <a:t>Kirish</a:t>
            </a:r>
            <a:endParaRPr lang="en-US" sz="1800" dirty="0"/>
          </a:p>
        </p:txBody>
      </p:sp>
      <p:sp>
        <p:nvSpPr>
          <p:cNvPr id="6" name="Text 4"/>
          <p:cNvSpPr txBox="1"/>
          <p:nvPr/>
        </p:nvSpPr>
        <p:spPr>
          <a:xfrm>
            <a:off x="457200" y="3474720"/>
            <a:ext cx="1554480" cy="365760"/>
          </a:xfrm>
          <a:prstGeom prst="rect">
            <a:avLst/>
          </a:prstGeom>
          <a:noFill/>
          <a:ln/>
        </p:spPr>
        <p:txBody>
          <a:bodyPr wrap="square" lIns="0" tIns="0" rIns="0" bIns="0" rtlCol="0" anchor="ctr"/>
          <a:lstStyle/>
          <a:p>
            <a:pPr algn="ctr" indent="0" marL="0">
              <a:buNone/>
            </a:pPr>
            <a:r>
              <a:rPr lang="en-US" sz="1400" dirty="0">
                <a:solidFill>
                  <a:srgbClr val="5E7480"/>
                </a:solidFill>
                <a:latin typeface="Calibri" pitchFamily="34" charset="0"/>
                <a:ea typeface="Calibri" pitchFamily="34" charset="-122"/>
                <a:cs typeface="Calibri" pitchFamily="34" charset="-120"/>
              </a:rPr>
              <a:t>Login, rol</a:t>
            </a:r>
            <a:endParaRPr lang="en-US" sz="1400" dirty="0"/>
          </a:p>
        </p:txBody>
      </p:sp>
      <p:sp>
        <p:nvSpPr>
          <p:cNvPr id="7" name="Shape 5"/>
          <p:cNvSpPr/>
          <p:nvPr/>
        </p:nvSpPr>
        <p:spPr>
          <a:xfrm>
            <a:off x="2148840" y="1828800"/>
            <a:ext cx="1645920" cy="1097280"/>
          </a:xfrm>
          <a:prstGeom prst="chevron">
            <a:avLst/>
          </a:prstGeom>
          <a:solidFill>
            <a:srgbClr val="14A3A8"/>
          </a:solidFill>
          <a:ln w="12700">
            <a:solidFill>
              <a:srgbClr val="FFFFFF"/>
            </a:solidFill>
            <a:prstDash val="solid"/>
          </a:ln>
        </p:spPr>
      </p:sp>
      <p:sp>
        <p:nvSpPr>
          <p:cNvPr id="8" name="Text 6"/>
          <p:cNvSpPr txBox="1"/>
          <p:nvPr/>
        </p:nvSpPr>
        <p:spPr>
          <a:xfrm>
            <a:off x="2560320" y="1828800"/>
            <a:ext cx="82296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9" name="Text 7"/>
          <p:cNvSpPr txBox="1"/>
          <p:nvPr/>
        </p:nvSpPr>
        <p:spPr>
          <a:xfrm>
            <a:off x="2148840" y="3108960"/>
            <a:ext cx="1554480" cy="365760"/>
          </a:xfrm>
          <a:prstGeom prst="rect">
            <a:avLst/>
          </a:prstGeom>
          <a:noFill/>
          <a:ln/>
        </p:spPr>
        <p:txBody>
          <a:bodyPr wrap="square" lIns="0" tIns="0" rIns="0" bIns="0" rtlCol="0" anchor="ctr"/>
          <a:lstStyle/>
          <a:p>
            <a:pPr algn="ctr" indent="0" marL="0">
              <a:buNone/>
            </a:pPr>
            <a:r>
              <a:rPr lang="en-US" sz="1800" b="1" dirty="0">
                <a:solidFill>
                  <a:srgbClr val="0B3C49"/>
                </a:solidFill>
                <a:latin typeface="Calibri" pitchFamily="34" charset="0"/>
                <a:ea typeface="Calibri" pitchFamily="34" charset="-122"/>
                <a:cs typeface="Calibri" pitchFamily="34" charset="-120"/>
              </a:rPr>
              <a:t>Qo'shish</a:t>
            </a:r>
            <a:endParaRPr lang="en-US" sz="1800" dirty="0"/>
          </a:p>
        </p:txBody>
      </p:sp>
      <p:sp>
        <p:nvSpPr>
          <p:cNvPr id="10" name="Text 8"/>
          <p:cNvSpPr txBox="1"/>
          <p:nvPr/>
        </p:nvSpPr>
        <p:spPr>
          <a:xfrm>
            <a:off x="2148840" y="3474720"/>
            <a:ext cx="1554480" cy="365760"/>
          </a:xfrm>
          <a:prstGeom prst="rect">
            <a:avLst/>
          </a:prstGeom>
          <a:noFill/>
          <a:ln/>
        </p:spPr>
        <p:txBody>
          <a:bodyPr wrap="square" lIns="0" tIns="0" rIns="0" bIns="0" rtlCol="0" anchor="ctr"/>
          <a:lstStyle/>
          <a:p>
            <a:pPr algn="ctr" indent="0" marL="0">
              <a:buNone/>
            </a:pPr>
            <a:r>
              <a:rPr lang="en-US" sz="1400" dirty="0">
                <a:solidFill>
                  <a:srgbClr val="5E7480"/>
                </a:solidFill>
                <a:latin typeface="Calibri" pitchFamily="34" charset="0"/>
                <a:ea typeface="Calibri" pitchFamily="34" charset="-122"/>
                <a:cs typeface="Calibri" pitchFamily="34" charset="-120"/>
              </a:rPr>
              <a:t>INV raqam</a:t>
            </a:r>
            <a:endParaRPr lang="en-US" sz="1400" dirty="0"/>
          </a:p>
        </p:txBody>
      </p:sp>
      <p:sp>
        <p:nvSpPr>
          <p:cNvPr id="11" name="Shape 9"/>
          <p:cNvSpPr/>
          <p:nvPr/>
        </p:nvSpPr>
        <p:spPr>
          <a:xfrm>
            <a:off x="3840480" y="1828800"/>
            <a:ext cx="1645920" cy="1097280"/>
          </a:xfrm>
          <a:prstGeom prst="chevron">
            <a:avLst/>
          </a:prstGeom>
          <a:solidFill>
            <a:srgbClr val="0E7C86"/>
          </a:solidFill>
          <a:ln w="12700">
            <a:solidFill>
              <a:srgbClr val="FFFFFF"/>
            </a:solidFill>
            <a:prstDash val="solid"/>
          </a:ln>
        </p:spPr>
      </p:sp>
      <p:sp>
        <p:nvSpPr>
          <p:cNvPr id="12" name="Text 10"/>
          <p:cNvSpPr txBox="1"/>
          <p:nvPr/>
        </p:nvSpPr>
        <p:spPr>
          <a:xfrm>
            <a:off x="4251960" y="1828800"/>
            <a:ext cx="82296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13" name="Text 11"/>
          <p:cNvSpPr txBox="1"/>
          <p:nvPr/>
        </p:nvSpPr>
        <p:spPr>
          <a:xfrm>
            <a:off x="3840480" y="3108960"/>
            <a:ext cx="1554480" cy="365760"/>
          </a:xfrm>
          <a:prstGeom prst="rect">
            <a:avLst/>
          </a:prstGeom>
          <a:noFill/>
          <a:ln/>
        </p:spPr>
        <p:txBody>
          <a:bodyPr wrap="square" lIns="0" tIns="0" rIns="0" bIns="0" rtlCol="0" anchor="ctr"/>
          <a:lstStyle/>
          <a:p>
            <a:pPr algn="ctr" indent="0" marL="0">
              <a:buNone/>
            </a:pPr>
            <a:r>
              <a:rPr lang="en-US" sz="1800" b="1" dirty="0">
                <a:solidFill>
                  <a:srgbClr val="0B3C49"/>
                </a:solidFill>
                <a:latin typeface="Calibri" pitchFamily="34" charset="0"/>
                <a:ea typeface="Calibri" pitchFamily="34" charset="-122"/>
                <a:cs typeface="Calibri" pitchFamily="34" charset="-120"/>
              </a:rPr>
              <a:t>Biriktirish</a:t>
            </a:r>
            <a:endParaRPr lang="en-US" sz="1800" dirty="0"/>
          </a:p>
        </p:txBody>
      </p:sp>
      <p:sp>
        <p:nvSpPr>
          <p:cNvPr id="14" name="Text 12"/>
          <p:cNvSpPr txBox="1"/>
          <p:nvPr/>
        </p:nvSpPr>
        <p:spPr>
          <a:xfrm>
            <a:off x="3840480" y="3474720"/>
            <a:ext cx="1554480" cy="365760"/>
          </a:xfrm>
          <a:prstGeom prst="rect">
            <a:avLst/>
          </a:prstGeom>
          <a:noFill/>
          <a:ln/>
        </p:spPr>
        <p:txBody>
          <a:bodyPr wrap="square" lIns="0" tIns="0" rIns="0" bIns="0" rtlCol="0" anchor="ctr"/>
          <a:lstStyle/>
          <a:p>
            <a:pPr algn="ctr" indent="0" marL="0">
              <a:buNone/>
            </a:pPr>
            <a:r>
              <a:rPr lang="en-US" sz="1400" dirty="0">
                <a:solidFill>
                  <a:srgbClr val="5E7480"/>
                </a:solidFill>
                <a:latin typeface="Calibri" pitchFamily="34" charset="0"/>
                <a:ea typeface="Calibri" pitchFamily="34" charset="-122"/>
                <a:cs typeface="Calibri" pitchFamily="34" charset="-120"/>
              </a:rPr>
              <a:t>Xona, mas'ul</a:t>
            </a:r>
            <a:endParaRPr lang="en-US" sz="1400" dirty="0"/>
          </a:p>
        </p:txBody>
      </p:sp>
      <p:sp>
        <p:nvSpPr>
          <p:cNvPr id="15" name="Shape 13"/>
          <p:cNvSpPr/>
          <p:nvPr/>
        </p:nvSpPr>
        <p:spPr>
          <a:xfrm>
            <a:off x="5532120" y="1828800"/>
            <a:ext cx="1645920" cy="1097280"/>
          </a:xfrm>
          <a:prstGeom prst="chevron">
            <a:avLst/>
          </a:prstGeom>
          <a:solidFill>
            <a:srgbClr val="14A3A8"/>
          </a:solidFill>
          <a:ln w="12700">
            <a:solidFill>
              <a:srgbClr val="FFFFFF"/>
            </a:solidFill>
            <a:prstDash val="solid"/>
          </a:ln>
        </p:spPr>
      </p:sp>
      <p:sp>
        <p:nvSpPr>
          <p:cNvPr id="16" name="Text 14"/>
          <p:cNvSpPr txBox="1"/>
          <p:nvPr/>
        </p:nvSpPr>
        <p:spPr>
          <a:xfrm>
            <a:off x="5943600" y="1828800"/>
            <a:ext cx="82296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4</a:t>
            </a:r>
            <a:endParaRPr lang="en-US" sz="3000" dirty="0"/>
          </a:p>
        </p:txBody>
      </p:sp>
      <p:sp>
        <p:nvSpPr>
          <p:cNvPr id="17" name="Text 15"/>
          <p:cNvSpPr txBox="1"/>
          <p:nvPr/>
        </p:nvSpPr>
        <p:spPr>
          <a:xfrm>
            <a:off x="5532120" y="3108960"/>
            <a:ext cx="1554480" cy="365760"/>
          </a:xfrm>
          <a:prstGeom prst="rect">
            <a:avLst/>
          </a:prstGeom>
          <a:noFill/>
          <a:ln/>
        </p:spPr>
        <p:txBody>
          <a:bodyPr wrap="square" lIns="0" tIns="0" rIns="0" bIns="0" rtlCol="0" anchor="ctr"/>
          <a:lstStyle/>
          <a:p>
            <a:pPr algn="ctr" indent="0" marL="0">
              <a:buNone/>
            </a:pPr>
            <a:r>
              <a:rPr lang="en-US" sz="1800" b="1" dirty="0">
                <a:solidFill>
                  <a:srgbClr val="0B3C49"/>
                </a:solidFill>
                <a:latin typeface="Calibri" pitchFamily="34" charset="0"/>
                <a:ea typeface="Calibri" pitchFamily="34" charset="-122"/>
                <a:cs typeface="Calibri" pitchFamily="34" charset="-120"/>
              </a:rPr>
              <a:t>Yangilash</a:t>
            </a:r>
            <a:endParaRPr lang="en-US" sz="1800" dirty="0"/>
          </a:p>
        </p:txBody>
      </p:sp>
      <p:sp>
        <p:nvSpPr>
          <p:cNvPr id="18" name="Text 16"/>
          <p:cNvSpPr txBox="1"/>
          <p:nvPr/>
        </p:nvSpPr>
        <p:spPr>
          <a:xfrm>
            <a:off x="5532120" y="3474720"/>
            <a:ext cx="1554480" cy="365760"/>
          </a:xfrm>
          <a:prstGeom prst="rect">
            <a:avLst/>
          </a:prstGeom>
          <a:noFill/>
          <a:ln/>
        </p:spPr>
        <p:txBody>
          <a:bodyPr wrap="square" lIns="0" tIns="0" rIns="0" bIns="0" rtlCol="0" anchor="ctr"/>
          <a:lstStyle/>
          <a:p>
            <a:pPr algn="ctr" indent="0" marL="0">
              <a:buNone/>
            </a:pPr>
            <a:r>
              <a:rPr lang="en-US" sz="1400" dirty="0">
                <a:solidFill>
                  <a:srgbClr val="5E7480"/>
                </a:solidFill>
                <a:latin typeface="Calibri" pitchFamily="34" charset="0"/>
                <a:ea typeface="Calibri" pitchFamily="34" charset="-122"/>
                <a:cs typeface="Calibri" pitchFamily="34" charset="-120"/>
              </a:rPr>
              <a:t>Holat, ta'mir</a:t>
            </a:r>
            <a:endParaRPr lang="en-US" sz="1400" dirty="0"/>
          </a:p>
        </p:txBody>
      </p:sp>
      <p:sp>
        <p:nvSpPr>
          <p:cNvPr id="19" name="Shape 17"/>
          <p:cNvSpPr/>
          <p:nvPr/>
        </p:nvSpPr>
        <p:spPr>
          <a:xfrm>
            <a:off x="7223760" y="1828800"/>
            <a:ext cx="1645920" cy="1097280"/>
          </a:xfrm>
          <a:prstGeom prst="chevron">
            <a:avLst/>
          </a:prstGeom>
          <a:solidFill>
            <a:srgbClr val="0E7C86"/>
          </a:solidFill>
          <a:ln w="12700">
            <a:solidFill>
              <a:srgbClr val="FFFFFF"/>
            </a:solidFill>
            <a:prstDash val="solid"/>
          </a:ln>
        </p:spPr>
      </p:sp>
      <p:sp>
        <p:nvSpPr>
          <p:cNvPr id="20" name="Text 18"/>
          <p:cNvSpPr txBox="1"/>
          <p:nvPr/>
        </p:nvSpPr>
        <p:spPr>
          <a:xfrm>
            <a:off x="7635240" y="1828800"/>
            <a:ext cx="82296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5</a:t>
            </a:r>
            <a:endParaRPr lang="en-US" sz="3000" dirty="0"/>
          </a:p>
        </p:txBody>
      </p:sp>
      <p:sp>
        <p:nvSpPr>
          <p:cNvPr id="21" name="Text 19"/>
          <p:cNvSpPr txBox="1"/>
          <p:nvPr/>
        </p:nvSpPr>
        <p:spPr>
          <a:xfrm>
            <a:off x="7223760" y="3108960"/>
            <a:ext cx="1554480" cy="365760"/>
          </a:xfrm>
          <a:prstGeom prst="rect">
            <a:avLst/>
          </a:prstGeom>
          <a:noFill/>
          <a:ln/>
        </p:spPr>
        <p:txBody>
          <a:bodyPr wrap="square" lIns="0" tIns="0" rIns="0" bIns="0" rtlCol="0" anchor="ctr"/>
          <a:lstStyle/>
          <a:p>
            <a:pPr algn="ctr" indent="0" marL="0">
              <a:buNone/>
            </a:pPr>
            <a:r>
              <a:rPr lang="en-US" sz="1800" b="1" dirty="0">
                <a:solidFill>
                  <a:srgbClr val="0B3C49"/>
                </a:solidFill>
                <a:latin typeface="Calibri" pitchFamily="34" charset="0"/>
                <a:ea typeface="Calibri" pitchFamily="34" charset="-122"/>
                <a:cs typeface="Calibri" pitchFamily="34" charset="-120"/>
              </a:rPr>
              <a:t>Hisobot</a:t>
            </a:r>
            <a:endParaRPr lang="en-US" sz="1800" dirty="0"/>
          </a:p>
        </p:txBody>
      </p:sp>
      <p:sp>
        <p:nvSpPr>
          <p:cNvPr id="22" name="Text 20"/>
          <p:cNvSpPr txBox="1"/>
          <p:nvPr/>
        </p:nvSpPr>
        <p:spPr>
          <a:xfrm>
            <a:off x="7223760" y="3474720"/>
            <a:ext cx="1554480" cy="365760"/>
          </a:xfrm>
          <a:prstGeom prst="rect">
            <a:avLst/>
          </a:prstGeom>
          <a:noFill/>
          <a:ln/>
        </p:spPr>
        <p:txBody>
          <a:bodyPr wrap="square" lIns="0" tIns="0" rIns="0" bIns="0" rtlCol="0" anchor="ctr"/>
          <a:lstStyle/>
          <a:p>
            <a:pPr algn="ctr" indent="0" marL="0">
              <a:buNone/>
            </a:pPr>
            <a:r>
              <a:rPr lang="en-US" sz="1400" dirty="0">
                <a:solidFill>
                  <a:srgbClr val="5E7480"/>
                </a:solidFill>
                <a:latin typeface="Calibri" pitchFamily="34" charset="0"/>
                <a:ea typeface="Calibri" pitchFamily="34" charset="-122"/>
                <a:cs typeface="Calibri" pitchFamily="34" charset="-120"/>
              </a:rPr>
              <a:t>Excel / PDF</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Demo: asosiy ekranlar</a:t>
            </a:r>
            <a:endParaRPr lang="en-US" sz="3600" dirty="0"/>
          </a:p>
        </p:txBody>
      </p:sp>
      <p:sp>
        <p:nvSpPr>
          <p:cNvPr id="3" name="Shape 1"/>
          <p:cNvSpPr/>
          <p:nvPr/>
        </p:nvSpPr>
        <p:spPr>
          <a:xfrm>
            <a:off x="521208" y="1115568"/>
            <a:ext cx="3895344" cy="1426464"/>
          </a:xfrm>
          <a:prstGeom prst="rect">
            <a:avLst/>
          </a:prstGeom>
          <a:solidFill>
            <a:srgbClr val="B8CED3"/>
          </a:solidFill>
          <a:ln w="12700">
            <a:solidFill>
              <a:srgbClr val="B8CED3"/>
            </a:solidFill>
            <a:prstDash val="solid"/>
          </a:ln>
        </p:spPr>
      </p:sp>
      <p:pic>
        <p:nvPicPr>
          <p:cNvPr id="4" name="Image 0" descr="screenshots/dashboard.png">    </p:cNvPr>
          <p:cNvPicPr>
            <a:picLocks noChangeAspect="1"/>
          </p:cNvPicPr>
          <p:nvPr/>
        </p:nvPicPr>
        <p:blipFill>
          <a:blip r:embed="rId1"/>
          <a:srcRect l="0" r="0" t="0" b="0"/>
          <a:stretch/>
        </p:blipFill>
        <p:spPr>
          <a:xfrm>
            <a:off x="548640" y="1143000"/>
            <a:ext cx="3840480" cy="1371600"/>
          </a:xfrm>
          <a:prstGeom prst="rect">
            <a:avLst/>
          </a:prstGeom>
        </p:spPr>
      </p:pic>
      <p:sp>
        <p:nvSpPr>
          <p:cNvPr id="5" name="Text 2"/>
          <p:cNvSpPr txBox="1"/>
          <p:nvPr/>
        </p:nvSpPr>
        <p:spPr>
          <a:xfrm>
            <a:off x="548640" y="2587752"/>
            <a:ext cx="3840480" cy="274320"/>
          </a:xfrm>
          <a:prstGeom prst="rect">
            <a:avLst/>
          </a:prstGeom>
          <a:noFill/>
          <a:ln/>
        </p:spPr>
        <p:txBody>
          <a:bodyPr wrap="square" lIns="0" tIns="0" rIns="0" bIns="0" rtlCol="0" anchor="ctr"/>
          <a:lstStyle/>
          <a:p>
            <a:pPr algn="ctr" indent="0" marL="0">
              <a:buNone/>
            </a:pPr>
            <a:r>
              <a:rPr lang="en-US" sz="1300" dirty="0">
                <a:solidFill>
                  <a:srgbClr val="5E7480"/>
                </a:solidFill>
                <a:latin typeface="Calibri" pitchFamily="34" charset="0"/>
                <a:ea typeface="Calibri" pitchFamily="34" charset="-122"/>
                <a:cs typeface="Calibri" pitchFamily="34" charset="-120"/>
              </a:rPr>
              <a:t>Dashboard</a:t>
            </a:r>
            <a:endParaRPr lang="en-US" sz="1300" dirty="0"/>
          </a:p>
        </p:txBody>
      </p:sp>
      <p:sp>
        <p:nvSpPr>
          <p:cNvPr id="6" name="Shape 3"/>
          <p:cNvSpPr/>
          <p:nvPr/>
        </p:nvSpPr>
        <p:spPr>
          <a:xfrm>
            <a:off x="4636008" y="1115568"/>
            <a:ext cx="3895344" cy="1426464"/>
          </a:xfrm>
          <a:prstGeom prst="rect">
            <a:avLst/>
          </a:prstGeom>
          <a:solidFill>
            <a:srgbClr val="B8CED3"/>
          </a:solidFill>
          <a:ln w="12700">
            <a:solidFill>
              <a:srgbClr val="B8CED3"/>
            </a:solidFill>
            <a:prstDash val="solid"/>
          </a:ln>
        </p:spPr>
      </p:sp>
      <p:pic>
        <p:nvPicPr>
          <p:cNvPr id="7" name="Image 1" descr="screenshots/list.png">    </p:cNvPr>
          <p:cNvPicPr>
            <a:picLocks noChangeAspect="1"/>
          </p:cNvPicPr>
          <p:nvPr/>
        </p:nvPicPr>
        <p:blipFill>
          <a:blip r:embed="rId2"/>
          <a:srcRect l="0" r="0" t="0" b="0"/>
          <a:stretch/>
        </p:blipFill>
        <p:spPr>
          <a:xfrm>
            <a:off x="4663440" y="1143000"/>
            <a:ext cx="3840480" cy="1371600"/>
          </a:xfrm>
          <a:prstGeom prst="rect">
            <a:avLst/>
          </a:prstGeom>
        </p:spPr>
      </p:pic>
      <p:sp>
        <p:nvSpPr>
          <p:cNvPr id="8" name="Text 4"/>
          <p:cNvSpPr txBox="1"/>
          <p:nvPr/>
        </p:nvSpPr>
        <p:spPr>
          <a:xfrm>
            <a:off x="4663440" y="2587752"/>
            <a:ext cx="3840480" cy="274320"/>
          </a:xfrm>
          <a:prstGeom prst="rect">
            <a:avLst/>
          </a:prstGeom>
          <a:noFill/>
          <a:ln/>
        </p:spPr>
        <p:txBody>
          <a:bodyPr wrap="square" lIns="0" tIns="0" rIns="0" bIns="0" rtlCol="0" anchor="ctr"/>
          <a:lstStyle/>
          <a:p>
            <a:pPr algn="ctr" indent="0" marL="0">
              <a:buNone/>
            </a:pPr>
            <a:r>
              <a:rPr lang="en-US" sz="1300" dirty="0">
                <a:solidFill>
                  <a:srgbClr val="5E7480"/>
                </a:solidFill>
                <a:latin typeface="Calibri" pitchFamily="34" charset="0"/>
                <a:ea typeface="Calibri" pitchFamily="34" charset="-122"/>
                <a:cs typeface="Calibri" pitchFamily="34" charset="-120"/>
              </a:rPr>
              <a:t>Jihozlar ro'yxati</a:t>
            </a:r>
            <a:endParaRPr lang="en-US" sz="1300" dirty="0"/>
          </a:p>
        </p:txBody>
      </p:sp>
      <p:sp>
        <p:nvSpPr>
          <p:cNvPr id="9" name="Shape 5"/>
          <p:cNvSpPr/>
          <p:nvPr/>
        </p:nvSpPr>
        <p:spPr>
          <a:xfrm>
            <a:off x="521208" y="3035808"/>
            <a:ext cx="3895344" cy="1426464"/>
          </a:xfrm>
          <a:prstGeom prst="rect">
            <a:avLst/>
          </a:prstGeom>
          <a:solidFill>
            <a:srgbClr val="B8CED3"/>
          </a:solidFill>
          <a:ln w="12700">
            <a:solidFill>
              <a:srgbClr val="B8CED3"/>
            </a:solidFill>
            <a:prstDash val="solid"/>
          </a:ln>
        </p:spPr>
      </p:sp>
      <p:pic>
        <p:nvPicPr>
          <p:cNvPr id="10" name="Image 2" descr="screenshots/detail.png">    </p:cNvPr>
          <p:cNvPicPr>
            <a:picLocks noChangeAspect="1"/>
          </p:cNvPicPr>
          <p:nvPr/>
        </p:nvPicPr>
        <p:blipFill>
          <a:blip r:embed="rId3"/>
          <a:srcRect l="0" r="0" t="0" b="0"/>
          <a:stretch/>
        </p:blipFill>
        <p:spPr>
          <a:xfrm>
            <a:off x="548640" y="3063240"/>
            <a:ext cx="3840480" cy="1371600"/>
          </a:xfrm>
          <a:prstGeom prst="rect">
            <a:avLst/>
          </a:prstGeom>
        </p:spPr>
      </p:pic>
      <p:sp>
        <p:nvSpPr>
          <p:cNvPr id="11" name="Text 6"/>
          <p:cNvSpPr txBox="1"/>
          <p:nvPr/>
        </p:nvSpPr>
        <p:spPr>
          <a:xfrm>
            <a:off x="548640" y="4507992"/>
            <a:ext cx="3840480" cy="274320"/>
          </a:xfrm>
          <a:prstGeom prst="rect">
            <a:avLst/>
          </a:prstGeom>
          <a:noFill/>
          <a:ln/>
        </p:spPr>
        <p:txBody>
          <a:bodyPr wrap="square" lIns="0" tIns="0" rIns="0" bIns="0" rtlCol="0" anchor="ctr"/>
          <a:lstStyle/>
          <a:p>
            <a:pPr algn="ctr" indent="0" marL="0">
              <a:buNone/>
            </a:pPr>
            <a:r>
              <a:rPr lang="en-US" sz="1300" dirty="0">
                <a:solidFill>
                  <a:srgbClr val="5E7480"/>
                </a:solidFill>
                <a:latin typeface="Calibri" pitchFamily="34" charset="0"/>
                <a:ea typeface="Calibri" pitchFamily="34" charset="-122"/>
                <a:cs typeface="Calibri" pitchFamily="34" charset="-120"/>
              </a:rPr>
              <a:t>Jihoz kartochkasi</a:t>
            </a:r>
            <a:endParaRPr lang="en-US" sz="1300" dirty="0"/>
          </a:p>
        </p:txBody>
      </p:sp>
      <p:sp>
        <p:nvSpPr>
          <p:cNvPr id="12" name="Shape 7"/>
          <p:cNvSpPr/>
          <p:nvPr/>
        </p:nvSpPr>
        <p:spPr>
          <a:xfrm>
            <a:off x="4636008" y="3035808"/>
            <a:ext cx="3895344" cy="1426464"/>
          </a:xfrm>
          <a:prstGeom prst="rect">
            <a:avLst/>
          </a:prstGeom>
          <a:solidFill>
            <a:srgbClr val="B8CED3"/>
          </a:solidFill>
          <a:ln w="12700">
            <a:solidFill>
              <a:srgbClr val="B8CED3"/>
            </a:solidFill>
            <a:prstDash val="solid"/>
          </a:ln>
        </p:spPr>
      </p:sp>
      <p:pic>
        <p:nvPicPr>
          <p:cNvPr id="13" name="Image 3" descr="screenshots/form.png">    </p:cNvPr>
          <p:cNvPicPr>
            <a:picLocks noChangeAspect="1"/>
          </p:cNvPicPr>
          <p:nvPr/>
        </p:nvPicPr>
        <p:blipFill>
          <a:blip r:embed="rId4"/>
          <a:srcRect l="0" r="0" t="0" b="0"/>
          <a:stretch/>
        </p:blipFill>
        <p:spPr>
          <a:xfrm>
            <a:off x="4663440" y="3063240"/>
            <a:ext cx="3840480" cy="1371600"/>
          </a:xfrm>
          <a:prstGeom prst="rect">
            <a:avLst/>
          </a:prstGeom>
        </p:spPr>
      </p:pic>
      <p:sp>
        <p:nvSpPr>
          <p:cNvPr id="14" name="Text 8"/>
          <p:cNvSpPr txBox="1"/>
          <p:nvPr/>
        </p:nvSpPr>
        <p:spPr>
          <a:xfrm>
            <a:off x="4663440" y="4507992"/>
            <a:ext cx="3840480" cy="274320"/>
          </a:xfrm>
          <a:prstGeom prst="rect">
            <a:avLst/>
          </a:prstGeom>
          <a:noFill/>
          <a:ln/>
        </p:spPr>
        <p:txBody>
          <a:bodyPr wrap="square" lIns="0" tIns="0" rIns="0" bIns="0" rtlCol="0" anchor="ctr"/>
          <a:lstStyle/>
          <a:p>
            <a:pPr algn="ctr" indent="0" marL="0">
              <a:buNone/>
            </a:pPr>
            <a:r>
              <a:rPr lang="en-US" sz="1300" dirty="0">
                <a:solidFill>
                  <a:srgbClr val="5E7480"/>
                </a:solidFill>
                <a:latin typeface="Calibri" pitchFamily="34" charset="0"/>
                <a:ea typeface="Calibri" pitchFamily="34" charset="-122"/>
                <a:cs typeface="Calibri" pitchFamily="34" charset="-120"/>
              </a:rPr>
              <a:t>Qo'shish formasi</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Jihoz tarixi</a:t>
            </a:r>
            <a:endParaRPr lang="en-US" sz="3600" dirty="0"/>
          </a:p>
        </p:txBody>
      </p:sp>
      <p:sp>
        <p:nvSpPr>
          <p:cNvPr id="3" name="Text 1"/>
          <p:cNvSpPr txBox="1"/>
          <p:nvPr/>
        </p:nvSpPr>
        <p:spPr>
          <a:xfrm>
            <a:off x="548640" y="1097280"/>
            <a:ext cx="7315200" cy="365760"/>
          </a:xfrm>
          <a:prstGeom prst="rect">
            <a:avLst/>
          </a:prstGeom>
          <a:noFill/>
          <a:ln/>
        </p:spPr>
        <p:txBody>
          <a:bodyPr wrap="square" lIns="0" tIns="0" rIns="0" bIns="0" rtlCol="0" anchor="ctr"/>
          <a:lstStyle/>
          <a:p>
            <a:pPr indent="0" marL="0">
              <a:buNone/>
            </a:pPr>
            <a:r>
              <a:rPr lang="en-US" sz="1600" dirty="0">
                <a:solidFill>
                  <a:srgbClr val="5E7480"/>
                </a:solidFill>
                <a:latin typeface="Calibri" pitchFamily="34" charset="0"/>
                <a:ea typeface="Calibri" pitchFamily="34" charset="-122"/>
                <a:cs typeface="Calibri" pitchFamily="34" charset="-120"/>
              </a:rPr>
              <a:t>Misol: INV-2026-0007 · Dell OptiPlex</a:t>
            </a:r>
            <a:endParaRPr lang="en-US" sz="1600" dirty="0"/>
          </a:p>
        </p:txBody>
      </p:sp>
      <p:sp>
        <p:nvSpPr>
          <p:cNvPr id="4" name="Shape 2"/>
          <p:cNvSpPr/>
          <p:nvPr/>
        </p:nvSpPr>
        <p:spPr>
          <a:xfrm>
            <a:off x="2743200" y="1645920"/>
            <a:ext cx="0" cy="3017520"/>
          </a:xfrm>
          <a:prstGeom prst="line">
            <a:avLst/>
          </a:prstGeom>
          <a:noFill/>
          <a:ln w="25400">
            <a:solidFill>
              <a:srgbClr val="0E7C86"/>
            </a:solidFill>
            <a:prstDash val="solid"/>
          </a:ln>
        </p:spPr>
      </p:sp>
      <p:sp>
        <p:nvSpPr>
          <p:cNvPr id="5" name="Text 3"/>
          <p:cNvSpPr txBox="1"/>
          <p:nvPr/>
        </p:nvSpPr>
        <p:spPr>
          <a:xfrm>
            <a:off x="548640" y="1600200"/>
            <a:ext cx="1920240" cy="365760"/>
          </a:xfrm>
          <a:prstGeom prst="rect">
            <a:avLst/>
          </a:prstGeom>
          <a:noFill/>
          <a:ln/>
        </p:spPr>
        <p:txBody>
          <a:bodyPr wrap="square" lIns="0" tIns="0" rIns="0" bIns="0" rtlCol="0" anchor="ctr"/>
          <a:lstStyle/>
          <a:p>
            <a:pPr algn="r" indent="0" marL="0">
              <a:buNone/>
            </a:pPr>
            <a:r>
              <a:rPr lang="en-US" sz="1400" dirty="0">
                <a:solidFill>
                  <a:srgbClr val="5E7480"/>
                </a:solidFill>
                <a:latin typeface="Calibri" pitchFamily="34" charset="0"/>
                <a:ea typeface="Calibri" pitchFamily="34" charset="-122"/>
                <a:cs typeface="Calibri" pitchFamily="34" charset="-120"/>
              </a:rPr>
              <a:t>12.01.2026</a:t>
            </a:r>
            <a:endParaRPr lang="en-US" sz="1400" dirty="0"/>
          </a:p>
        </p:txBody>
      </p:sp>
      <p:sp>
        <p:nvSpPr>
          <p:cNvPr id="6" name="Shape 4"/>
          <p:cNvSpPr/>
          <p:nvPr/>
        </p:nvSpPr>
        <p:spPr>
          <a:xfrm>
            <a:off x="2651760" y="1691640"/>
            <a:ext cx="182880" cy="182880"/>
          </a:xfrm>
          <a:prstGeom prst="ellipse">
            <a:avLst/>
          </a:prstGeom>
          <a:solidFill>
            <a:srgbClr val="0E7C86"/>
          </a:solidFill>
          <a:ln w="25400">
            <a:solidFill>
              <a:srgbClr val="FFFFFF"/>
            </a:solidFill>
            <a:prstDash val="solid"/>
          </a:ln>
        </p:spPr>
      </p:sp>
      <p:sp>
        <p:nvSpPr>
          <p:cNvPr id="7" name="Text 5"/>
          <p:cNvSpPr txBox="1"/>
          <p:nvPr/>
        </p:nvSpPr>
        <p:spPr>
          <a:xfrm>
            <a:off x="3108960" y="1600200"/>
            <a:ext cx="5303520" cy="36576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Jihoz qo'shildi  </a:t>
            </a:r>
            <a:pPr indent="0" marL="0">
              <a:buNone/>
            </a:pPr>
            <a:r>
              <a:rPr lang="en-US" sz="1600" dirty="0">
                <a:solidFill>
                  <a:srgbClr val="5E7480"/>
                </a:solidFill>
                <a:latin typeface="Calibri" pitchFamily="34" charset="0"/>
                <a:ea typeface="Calibri" pitchFamily="34" charset="-122"/>
                <a:cs typeface="Calibri" pitchFamily="34" charset="-120"/>
              </a:rPr>
              <a:t>Yangi · Omborda</a:t>
            </a:r>
            <a:endParaRPr lang="en-US" sz="1600" dirty="0"/>
          </a:p>
        </p:txBody>
      </p:sp>
      <p:sp>
        <p:nvSpPr>
          <p:cNvPr id="8" name="Text 6"/>
          <p:cNvSpPr txBox="1"/>
          <p:nvPr/>
        </p:nvSpPr>
        <p:spPr>
          <a:xfrm>
            <a:off x="548640" y="2221992"/>
            <a:ext cx="1920240" cy="365760"/>
          </a:xfrm>
          <a:prstGeom prst="rect">
            <a:avLst/>
          </a:prstGeom>
          <a:noFill/>
          <a:ln/>
        </p:spPr>
        <p:txBody>
          <a:bodyPr wrap="square" lIns="0" tIns="0" rIns="0" bIns="0" rtlCol="0" anchor="ctr"/>
          <a:lstStyle/>
          <a:p>
            <a:pPr algn="r" indent="0" marL="0">
              <a:buNone/>
            </a:pPr>
            <a:r>
              <a:rPr lang="en-US" sz="1400" dirty="0">
                <a:solidFill>
                  <a:srgbClr val="5E7480"/>
                </a:solidFill>
                <a:latin typeface="Calibri" pitchFamily="34" charset="0"/>
                <a:ea typeface="Calibri" pitchFamily="34" charset="-122"/>
                <a:cs typeface="Calibri" pitchFamily="34" charset="-120"/>
              </a:rPr>
              <a:t>03.02.2026</a:t>
            </a:r>
            <a:endParaRPr lang="en-US" sz="1400" dirty="0"/>
          </a:p>
        </p:txBody>
      </p:sp>
      <p:sp>
        <p:nvSpPr>
          <p:cNvPr id="9" name="Shape 7"/>
          <p:cNvSpPr/>
          <p:nvPr/>
        </p:nvSpPr>
        <p:spPr>
          <a:xfrm>
            <a:off x="2651760" y="2313432"/>
            <a:ext cx="182880" cy="182880"/>
          </a:xfrm>
          <a:prstGeom prst="ellipse">
            <a:avLst/>
          </a:prstGeom>
          <a:solidFill>
            <a:srgbClr val="0E7C86"/>
          </a:solidFill>
          <a:ln w="25400">
            <a:solidFill>
              <a:srgbClr val="FFFFFF"/>
            </a:solidFill>
            <a:prstDash val="solid"/>
          </a:ln>
        </p:spPr>
      </p:sp>
      <p:sp>
        <p:nvSpPr>
          <p:cNvPr id="10" name="Text 8"/>
          <p:cNvSpPr txBox="1"/>
          <p:nvPr/>
        </p:nvSpPr>
        <p:spPr>
          <a:xfrm>
            <a:off x="3108960" y="2221992"/>
            <a:ext cx="5303520" cy="36576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Ko'chirildi  </a:t>
            </a:r>
            <a:pPr indent="0" marL="0">
              <a:buNone/>
            </a:pPr>
            <a:r>
              <a:rPr lang="en-US" sz="1600" dirty="0">
                <a:solidFill>
                  <a:srgbClr val="5E7480"/>
                </a:solidFill>
                <a:latin typeface="Calibri" pitchFamily="34" charset="0"/>
                <a:ea typeface="Calibri" pitchFamily="34" charset="-122"/>
                <a:cs typeface="Calibri" pitchFamily="34" charset="-120"/>
              </a:rPr>
              <a:t>Ombor → 204-xona</a:t>
            </a:r>
            <a:endParaRPr lang="en-US" sz="1600" dirty="0"/>
          </a:p>
        </p:txBody>
      </p:sp>
      <p:sp>
        <p:nvSpPr>
          <p:cNvPr id="11" name="Text 9"/>
          <p:cNvSpPr txBox="1"/>
          <p:nvPr/>
        </p:nvSpPr>
        <p:spPr>
          <a:xfrm>
            <a:off x="548640" y="2843784"/>
            <a:ext cx="1920240" cy="365760"/>
          </a:xfrm>
          <a:prstGeom prst="rect">
            <a:avLst/>
          </a:prstGeom>
          <a:noFill/>
          <a:ln/>
        </p:spPr>
        <p:txBody>
          <a:bodyPr wrap="square" lIns="0" tIns="0" rIns="0" bIns="0" rtlCol="0" anchor="ctr"/>
          <a:lstStyle/>
          <a:p>
            <a:pPr algn="r" indent="0" marL="0">
              <a:buNone/>
            </a:pPr>
            <a:r>
              <a:rPr lang="en-US" sz="1400" dirty="0">
                <a:solidFill>
                  <a:srgbClr val="5E7480"/>
                </a:solidFill>
                <a:latin typeface="Calibri" pitchFamily="34" charset="0"/>
                <a:ea typeface="Calibri" pitchFamily="34" charset="-122"/>
                <a:cs typeface="Calibri" pitchFamily="34" charset="-120"/>
              </a:rPr>
              <a:t>15.05.2026</a:t>
            </a:r>
            <a:endParaRPr lang="en-US" sz="1400" dirty="0"/>
          </a:p>
        </p:txBody>
      </p:sp>
      <p:sp>
        <p:nvSpPr>
          <p:cNvPr id="12" name="Shape 10"/>
          <p:cNvSpPr/>
          <p:nvPr/>
        </p:nvSpPr>
        <p:spPr>
          <a:xfrm>
            <a:off x="2651760" y="2935224"/>
            <a:ext cx="182880" cy="182880"/>
          </a:xfrm>
          <a:prstGeom prst="ellipse">
            <a:avLst/>
          </a:prstGeom>
          <a:solidFill>
            <a:srgbClr val="0E7C86"/>
          </a:solidFill>
          <a:ln w="25400">
            <a:solidFill>
              <a:srgbClr val="FFFFFF"/>
            </a:solidFill>
            <a:prstDash val="solid"/>
          </a:ln>
        </p:spPr>
      </p:sp>
      <p:sp>
        <p:nvSpPr>
          <p:cNvPr id="13" name="Text 11"/>
          <p:cNvSpPr txBox="1"/>
          <p:nvPr/>
        </p:nvSpPr>
        <p:spPr>
          <a:xfrm>
            <a:off x="3108960" y="2843784"/>
            <a:ext cx="5303520" cy="36576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Mas'ul o'zgardi  </a:t>
            </a:r>
            <a:pPr indent="0" marL="0">
              <a:buNone/>
            </a:pPr>
            <a:r>
              <a:rPr lang="en-US" sz="1600" dirty="0">
                <a:solidFill>
                  <a:srgbClr val="5E7480"/>
                </a:solidFill>
                <a:latin typeface="Calibri" pitchFamily="34" charset="0"/>
                <a:ea typeface="Calibri" pitchFamily="34" charset="-122"/>
                <a:cs typeface="Calibri" pitchFamily="34" charset="-120"/>
              </a:rPr>
              <a:t>A. Karimov → B. Tosheva</a:t>
            </a:r>
            <a:endParaRPr lang="en-US" sz="1600" dirty="0"/>
          </a:p>
        </p:txBody>
      </p:sp>
      <p:sp>
        <p:nvSpPr>
          <p:cNvPr id="14" name="Text 12"/>
          <p:cNvSpPr txBox="1"/>
          <p:nvPr/>
        </p:nvSpPr>
        <p:spPr>
          <a:xfrm>
            <a:off x="548640" y="3465576"/>
            <a:ext cx="1920240" cy="365760"/>
          </a:xfrm>
          <a:prstGeom prst="rect">
            <a:avLst/>
          </a:prstGeom>
          <a:noFill/>
          <a:ln/>
        </p:spPr>
        <p:txBody>
          <a:bodyPr wrap="square" lIns="0" tIns="0" rIns="0" bIns="0" rtlCol="0" anchor="ctr"/>
          <a:lstStyle/>
          <a:p>
            <a:pPr algn="r" indent="0" marL="0">
              <a:buNone/>
            </a:pPr>
            <a:r>
              <a:rPr lang="en-US" sz="1400" dirty="0">
                <a:solidFill>
                  <a:srgbClr val="5E7480"/>
                </a:solidFill>
                <a:latin typeface="Calibri" pitchFamily="34" charset="0"/>
                <a:ea typeface="Calibri" pitchFamily="34" charset="-122"/>
                <a:cs typeface="Calibri" pitchFamily="34" charset="-120"/>
              </a:rPr>
              <a:t>20.08.2026</a:t>
            </a:r>
            <a:endParaRPr lang="en-US" sz="1400" dirty="0"/>
          </a:p>
        </p:txBody>
      </p:sp>
      <p:sp>
        <p:nvSpPr>
          <p:cNvPr id="15" name="Shape 13"/>
          <p:cNvSpPr/>
          <p:nvPr/>
        </p:nvSpPr>
        <p:spPr>
          <a:xfrm>
            <a:off x="2651760" y="3557016"/>
            <a:ext cx="182880" cy="182880"/>
          </a:xfrm>
          <a:prstGeom prst="ellipse">
            <a:avLst/>
          </a:prstGeom>
          <a:solidFill>
            <a:srgbClr val="F2A541"/>
          </a:solidFill>
          <a:ln w="25400">
            <a:solidFill>
              <a:srgbClr val="FFFFFF"/>
            </a:solidFill>
            <a:prstDash val="solid"/>
          </a:ln>
        </p:spPr>
      </p:sp>
      <p:sp>
        <p:nvSpPr>
          <p:cNvPr id="16" name="Text 14"/>
          <p:cNvSpPr txBox="1"/>
          <p:nvPr/>
        </p:nvSpPr>
        <p:spPr>
          <a:xfrm>
            <a:off x="3108960" y="3465576"/>
            <a:ext cx="5303520" cy="36576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Ta'mirga yuborildi  </a:t>
            </a:r>
            <a:pPr indent="0" marL="0">
              <a:buNone/>
            </a:pPr>
            <a:r>
              <a:rPr lang="en-US" sz="1600" dirty="0">
                <a:solidFill>
                  <a:srgbClr val="5E7480"/>
                </a:solidFill>
                <a:latin typeface="Calibri" pitchFamily="34" charset="0"/>
                <a:ea typeface="Calibri" pitchFamily="34" charset="-122"/>
                <a:cs typeface="Calibri" pitchFamily="34" charset="-120"/>
              </a:rPr>
              <a:t>Nosoz · Ta'mirda</a:t>
            </a:r>
            <a:endParaRPr lang="en-US" sz="1600" dirty="0"/>
          </a:p>
        </p:txBody>
      </p:sp>
      <p:sp>
        <p:nvSpPr>
          <p:cNvPr id="17" name="Text 15"/>
          <p:cNvSpPr txBox="1"/>
          <p:nvPr/>
        </p:nvSpPr>
        <p:spPr>
          <a:xfrm>
            <a:off x="548640" y="4087368"/>
            <a:ext cx="1920240" cy="365760"/>
          </a:xfrm>
          <a:prstGeom prst="rect">
            <a:avLst/>
          </a:prstGeom>
          <a:noFill/>
          <a:ln/>
        </p:spPr>
        <p:txBody>
          <a:bodyPr wrap="square" lIns="0" tIns="0" rIns="0" bIns="0" rtlCol="0" anchor="ctr"/>
          <a:lstStyle/>
          <a:p>
            <a:pPr algn="r" indent="0" marL="0">
              <a:buNone/>
            </a:pPr>
            <a:r>
              <a:rPr lang="en-US" sz="1400" dirty="0">
                <a:solidFill>
                  <a:srgbClr val="5E7480"/>
                </a:solidFill>
                <a:latin typeface="Calibri" pitchFamily="34" charset="0"/>
                <a:ea typeface="Calibri" pitchFamily="34" charset="-122"/>
                <a:cs typeface="Calibri" pitchFamily="34" charset="-120"/>
              </a:rPr>
              <a:t>02.09.2026</a:t>
            </a:r>
            <a:endParaRPr lang="en-US" sz="1400" dirty="0"/>
          </a:p>
        </p:txBody>
      </p:sp>
      <p:sp>
        <p:nvSpPr>
          <p:cNvPr id="18" name="Shape 16"/>
          <p:cNvSpPr/>
          <p:nvPr/>
        </p:nvSpPr>
        <p:spPr>
          <a:xfrm>
            <a:off x="2651760" y="4178808"/>
            <a:ext cx="182880" cy="182880"/>
          </a:xfrm>
          <a:prstGeom prst="ellipse">
            <a:avLst/>
          </a:prstGeom>
          <a:solidFill>
            <a:srgbClr val="0E7C86"/>
          </a:solidFill>
          <a:ln w="25400">
            <a:solidFill>
              <a:srgbClr val="FFFFFF"/>
            </a:solidFill>
            <a:prstDash val="solid"/>
          </a:ln>
        </p:spPr>
      </p:sp>
      <p:sp>
        <p:nvSpPr>
          <p:cNvPr id="19" name="Text 17"/>
          <p:cNvSpPr txBox="1"/>
          <p:nvPr/>
        </p:nvSpPr>
        <p:spPr>
          <a:xfrm>
            <a:off x="3108960" y="4087368"/>
            <a:ext cx="5303520" cy="36576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Ta'mirdan qaytdi  </a:t>
            </a:r>
            <a:pPr indent="0" marL="0">
              <a:buNone/>
            </a:pPr>
            <a:r>
              <a:rPr lang="en-US" sz="1600" dirty="0">
                <a:solidFill>
                  <a:srgbClr val="5E7480"/>
                </a:solidFill>
                <a:latin typeface="Calibri" pitchFamily="34" charset="0"/>
                <a:ea typeface="Calibri" pitchFamily="34" charset="-122"/>
                <a:cs typeface="Calibri" pitchFamily="34" charset="-120"/>
              </a:rPr>
              <a:t>Yaxshi · Ishlatilmoqda</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AI yordamchi: savol bering, javob oling</a:t>
            </a:r>
            <a:endParaRPr lang="en-US" sz="3600" dirty="0"/>
          </a:p>
        </p:txBody>
      </p:sp>
      <p:sp>
        <p:nvSpPr>
          <p:cNvPr id="3" name="Shape 1"/>
          <p:cNvSpPr/>
          <p:nvPr/>
        </p:nvSpPr>
        <p:spPr>
          <a:xfrm>
            <a:off x="548640" y="1371600"/>
            <a:ext cx="4572000" cy="3108960"/>
          </a:xfrm>
          <a:prstGeom prst="roundRect">
            <a:avLst>
              <a:gd name="adj" fmla="val 3529"/>
            </a:avLst>
          </a:prstGeom>
          <a:solidFill>
            <a:srgbClr val="12505F"/>
          </a:solidFill>
          <a:ln w="12700">
            <a:solidFill>
              <a:srgbClr val="12505F"/>
            </a:solidFill>
            <a:prstDash val="solid"/>
          </a:ln>
        </p:spPr>
      </p:sp>
      <p:sp>
        <p:nvSpPr>
          <p:cNvPr id="4" name="Shape 2"/>
          <p:cNvSpPr/>
          <p:nvPr/>
        </p:nvSpPr>
        <p:spPr>
          <a:xfrm>
            <a:off x="2377440" y="1554480"/>
            <a:ext cx="2560320" cy="548640"/>
          </a:xfrm>
          <a:prstGeom prst="roundRect">
            <a:avLst>
              <a:gd name="adj" fmla="val 25000"/>
            </a:avLst>
          </a:prstGeom>
          <a:solidFill>
            <a:srgbClr val="0E7C86"/>
          </a:solidFill>
          <a:ln w="12700">
            <a:solidFill>
              <a:srgbClr val="0E7C86"/>
            </a:solidFill>
            <a:prstDash val="solid"/>
          </a:ln>
        </p:spPr>
      </p:sp>
      <p:sp>
        <p:nvSpPr>
          <p:cNvPr id="5" name="Text 3"/>
          <p:cNvSpPr txBox="1"/>
          <p:nvPr/>
        </p:nvSpPr>
        <p:spPr>
          <a:xfrm>
            <a:off x="2468880" y="1554480"/>
            <a:ext cx="237744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Qaysi bo'limda eng ko'p nosoz jihoz bor?</a:t>
            </a:r>
            <a:endParaRPr lang="en-US" sz="1300" dirty="0"/>
          </a:p>
        </p:txBody>
      </p:sp>
      <p:sp>
        <p:nvSpPr>
          <p:cNvPr id="6" name="Shape 4"/>
          <p:cNvSpPr/>
          <p:nvPr/>
        </p:nvSpPr>
        <p:spPr>
          <a:xfrm>
            <a:off x="731520" y="2286000"/>
            <a:ext cx="3291840" cy="914400"/>
          </a:xfrm>
          <a:prstGeom prst="roundRect">
            <a:avLst>
              <a:gd name="adj" fmla="val 15000"/>
            </a:avLst>
          </a:prstGeom>
          <a:solidFill>
            <a:srgbClr val="FFFFFF"/>
          </a:solidFill>
          <a:ln w="12700">
            <a:solidFill>
              <a:srgbClr val="FFFFFF"/>
            </a:solidFill>
            <a:prstDash val="solid"/>
          </a:ln>
        </p:spPr>
      </p:sp>
      <p:sp>
        <p:nvSpPr>
          <p:cNvPr id="7" name="Text 5"/>
          <p:cNvSpPr txBox="1"/>
          <p:nvPr/>
        </p:nvSpPr>
        <p:spPr>
          <a:xfrm>
            <a:off x="868680" y="2286000"/>
            <a:ext cx="3017520" cy="914400"/>
          </a:xfrm>
          <a:prstGeom prst="rect">
            <a:avLst/>
          </a:prstGeom>
          <a:noFill/>
          <a:ln/>
        </p:spPr>
        <p:txBody>
          <a:bodyPr wrap="square" lIns="0" tIns="0" rIns="0" bIns="0" rtlCol="0" anchor="ctr"/>
          <a:lstStyle/>
          <a:p>
            <a:pPr indent="0" marL="0">
              <a:buNone/>
            </a:pPr>
            <a:r>
              <a:rPr lang="en-US" sz="1300" dirty="0">
                <a:solidFill>
                  <a:srgbClr val="1B2B34"/>
                </a:solidFill>
                <a:latin typeface="Calibri" pitchFamily="34" charset="0"/>
                <a:ea typeface="Calibri" pitchFamily="34" charset="-122"/>
                <a:cs typeface="Calibri" pitchFamily="34" charset="-120"/>
              </a:rPr>
              <a:t>Buxgalteriya bo'limida: 4 ta nosoz jihoz, ulardan 3 tasi printer.</a:t>
            </a:r>
            <a:endParaRPr lang="en-US" sz="1300" dirty="0"/>
          </a:p>
        </p:txBody>
      </p:sp>
      <p:sp>
        <p:nvSpPr>
          <p:cNvPr id="8" name="Text 6"/>
          <p:cNvSpPr txBox="1"/>
          <p:nvPr/>
        </p:nvSpPr>
        <p:spPr>
          <a:xfrm>
            <a:off x="731520" y="3977640"/>
            <a:ext cx="4206240" cy="365760"/>
          </a:xfrm>
          <a:prstGeom prst="rect">
            <a:avLst/>
          </a:prstGeom>
          <a:noFill/>
          <a:ln/>
        </p:spPr>
        <p:txBody>
          <a:bodyPr wrap="square" lIns="0" tIns="0" rIns="0" bIns="0" rtlCol="0" anchor="ctr"/>
          <a:lstStyle/>
          <a:p>
            <a:pPr indent="0" marL="0">
              <a:buNone/>
            </a:pPr>
            <a:r>
              <a:rPr lang="en-US" sz="1100" i="1" dirty="0">
                <a:solidFill>
                  <a:srgbClr val="9FC9C7"/>
                </a:solidFill>
                <a:latin typeface="Calibri" pitchFamily="34" charset="0"/>
                <a:ea typeface="Calibri" pitchFamily="34" charset="-122"/>
                <a:cs typeface="Calibri" pitchFamily="34" charset="-120"/>
              </a:rPr>
              <a:t>Namuna savol-javob</a:t>
            </a:r>
            <a:endParaRPr lang="en-US" sz="1100" dirty="0"/>
          </a:p>
        </p:txBody>
      </p:sp>
      <p:sp>
        <p:nvSpPr>
          <p:cNvPr id="9" name="Shape 7"/>
          <p:cNvSpPr/>
          <p:nvPr/>
        </p:nvSpPr>
        <p:spPr>
          <a:xfrm>
            <a:off x="5486400" y="1417320"/>
            <a:ext cx="731520" cy="731520"/>
          </a:xfrm>
          <a:prstGeom prst="ellipse">
            <a:avLst/>
          </a:prstGeom>
          <a:solidFill>
            <a:srgbClr val="F2A541"/>
          </a:solidFill>
          <a:ln w="12700">
            <a:solidFill>
              <a:srgbClr val="F2A541"/>
            </a:solidFill>
            <a:prstDash val="solid"/>
          </a:ln>
        </p:spPr>
      </p:sp>
      <p:pic>
        <p:nvPicPr>
          <p:cNvPr id="10" name="Image 0" descr="preencoded.png">    </p:cNvPr>
          <p:cNvPicPr>
            <a:picLocks noChangeAspect="1"/>
          </p:cNvPicPr>
          <p:nvPr/>
        </p:nvPicPr>
        <p:blipFill>
          <a:blip r:embed="rId1"/>
          <a:stretch>
            <a:fillRect/>
          </a:stretch>
        </p:blipFill>
        <p:spPr>
          <a:xfrm>
            <a:off x="5669280" y="1600200"/>
            <a:ext cx="365760" cy="365760"/>
          </a:xfrm>
          <a:prstGeom prst="rect">
            <a:avLst/>
          </a:prstGeom>
        </p:spPr>
      </p:pic>
      <p:sp>
        <p:nvSpPr>
          <p:cNvPr id="11" name="Text 8"/>
          <p:cNvSpPr txBox="1"/>
          <p:nvPr/>
        </p:nvSpPr>
        <p:spPr>
          <a:xfrm>
            <a:off x="6400800" y="1417320"/>
            <a:ext cx="228600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Tabiiy tilda savol</a:t>
            </a:r>
            <a:endParaRPr lang="en-US" sz="1600" dirty="0"/>
          </a:p>
        </p:txBody>
      </p:sp>
      <p:sp>
        <p:nvSpPr>
          <p:cNvPr id="12" name="Shape 9"/>
          <p:cNvSpPr/>
          <p:nvPr/>
        </p:nvSpPr>
        <p:spPr>
          <a:xfrm>
            <a:off x="5486400" y="2468880"/>
            <a:ext cx="731520" cy="731520"/>
          </a:xfrm>
          <a:prstGeom prst="ellipse">
            <a:avLst/>
          </a:prstGeom>
          <a:solidFill>
            <a:srgbClr val="F2A541"/>
          </a:solidFill>
          <a:ln w="12700">
            <a:solidFill>
              <a:srgbClr val="F2A541"/>
            </a:solidFill>
            <a:prstDash val="solid"/>
          </a:ln>
        </p:spPr>
      </p:sp>
      <p:pic>
        <p:nvPicPr>
          <p:cNvPr id="13" name="Image 1" descr="preencoded.png">    </p:cNvPr>
          <p:cNvPicPr>
            <a:picLocks noChangeAspect="1"/>
          </p:cNvPicPr>
          <p:nvPr/>
        </p:nvPicPr>
        <p:blipFill>
          <a:blip r:embed="rId2"/>
          <a:stretch>
            <a:fillRect/>
          </a:stretch>
        </p:blipFill>
        <p:spPr>
          <a:xfrm>
            <a:off x="5669280" y="2651760"/>
            <a:ext cx="365760" cy="365760"/>
          </a:xfrm>
          <a:prstGeom prst="rect">
            <a:avLst/>
          </a:prstGeom>
        </p:spPr>
      </p:pic>
      <p:sp>
        <p:nvSpPr>
          <p:cNvPr id="14" name="Text 10"/>
          <p:cNvSpPr txBox="1"/>
          <p:nvPr/>
        </p:nvSpPr>
        <p:spPr>
          <a:xfrm>
            <a:off x="6400800" y="2468880"/>
            <a:ext cx="228600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Faqat o'qiydi, o'zgartirmaydi</a:t>
            </a:r>
            <a:endParaRPr lang="en-US" sz="1600" dirty="0"/>
          </a:p>
        </p:txBody>
      </p:sp>
      <p:sp>
        <p:nvSpPr>
          <p:cNvPr id="15" name="Shape 11"/>
          <p:cNvSpPr/>
          <p:nvPr/>
        </p:nvSpPr>
        <p:spPr>
          <a:xfrm>
            <a:off x="5486400" y="3520440"/>
            <a:ext cx="731520" cy="731520"/>
          </a:xfrm>
          <a:prstGeom prst="ellipse">
            <a:avLst/>
          </a:prstGeom>
          <a:solidFill>
            <a:srgbClr val="F2A541"/>
          </a:solidFill>
          <a:ln w="12700">
            <a:solidFill>
              <a:srgbClr val="F2A541"/>
            </a:solidFill>
            <a:prstDash val="solid"/>
          </a:ln>
        </p:spPr>
      </p:sp>
      <p:pic>
        <p:nvPicPr>
          <p:cNvPr id="16" name="Image 2" descr="preencoded.png">    </p:cNvPr>
          <p:cNvPicPr>
            <a:picLocks noChangeAspect="1"/>
          </p:cNvPicPr>
          <p:nvPr/>
        </p:nvPicPr>
        <p:blipFill>
          <a:blip r:embed="rId3"/>
          <a:stretch>
            <a:fillRect/>
          </a:stretch>
        </p:blipFill>
        <p:spPr>
          <a:xfrm>
            <a:off x="5669280" y="3703320"/>
            <a:ext cx="365760" cy="365760"/>
          </a:xfrm>
          <a:prstGeom prst="rect">
            <a:avLst/>
          </a:prstGeom>
        </p:spPr>
      </p:pic>
      <p:sp>
        <p:nvSpPr>
          <p:cNvPr id="17" name="Text 12"/>
          <p:cNvSpPr txBox="1"/>
          <p:nvPr/>
        </p:nvSpPr>
        <p:spPr>
          <a:xfrm>
            <a:off x="6400800" y="3520440"/>
            <a:ext cx="228600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Bepul modellar, zaxira zanjiri</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Foydalanuvchi rollari</a:t>
            </a:r>
            <a:endParaRPr lang="en-US" sz="3600" dirty="0"/>
          </a:p>
        </p:txBody>
      </p:sp>
      <p:sp>
        <p:nvSpPr>
          <p:cNvPr id="3" name="Shape 1"/>
          <p:cNvSpPr/>
          <p:nvPr/>
        </p:nvSpPr>
        <p:spPr>
          <a:xfrm>
            <a:off x="548640" y="1371600"/>
            <a:ext cx="2560320" cy="2926080"/>
          </a:xfrm>
          <a:prstGeom prst="roundRect">
            <a:avLst>
              <a:gd name="adj" fmla="val 4286"/>
            </a:avLst>
          </a:prstGeom>
          <a:solidFill>
            <a:srgbClr val="E8F4F3"/>
          </a:solidFill>
          <a:ln w="12700">
            <a:solidFill>
              <a:srgbClr val="E8F4F3"/>
            </a:solidFill>
            <a:prstDash val="solid"/>
          </a:ln>
        </p:spPr>
      </p:sp>
      <p:sp>
        <p:nvSpPr>
          <p:cNvPr id="4" name="Shape 2"/>
          <p:cNvSpPr/>
          <p:nvPr/>
        </p:nvSpPr>
        <p:spPr>
          <a:xfrm>
            <a:off x="1371600" y="1600200"/>
            <a:ext cx="914400" cy="914400"/>
          </a:xfrm>
          <a:prstGeom prst="ellipse">
            <a:avLst/>
          </a:prstGeom>
          <a:solidFill>
            <a:srgbClr val="0B3C49"/>
          </a:solidFill>
          <a:ln w="12700">
            <a:solidFill>
              <a:srgbClr val="0B3C49"/>
            </a:solidFill>
            <a:prstDash val="solid"/>
          </a:ln>
        </p:spPr>
      </p:sp>
      <p:pic>
        <p:nvPicPr>
          <p:cNvPr id="5" name="Image 0" descr="preencoded.png">    </p:cNvPr>
          <p:cNvPicPr>
            <a:picLocks noChangeAspect="1"/>
          </p:cNvPicPr>
          <p:nvPr/>
        </p:nvPicPr>
        <p:blipFill>
          <a:blip r:embed="rId1"/>
          <a:stretch>
            <a:fillRect/>
          </a:stretch>
        </p:blipFill>
        <p:spPr>
          <a:xfrm>
            <a:off x="1600200" y="1828800"/>
            <a:ext cx="457200" cy="457200"/>
          </a:xfrm>
          <a:prstGeom prst="rect">
            <a:avLst/>
          </a:prstGeom>
        </p:spPr>
      </p:pic>
      <p:sp>
        <p:nvSpPr>
          <p:cNvPr id="6" name="Text 3"/>
          <p:cNvSpPr txBox="1"/>
          <p:nvPr/>
        </p:nvSpPr>
        <p:spPr>
          <a:xfrm>
            <a:off x="685800" y="2697480"/>
            <a:ext cx="2286000" cy="457200"/>
          </a:xfrm>
          <a:prstGeom prst="rect">
            <a:avLst/>
          </a:prstGeom>
          <a:noFill/>
          <a:ln/>
        </p:spPr>
        <p:txBody>
          <a:bodyPr wrap="square" lIns="0" tIns="0" rIns="0" bIns="0" rtlCol="0" anchor="ctr"/>
          <a:lstStyle/>
          <a:p>
            <a:pPr algn="ctr" indent="0" marL="0">
              <a:buNone/>
            </a:pPr>
            <a:r>
              <a:rPr lang="en-US" sz="2000" b="1" dirty="0">
                <a:solidFill>
                  <a:srgbClr val="0B3C49"/>
                </a:solidFill>
                <a:latin typeface="Calibri" pitchFamily="34" charset="0"/>
                <a:ea typeface="Calibri" pitchFamily="34" charset="-122"/>
                <a:cs typeface="Calibri" pitchFamily="34" charset="-120"/>
              </a:rPr>
              <a:t>Administrator</a:t>
            </a:r>
            <a:endParaRPr lang="en-US" sz="2000" dirty="0"/>
          </a:p>
        </p:txBody>
      </p:sp>
      <p:sp>
        <p:nvSpPr>
          <p:cNvPr id="7" name="Text 4"/>
          <p:cNvSpPr txBox="1"/>
          <p:nvPr/>
        </p:nvSpPr>
        <p:spPr>
          <a:xfrm>
            <a:off x="731520" y="3200400"/>
            <a:ext cx="2194560" cy="1005840"/>
          </a:xfrm>
          <a:prstGeom prst="rect">
            <a:avLst/>
          </a:prstGeom>
          <a:noFill/>
          <a:ln/>
        </p:spPr>
        <p:txBody>
          <a:bodyPr wrap="square" lIns="0" tIns="0" rIns="0" bIns="0" rtlCol="0" anchor="ctr"/>
          <a:lstStyle/>
          <a:p>
            <a:pPr algn="ctr" indent="0" marL="0">
              <a:buNone/>
            </a:pPr>
            <a:r>
              <a:rPr lang="en-US" sz="1400" dirty="0">
                <a:solidFill>
                  <a:srgbClr val="5E7480"/>
                </a:solidFill>
                <a:latin typeface="Calibri" pitchFamily="34" charset="0"/>
                <a:ea typeface="Calibri" pitchFamily="34" charset="-122"/>
                <a:cs typeface="Calibri" pitchFamily="34" charset="-120"/>
              </a:rPr>
              <a:t>Hamma narsa: jihoz, foydalanuvchi, ma'lumotnoma</a:t>
            </a:r>
            <a:endParaRPr lang="en-US" sz="1400" dirty="0"/>
          </a:p>
        </p:txBody>
      </p:sp>
      <p:sp>
        <p:nvSpPr>
          <p:cNvPr id="8" name="Shape 5"/>
          <p:cNvSpPr/>
          <p:nvPr/>
        </p:nvSpPr>
        <p:spPr>
          <a:xfrm>
            <a:off x="3291840" y="1371600"/>
            <a:ext cx="2560320" cy="2926080"/>
          </a:xfrm>
          <a:prstGeom prst="roundRect">
            <a:avLst>
              <a:gd name="adj" fmla="val 4286"/>
            </a:avLst>
          </a:prstGeom>
          <a:solidFill>
            <a:srgbClr val="E8F4F3"/>
          </a:solidFill>
          <a:ln w="12700">
            <a:solidFill>
              <a:srgbClr val="E8F4F3"/>
            </a:solidFill>
            <a:prstDash val="solid"/>
          </a:ln>
        </p:spPr>
      </p:sp>
      <p:sp>
        <p:nvSpPr>
          <p:cNvPr id="9" name="Shape 6"/>
          <p:cNvSpPr/>
          <p:nvPr/>
        </p:nvSpPr>
        <p:spPr>
          <a:xfrm>
            <a:off x="4114800" y="1600200"/>
            <a:ext cx="914400" cy="914400"/>
          </a:xfrm>
          <a:prstGeom prst="ellipse">
            <a:avLst/>
          </a:prstGeom>
          <a:solidFill>
            <a:srgbClr val="0E7C86"/>
          </a:solidFill>
          <a:ln w="12700">
            <a:solidFill>
              <a:srgbClr val="0E7C86"/>
            </a:solidFill>
            <a:prstDash val="solid"/>
          </a:ln>
        </p:spPr>
      </p:sp>
      <p:pic>
        <p:nvPicPr>
          <p:cNvPr id="10" name="Image 1" descr="preencoded.png">    </p:cNvPr>
          <p:cNvPicPr>
            <a:picLocks noChangeAspect="1"/>
          </p:cNvPicPr>
          <p:nvPr/>
        </p:nvPicPr>
        <p:blipFill>
          <a:blip r:embed="rId2"/>
          <a:stretch>
            <a:fillRect/>
          </a:stretch>
        </p:blipFill>
        <p:spPr>
          <a:xfrm>
            <a:off x="4343400" y="1828800"/>
            <a:ext cx="457200" cy="457200"/>
          </a:xfrm>
          <a:prstGeom prst="rect">
            <a:avLst/>
          </a:prstGeom>
        </p:spPr>
      </p:pic>
      <p:sp>
        <p:nvSpPr>
          <p:cNvPr id="11" name="Text 7"/>
          <p:cNvSpPr txBox="1"/>
          <p:nvPr/>
        </p:nvSpPr>
        <p:spPr>
          <a:xfrm>
            <a:off x="3429000" y="2697480"/>
            <a:ext cx="2286000" cy="457200"/>
          </a:xfrm>
          <a:prstGeom prst="rect">
            <a:avLst/>
          </a:prstGeom>
          <a:noFill/>
          <a:ln/>
        </p:spPr>
        <p:txBody>
          <a:bodyPr wrap="square" lIns="0" tIns="0" rIns="0" bIns="0" rtlCol="0" anchor="ctr"/>
          <a:lstStyle/>
          <a:p>
            <a:pPr algn="ctr" indent="0" marL="0">
              <a:buNone/>
            </a:pPr>
            <a:r>
              <a:rPr lang="en-US" sz="2000" b="1" dirty="0">
                <a:solidFill>
                  <a:srgbClr val="0B3C49"/>
                </a:solidFill>
                <a:latin typeface="Calibri" pitchFamily="34" charset="0"/>
                <a:ea typeface="Calibri" pitchFamily="34" charset="-122"/>
                <a:cs typeface="Calibri" pitchFamily="34" charset="-120"/>
              </a:rPr>
              <a:t>Mas'ul shaxs</a:t>
            </a:r>
            <a:endParaRPr lang="en-US" sz="2000" dirty="0"/>
          </a:p>
        </p:txBody>
      </p:sp>
      <p:sp>
        <p:nvSpPr>
          <p:cNvPr id="12" name="Text 8"/>
          <p:cNvSpPr txBox="1"/>
          <p:nvPr/>
        </p:nvSpPr>
        <p:spPr>
          <a:xfrm>
            <a:off x="3474720" y="3200400"/>
            <a:ext cx="2194560" cy="1005840"/>
          </a:xfrm>
          <a:prstGeom prst="rect">
            <a:avLst/>
          </a:prstGeom>
          <a:noFill/>
          <a:ln/>
        </p:spPr>
        <p:txBody>
          <a:bodyPr wrap="square" lIns="0" tIns="0" rIns="0" bIns="0" rtlCol="0" anchor="ctr"/>
          <a:lstStyle/>
          <a:p>
            <a:pPr algn="ctr" indent="0" marL="0">
              <a:buNone/>
            </a:pPr>
            <a:r>
              <a:rPr lang="en-US" sz="1400" dirty="0">
                <a:solidFill>
                  <a:srgbClr val="5E7480"/>
                </a:solidFill>
                <a:latin typeface="Calibri" pitchFamily="34" charset="0"/>
                <a:ea typeface="Calibri" pitchFamily="34" charset="-122"/>
                <a:cs typeface="Calibri" pitchFamily="34" charset="-120"/>
              </a:rPr>
              <a:t>O'z jihozlarini ko'radi, holatini yangilaydi, ta'mir qayd etadi</a:t>
            </a:r>
            <a:endParaRPr lang="en-US" sz="1400" dirty="0"/>
          </a:p>
        </p:txBody>
      </p:sp>
      <p:sp>
        <p:nvSpPr>
          <p:cNvPr id="13" name="Shape 9"/>
          <p:cNvSpPr/>
          <p:nvPr/>
        </p:nvSpPr>
        <p:spPr>
          <a:xfrm>
            <a:off x="6035040" y="1371600"/>
            <a:ext cx="2560320" cy="2926080"/>
          </a:xfrm>
          <a:prstGeom prst="roundRect">
            <a:avLst>
              <a:gd name="adj" fmla="val 4286"/>
            </a:avLst>
          </a:prstGeom>
          <a:solidFill>
            <a:srgbClr val="E8F4F3"/>
          </a:solidFill>
          <a:ln w="12700">
            <a:solidFill>
              <a:srgbClr val="E8F4F3"/>
            </a:solidFill>
            <a:prstDash val="solid"/>
          </a:ln>
        </p:spPr>
      </p:sp>
      <p:sp>
        <p:nvSpPr>
          <p:cNvPr id="14" name="Shape 10"/>
          <p:cNvSpPr/>
          <p:nvPr/>
        </p:nvSpPr>
        <p:spPr>
          <a:xfrm>
            <a:off x="6858000" y="1600200"/>
            <a:ext cx="914400" cy="914400"/>
          </a:xfrm>
          <a:prstGeom prst="ellipse">
            <a:avLst/>
          </a:prstGeom>
          <a:solidFill>
            <a:srgbClr val="14A3A8"/>
          </a:solidFill>
          <a:ln w="12700">
            <a:solidFill>
              <a:srgbClr val="14A3A8"/>
            </a:solidFill>
            <a:prstDash val="solid"/>
          </a:ln>
        </p:spPr>
      </p:sp>
      <p:pic>
        <p:nvPicPr>
          <p:cNvPr id="15" name="Image 2" descr="preencoded.png">    </p:cNvPr>
          <p:cNvPicPr>
            <a:picLocks noChangeAspect="1"/>
          </p:cNvPicPr>
          <p:nvPr/>
        </p:nvPicPr>
        <p:blipFill>
          <a:blip r:embed="rId3"/>
          <a:stretch>
            <a:fillRect/>
          </a:stretch>
        </p:blipFill>
        <p:spPr>
          <a:xfrm>
            <a:off x="7086600" y="1828800"/>
            <a:ext cx="457200" cy="457200"/>
          </a:xfrm>
          <a:prstGeom prst="rect">
            <a:avLst/>
          </a:prstGeom>
        </p:spPr>
      </p:pic>
      <p:sp>
        <p:nvSpPr>
          <p:cNvPr id="16" name="Text 11"/>
          <p:cNvSpPr txBox="1"/>
          <p:nvPr/>
        </p:nvSpPr>
        <p:spPr>
          <a:xfrm>
            <a:off x="6172200" y="2697480"/>
            <a:ext cx="2286000" cy="457200"/>
          </a:xfrm>
          <a:prstGeom prst="rect">
            <a:avLst/>
          </a:prstGeom>
          <a:noFill/>
          <a:ln/>
        </p:spPr>
        <p:txBody>
          <a:bodyPr wrap="square" lIns="0" tIns="0" rIns="0" bIns="0" rtlCol="0" anchor="ctr"/>
          <a:lstStyle/>
          <a:p>
            <a:pPr algn="ctr" indent="0" marL="0">
              <a:buNone/>
            </a:pPr>
            <a:r>
              <a:rPr lang="en-US" sz="2000" b="1" dirty="0">
                <a:solidFill>
                  <a:srgbClr val="0B3C49"/>
                </a:solidFill>
                <a:latin typeface="Calibri" pitchFamily="34" charset="0"/>
                <a:ea typeface="Calibri" pitchFamily="34" charset="-122"/>
                <a:cs typeface="Calibri" pitchFamily="34" charset="-120"/>
              </a:rPr>
              <a:t>Xodim</a:t>
            </a:r>
            <a:endParaRPr lang="en-US" sz="2000" dirty="0"/>
          </a:p>
        </p:txBody>
      </p:sp>
      <p:sp>
        <p:nvSpPr>
          <p:cNvPr id="17" name="Text 12"/>
          <p:cNvSpPr txBox="1"/>
          <p:nvPr/>
        </p:nvSpPr>
        <p:spPr>
          <a:xfrm>
            <a:off x="6217920" y="3200400"/>
            <a:ext cx="2194560" cy="1005840"/>
          </a:xfrm>
          <a:prstGeom prst="rect">
            <a:avLst/>
          </a:prstGeom>
          <a:noFill/>
          <a:ln/>
        </p:spPr>
        <p:txBody>
          <a:bodyPr wrap="square" lIns="0" tIns="0" rIns="0" bIns="0" rtlCol="0" anchor="ctr"/>
          <a:lstStyle/>
          <a:p>
            <a:pPr algn="ctr" indent="0" marL="0">
              <a:buNone/>
            </a:pPr>
            <a:r>
              <a:rPr lang="en-US" sz="1400" dirty="0">
                <a:solidFill>
                  <a:srgbClr val="5E7480"/>
                </a:solidFill>
                <a:latin typeface="Calibri" pitchFamily="34" charset="0"/>
                <a:ea typeface="Calibri" pitchFamily="34" charset="-122"/>
                <a:cs typeface="Calibri" pitchFamily="34" charset="-120"/>
              </a:rPr>
              <a:t>Faqat ko'rish</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Kiberxavfsizlik choralari</a:t>
            </a:r>
            <a:endParaRPr lang="en-US" sz="3600" dirty="0"/>
          </a:p>
        </p:txBody>
      </p:sp>
      <p:sp>
        <p:nvSpPr>
          <p:cNvPr id="3" name="Shape 1"/>
          <p:cNvSpPr/>
          <p:nvPr/>
        </p:nvSpPr>
        <p:spPr>
          <a:xfrm>
            <a:off x="548640" y="1371600"/>
            <a:ext cx="2560320" cy="1508760"/>
          </a:xfrm>
          <a:prstGeom prst="roundRect">
            <a:avLst>
              <a:gd name="adj" fmla="val 7273"/>
            </a:avLst>
          </a:prstGeom>
          <a:solidFill>
            <a:srgbClr val="12505F"/>
          </a:solidFill>
          <a:ln w="12700">
            <a:solidFill>
              <a:srgbClr val="12505F"/>
            </a:solidFill>
            <a:prstDash val="solid"/>
          </a:ln>
        </p:spPr>
      </p:sp>
      <p:sp>
        <p:nvSpPr>
          <p:cNvPr id="4" name="Shape 2"/>
          <p:cNvSpPr/>
          <p:nvPr/>
        </p:nvSpPr>
        <p:spPr>
          <a:xfrm>
            <a:off x="731520" y="1554480"/>
            <a:ext cx="548640" cy="54864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68680" y="1691640"/>
            <a:ext cx="274320" cy="274320"/>
          </a:xfrm>
          <a:prstGeom prst="rect">
            <a:avLst/>
          </a:prstGeom>
        </p:spPr>
      </p:pic>
      <p:sp>
        <p:nvSpPr>
          <p:cNvPr id="6" name="Text 3"/>
          <p:cNvSpPr txBox="1"/>
          <p:nvPr/>
        </p:nvSpPr>
        <p:spPr>
          <a:xfrm>
            <a:off x="1417320" y="1554480"/>
            <a:ext cx="16002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Parollar</a:t>
            </a:r>
            <a:endParaRPr lang="en-US" sz="1500" dirty="0"/>
          </a:p>
        </p:txBody>
      </p:sp>
      <p:sp>
        <p:nvSpPr>
          <p:cNvPr id="7" name="Text 4"/>
          <p:cNvSpPr txBox="1"/>
          <p:nvPr/>
        </p:nvSpPr>
        <p:spPr>
          <a:xfrm>
            <a:off x="731520" y="2240280"/>
            <a:ext cx="2240280" cy="594360"/>
          </a:xfrm>
          <a:prstGeom prst="rect">
            <a:avLst/>
          </a:prstGeom>
          <a:noFill/>
          <a:ln/>
        </p:spPr>
        <p:txBody>
          <a:bodyPr wrap="square" lIns="0" tIns="0" rIns="0" bIns="0" rtlCol="0" anchor="ctr"/>
          <a:lstStyle/>
          <a:p>
            <a:pPr indent="0" marL="0">
              <a:buNone/>
            </a:pPr>
            <a:r>
              <a:rPr lang="en-US" sz="1300" dirty="0">
                <a:solidFill>
                  <a:srgbClr val="CFE8E6"/>
                </a:solidFill>
                <a:latin typeface="Calibri" pitchFamily="34" charset="0"/>
                <a:ea typeface="Calibri" pitchFamily="34" charset="-122"/>
                <a:cs typeface="Calibri" pitchFamily="34" charset="-120"/>
              </a:rPr>
              <a:t>bcrypt bilan hash, ochiq saqlanmaydi</a:t>
            </a:r>
            <a:endParaRPr lang="en-US" sz="1300" dirty="0"/>
          </a:p>
        </p:txBody>
      </p:sp>
      <p:sp>
        <p:nvSpPr>
          <p:cNvPr id="8" name="Shape 5"/>
          <p:cNvSpPr/>
          <p:nvPr/>
        </p:nvSpPr>
        <p:spPr>
          <a:xfrm>
            <a:off x="3291840" y="1371600"/>
            <a:ext cx="2560320" cy="1508760"/>
          </a:xfrm>
          <a:prstGeom prst="roundRect">
            <a:avLst>
              <a:gd name="adj" fmla="val 7273"/>
            </a:avLst>
          </a:prstGeom>
          <a:solidFill>
            <a:srgbClr val="12505F"/>
          </a:solidFill>
          <a:ln w="12700">
            <a:solidFill>
              <a:srgbClr val="12505F"/>
            </a:solidFill>
            <a:prstDash val="solid"/>
          </a:ln>
        </p:spPr>
      </p:sp>
      <p:sp>
        <p:nvSpPr>
          <p:cNvPr id="9" name="Shape 6"/>
          <p:cNvSpPr/>
          <p:nvPr/>
        </p:nvSpPr>
        <p:spPr>
          <a:xfrm>
            <a:off x="3474720" y="1554480"/>
            <a:ext cx="548640" cy="54864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3611880" y="1691640"/>
            <a:ext cx="274320" cy="274320"/>
          </a:xfrm>
          <a:prstGeom prst="rect">
            <a:avLst/>
          </a:prstGeom>
        </p:spPr>
      </p:pic>
      <p:sp>
        <p:nvSpPr>
          <p:cNvPr id="11" name="Text 7"/>
          <p:cNvSpPr txBox="1"/>
          <p:nvPr/>
        </p:nvSpPr>
        <p:spPr>
          <a:xfrm>
            <a:off x="4160520" y="1554480"/>
            <a:ext cx="16002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JWT kirish</a:t>
            </a:r>
            <a:endParaRPr lang="en-US" sz="1500" dirty="0"/>
          </a:p>
        </p:txBody>
      </p:sp>
      <p:sp>
        <p:nvSpPr>
          <p:cNvPr id="12" name="Text 8"/>
          <p:cNvSpPr txBox="1"/>
          <p:nvPr/>
        </p:nvSpPr>
        <p:spPr>
          <a:xfrm>
            <a:off x="3474720" y="2240280"/>
            <a:ext cx="2240280" cy="594360"/>
          </a:xfrm>
          <a:prstGeom prst="rect">
            <a:avLst/>
          </a:prstGeom>
          <a:noFill/>
          <a:ln/>
        </p:spPr>
        <p:txBody>
          <a:bodyPr wrap="square" lIns="0" tIns="0" rIns="0" bIns="0" rtlCol="0" anchor="ctr"/>
          <a:lstStyle/>
          <a:p>
            <a:pPr indent="0" marL="0">
              <a:buNone/>
            </a:pPr>
            <a:r>
              <a:rPr lang="en-US" sz="1300" dirty="0">
                <a:solidFill>
                  <a:srgbClr val="CFE8E6"/>
                </a:solidFill>
                <a:latin typeface="Calibri" pitchFamily="34" charset="0"/>
                <a:ea typeface="Calibri" pitchFamily="34" charset="-122"/>
                <a:cs typeface="Calibri" pitchFamily="34" charset="-120"/>
              </a:rPr>
              <a:t>Qisqa muddatli token</a:t>
            </a:r>
            <a:endParaRPr lang="en-US" sz="1300" dirty="0"/>
          </a:p>
        </p:txBody>
      </p:sp>
      <p:sp>
        <p:nvSpPr>
          <p:cNvPr id="13" name="Shape 9"/>
          <p:cNvSpPr/>
          <p:nvPr/>
        </p:nvSpPr>
        <p:spPr>
          <a:xfrm>
            <a:off x="6035040" y="1371600"/>
            <a:ext cx="2560320" cy="1508760"/>
          </a:xfrm>
          <a:prstGeom prst="roundRect">
            <a:avLst>
              <a:gd name="adj" fmla="val 7273"/>
            </a:avLst>
          </a:prstGeom>
          <a:solidFill>
            <a:srgbClr val="12505F"/>
          </a:solidFill>
          <a:ln w="12700">
            <a:solidFill>
              <a:srgbClr val="12505F"/>
            </a:solidFill>
            <a:prstDash val="solid"/>
          </a:ln>
        </p:spPr>
      </p:sp>
      <p:sp>
        <p:nvSpPr>
          <p:cNvPr id="14" name="Shape 10"/>
          <p:cNvSpPr/>
          <p:nvPr/>
        </p:nvSpPr>
        <p:spPr>
          <a:xfrm>
            <a:off x="6217920" y="1554480"/>
            <a:ext cx="548640" cy="54864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6355080" y="1691640"/>
            <a:ext cx="274320" cy="274320"/>
          </a:xfrm>
          <a:prstGeom prst="rect">
            <a:avLst/>
          </a:prstGeom>
        </p:spPr>
      </p:pic>
      <p:sp>
        <p:nvSpPr>
          <p:cNvPr id="16" name="Text 11"/>
          <p:cNvSpPr txBox="1"/>
          <p:nvPr/>
        </p:nvSpPr>
        <p:spPr>
          <a:xfrm>
            <a:off x="6903720" y="1554480"/>
            <a:ext cx="16002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Rollar nazorati</a:t>
            </a:r>
            <a:endParaRPr lang="en-US" sz="1500" dirty="0"/>
          </a:p>
        </p:txBody>
      </p:sp>
      <p:sp>
        <p:nvSpPr>
          <p:cNvPr id="17" name="Text 12"/>
          <p:cNvSpPr txBox="1"/>
          <p:nvPr/>
        </p:nvSpPr>
        <p:spPr>
          <a:xfrm>
            <a:off x="6217920" y="2240280"/>
            <a:ext cx="2240280" cy="594360"/>
          </a:xfrm>
          <a:prstGeom prst="rect">
            <a:avLst/>
          </a:prstGeom>
          <a:noFill/>
          <a:ln/>
        </p:spPr>
        <p:txBody>
          <a:bodyPr wrap="square" lIns="0" tIns="0" rIns="0" bIns="0" rtlCol="0" anchor="ctr"/>
          <a:lstStyle/>
          <a:p>
            <a:pPr indent="0" marL="0">
              <a:buNone/>
            </a:pPr>
            <a:r>
              <a:rPr lang="en-US" sz="1300" dirty="0">
                <a:solidFill>
                  <a:srgbClr val="CFE8E6"/>
                </a:solidFill>
                <a:latin typeface="Calibri" pitchFamily="34" charset="0"/>
                <a:ea typeface="Calibri" pitchFamily="34" charset="-122"/>
                <a:cs typeface="Calibri" pitchFamily="34" charset="-120"/>
              </a:rPr>
              <a:t>Ruxsat serverda tekshiriladi (RBAC)</a:t>
            </a:r>
            <a:endParaRPr lang="en-US" sz="1300" dirty="0"/>
          </a:p>
        </p:txBody>
      </p:sp>
      <p:sp>
        <p:nvSpPr>
          <p:cNvPr id="18" name="Shape 13"/>
          <p:cNvSpPr/>
          <p:nvPr/>
        </p:nvSpPr>
        <p:spPr>
          <a:xfrm>
            <a:off x="548640" y="3063240"/>
            <a:ext cx="2560320" cy="1508760"/>
          </a:xfrm>
          <a:prstGeom prst="roundRect">
            <a:avLst>
              <a:gd name="adj" fmla="val 7273"/>
            </a:avLst>
          </a:prstGeom>
          <a:solidFill>
            <a:srgbClr val="12505F"/>
          </a:solidFill>
          <a:ln w="12700">
            <a:solidFill>
              <a:srgbClr val="12505F"/>
            </a:solidFill>
            <a:prstDash val="solid"/>
          </a:ln>
        </p:spPr>
      </p:sp>
      <p:sp>
        <p:nvSpPr>
          <p:cNvPr id="19" name="Shape 14"/>
          <p:cNvSpPr/>
          <p:nvPr/>
        </p:nvSpPr>
        <p:spPr>
          <a:xfrm>
            <a:off x="731520" y="3246120"/>
            <a:ext cx="548640" cy="548640"/>
          </a:xfrm>
          <a:prstGeom prst="ellipse">
            <a:avLst/>
          </a:prstGeom>
          <a:solidFill>
            <a:srgbClr val="F2A541"/>
          </a:solidFill>
          <a:ln w="12700">
            <a:solidFill>
              <a:srgbClr val="F2A541"/>
            </a:solidFill>
            <a:prstDash val="solid"/>
          </a:ln>
        </p:spPr>
      </p:sp>
      <p:pic>
        <p:nvPicPr>
          <p:cNvPr id="20" name="Image 3" descr="preencoded.png">    </p:cNvPr>
          <p:cNvPicPr>
            <a:picLocks noChangeAspect="1"/>
          </p:cNvPicPr>
          <p:nvPr/>
        </p:nvPicPr>
        <p:blipFill>
          <a:blip r:embed="rId4"/>
          <a:stretch>
            <a:fillRect/>
          </a:stretch>
        </p:blipFill>
        <p:spPr>
          <a:xfrm>
            <a:off x="868680" y="3383280"/>
            <a:ext cx="274320" cy="274320"/>
          </a:xfrm>
          <a:prstGeom prst="rect">
            <a:avLst/>
          </a:prstGeom>
        </p:spPr>
      </p:pic>
      <p:sp>
        <p:nvSpPr>
          <p:cNvPr id="21" name="Text 15"/>
          <p:cNvSpPr txBox="1"/>
          <p:nvPr/>
        </p:nvSpPr>
        <p:spPr>
          <a:xfrm>
            <a:off x="1417320" y="3246120"/>
            <a:ext cx="16002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Kirish tekshiruvi</a:t>
            </a:r>
            <a:endParaRPr lang="en-US" sz="1500" dirty="0"/>
          </a:p>
        </p:txBody>
      </p:sp>
      <p:sp>
        <p:nvSpPr>
          <p:cNvPr id="22" name="Text 16"/>
          <p:cNvSpPr txBox="1"/>
          <p:nvPr/>
        </p:nvSpPr>
        <p:spPr>
          <a:xfrm>
            <a:off x="731520" y="3931920"/>
            <a:ext cx="2240280" cy="594360"/>
          </a:xfrm>
          <a:prstGeom prst="rect">
            <a:avLst/>
          </a:prstGeom>
          <a:noFill/>
          <a:ln/>
        </p:spPr>
        <p:txBody>
          <a:bodyPr wrap="square" lIns="0" tIns="0" rIns="0" bIns="0" rtlCol="0" anchor="ctr"/>
          <a:lstStyle/>
          <a:p>
            <a:pPr indent="0" marL="0">
              <a:buNone/>
            </a:pPr>
            <a:r>
              <a:rPr lang="en-US" sz="1300" dirty="0">
                <a:solidFill>
                  <a:srgbClr val="CFE8E6"/>
                </a:solidFill>
                <a:latin typeface="Calibri" pitchFamily="34" charset="0"/>
                <a:ea typeface="Calibri" pitchFamily="34" charset="-122"/>
                <a:cs typeface="Calibri" pitchFamily="34" charset="-120"/>
              </a:rPr>
              <a:t>Zod validatsiya, Prisma — SQL-injection yo'q</a:t>
            </a:r>
            <a:endParaRPr lang="en-US" sz="1300" dirty="0"/>
          </a:p>
        </p:txBody>
      </p:sp>
      <p:sp>
        <p:nvSpPr>
          <p:cNvPr id="23" name="Shape 17"/>
          <p:cNvSpPr/>
          <p:nvPr/>
        </p:nvSpPr>
        <p:spPr>
          <a:xfrm>
            <a:off x="3291840" y="3063240"/>
            <a:ext cx="2560320" cy="1508760"/>
          </a:xfrm>
          <a:prstGeom prst="roundRect">
            <a:avLst>
              <a:gd name="adj" fmla="val 7273"/>
            </a:avLst>
          </a:prstGeom>
          <a:solidFill>
            <a:srgbClr val="12505F"/>
          </a:solidFill>
          <a:ln w="12700">
            <a:solidFill>
              <a:srgbClr val="12505F"/>
            </a:solidFill>
            <a:prstDash val="solid"/>
          </a:ln>
        </p:spPr>
      </p:sp>
      <p:sp>
        <p:nvSpPr>
          <p:cNvPr id="24" name="Shape 18"/>
          <p:cNvSpPr/>
          <p:nvPr/>
        </p:nvSpPr>
        <p:spPr>
          <a:xfrm>
            <a:off x="3474720" y="3246120"/>
            <a:ext cx="548640" cy="548640"/>
          </a:xfrm>
          <a:prstGeom prst="ellipse">
            <a:avLst/>
          </a:prstGeom>
          <a:solidFill>
            <a:srgbClr val="F2A541"/>
          </a:solidFill>
          <a:ln w="12700">
            <a:solidFill>
              <a:srgbClr val="F2A541"/>
            </a:solidFill>
            <a:prstDash val="solid"/>
          </a:ln>
        </p:spPr>
      </p:sp>
      <p:pic>
        <p:nvPicPr>
          <p:cNvPr id="25" name="Image 4" descr="preencoded.png">    </p:cNvPr>
          <p:cNvPicPr>
            <a:picLocks noChangeAspect="1"/>
          </p:cNvPicPr>
          <p:nvPr/>
        </p:nvPicPr>
        <p:blipFill>
          <a:blip r:embed="rId5"/>
          <a:stretch>
            <a:fillRect/>
          </a:stretch>
        </p:blipFill>
        <p:spPr>
          <a:xfrm>
            <a:off x="3611880" y="3383280"/>
            <a:ext cx="274320" cy="274320"/>
          </a:xfrm>
          <a:prstGeom prst="rect">
            <a:avLst/>
          </a:prstGeom>
        </p:spPr>
      </p:pic>
      <p:sp>
        <p:nvSpPr>
          <p:cNvPr id="26" name="Text 19"/>
          <p:cNvSpPr txBox="1"/>
          <p:nvPr/>
        </p:nvSpPr>
        <p:spPr>
          <a:xfrm>
            <a:off x="4160520" y="3246120"/>
            <a:ext cx="16002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Himoya sarlavhalari</a:t>
            </a:r>
            <a:endParaRPr lang="en-US" sz="1500" dirty="0"/>
          </a:p>
        </p:txBody>
      </p:sp>
      <p:sp>
        <p:nvSpPr>
          <p:cNvPr id="27" name="Text 20"/>
          <p:cNvSpPr txBox="1"/>
          <p:nvPr/>
        </p:nvSpPr>
        <p:spPr>
          <a:xfrm>
            <a:off x="3474720" y="3931920"/>
            <a:ext cx="2240280" cy="594360"/>
          </a:xfrm>
          <a:prstGeom prst="rect">
            <a:avLst/>
          </a:prstGeom>
          <a:noFill/>
          <a:ln/>
        </p:spPr>
        <p:txBody>
          <a:bodyPr wrap="square" lIns="0" tIns="0" rIns="0" bIns="0" rtlCol="0" anchor="ctr"/>
          <a:lstStyle/>
          <a:p>
            <a:pPr indent="0" marL="0">
              <a:buNone/>
            </a:pPr>
            <a:r>
              <a:rPr lang="en-US" sz="1300" dirty="0">
                <a:solidFill>
                  <a:srgbClr val="CFE8E6"/>
                </a:solidFill>
                <a:latin typeface="Calibri" pitchFamily="34" charset="0"/>
                <a:ea typeface="Calibri" pitchFamily="34" charset="-122"/>
                <a:cs typeface="Calibri" pitchFamily="34" charset="-120"/>
              </a:rPr>
              <a:t>Helmet, CORS, login urinishlari limiti</a:t>
            </a:r>
            <a:endParaRPr lang="en-US" sz="1300" dirty="0"/>
          </a:p>
        </p:txBody>
      </p:sp>
      <p:sp>
        <p:nvSpPr>
          <p:cNvPr id="28" name="Shape 21"/>
          <p:cNvSpPr/>
          <p:nvPr/>
        </p:nvSpPr>
        <p:spPr>
          <a:xfrm>
            <a:off x="6035040" y="3063240"/>
            <a:ext cx="2560320" cy="1508760"/>
          </a:xfrm>
          <a:prstGeom prst="roundRect">
            <a:avLst>
              <a:gd name="adj" fmla="val 7273"/>
            </a:avLst>
          </a:prstGeom>
          <a:solidFill>
            <a:srgbClr val="12505F"/>
          </a:solidFill>
          <a:ln w="12700">
            <a:solidFill>
              <a:srgbClr val="12505F"/>
            </a:solidFill>
            <a:prstDash val="solid"/>
          </a:ln>
        </p:spPr>
      </p:sp>
      <p:sp>
        <p:nvSpPr>
          <p:cNvPr id="29" name="Shape 22"/>
          <p:cNvSpPr/>
          <p:nvPr/>
        </p:nvSpPr>
        <p:spPr>
          <a:xfrm>
            <a:off x="6217920" y="3246120"/>
            <a:ext cx="548640" cy="548640"/>
          </a:xfrm>
          <a:prstGeom prst="ellipse">
            <a:avLst/>
          </a:prstGeom>
          <a:solidFill>
            <a:srgbClr val="F2A541"/>
          </a:solidFill>
          <a:ln w="12700">
            <a:solidFill>
              <a:srgbClr val="F2A541"/>
            </a:solidFill>
            <a:prstDash val="solid"/>
          </a:ln>
        </p:spPr>
      </p:sp>
      <p:pic>
        <p:nvPicPr>
          <p:cNvPr id="30" name="Image 5" descr="preencoded.png">    </p:cNvPr>
          <p:cNvPicPr>
            <a:picLocks noChangeAspect="1"/>
          </p:cNvPicPr>
          <p:nvPr/>
        </p:nvPicPr>
        <p:blipFill>
          <a:blip r:embed="rId6"/>
          <a:stretch>
            <a:fillRect/>
          </a:stretch>
        </p:blipFill>
        <p:spPr>
          <a:xfrm>
            <a:off x="6355080" y="3383280"/>
            <a:ext cx="274320" cy="274320"/>
          </a:xfrm>
          <a:prstGeom prst="rect">
            <a:avLst/>
          </a:prstGeom>
        </p:spPr>
      </p:pic>
      <p:sp>
        <p:nvSpPr>
          <p:cNvPr id="31" name="Text 23"/>
          <p:cNvSpPr txBox="1"/>
          <p:nvPr/>
        </p:nvSpPr>
        <p:spPr>
          <a:xfrm>
            <a:off x="6903720" y="3246120"/>
            <a:ext cx="16002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AI va audit</a:t>
            </a:r>
            <a:endParaRPr lang="en-US" sz="1500" dirty="0"/>
          </a:p>
        </p:txBody>
      </p:sp>
      <p:sp>
        <p:nvSpPr>
          <p:cNvPr id="32" name="Text 24"/>
          <p:cNvSpPr txBox="1"/>
          <p:nvPr/>
        </p:nvSpPr>
        <p:spPr>
          <a:xfrm>
            <a:off x="6217920" y="3931920"/>
            <a:ext cx="2240280" cy="594360"/>
          </a:xfrm>
          <a:prstGeom prst="rect">
            <a:avLst/>
          </a:prstGeom>
          <a:noFill/>
          <a:ln/>
        </p:spPr>
        <p:txBody>
          <a:bodyPr wrap="square" lIns="0" tIns="0" rIns="0" bIns="0" rtlCol="0" anchor="ctr"/>
          <a:lstStyle/>
          <a:p>
            <a:pPr indent="0" marL="0">
              <a:buNone/>
            </a:pPr>
            <a:r>
              <a:rPr lang="en-US" sz="1300" dirty="0">
                <a:solidFill>
                  <a:srgbClr val="CFE8E6"/>
                </a:solidFill>
                <a:latin typeface="Calibri" pitchFamily="34" charset="0"/>
                <a:ea typeface="Calibri" pitchFamily="34" charset="-122"/>
                <a:cs typeface="Calibri" pitchFamily="34" charset="-120"/>
              </a:rPr>
              <a:t>AI faqat o'qiydi, so'rovlar yoziladi; kalitlar .env'da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Texnologiyalar va ma'lumotlar bazasi</a:t>
            </a:r>
            <a:endParaRPr lang="en-US" sz="3600" dirty="0"/>
          </a:p>
        </p:txBody>
      </p:sp>
      <p:sp>
        <p:nvSpPr>
          <p:cNvPr id="3" name="Shape 1"/>
          <p:cNvSpPr/>
          <p:nvPr/>
        </p:nvSpPr>
        <p:spPr>
          <a:xfrm>
            <a:off x="548640" y="1280160"/>
            <a:ext cx="3657600" cy="603504"/>
          </a:xfrm>
          <a:prstGeom prst="roundRect">
            <a:avLst>
              <a:gd name="adj" fmla="val 18182"/>
            </a:avLst>
          </a:prstGeom>
          <a:solidFill>
            <a:srgbClr val="E8F4F3"/>
          </a:solidFill>
          <a:ln w="12700">
            <a:solidFill>
              <a:srgbClr val="E8F4F3"/>
            </a:solidFill>
            <a:prstDash val="solid"/>
          </a:ln>
        </p:spPr>
      </p:sp>
      <p:sp>
        <p:nvSpPr>
          <p:cNvPr id="4" name="Text 2"/>
          <p:cNvSpPr txBox="1"/>
          <p:nvPr/>
        </p:nvSpPr>
        <p:spPr>
          <a:xfrm>
            <a:off x="731520" y="1280160"/>
            <a:ext cx="1097280" cy="603504"/>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Frontend</a:t>
            </a:r>
            <a:endParaRPr lang="en-US" sz="1500" dirty="0"/>
          </a:p>
        </p:txBody>
      </p:sp>
      <p:sp>
        <p:nvSpPr>
          <p:cNvPr id="5" name="Text 3"/>
          <p:cNvSpPr txBox="1"/>
          <p:nvPr/>
        </p:nvSpPr>
        <p:spPr>
          <a:xfrm>
            <a:off x="1783080" y="1280160"/>
            <a:ext cx="2377440" cy="603504"/>
          </a:xfrm>
          <a:prstGeom prst="rect">
            <a:avLst/>
          </a:prstGeom>
          <a:noFill/>
          <a:ln/>
        </p:spPr>
        <p:txBody>
          <a:bodyPr wrap="square" lIns="0" tIns="0" rIns="0" bIns="0" rtlCol="0" anchor="ctr"/>
          <a:lstStyle/>
          <a:p>
            <a:pPr indent="0" marL="0">
              <a:buNone/>
            </a:pPr>
            <a:r>
              <a:rPr lang="en-US" sz="1300" dirty="0">
                <a:solidFill>
                  <a:srgbClr val="1B2B34"/>
                </a:solidFill>
                <a:latin typeface="Calibri" pitchFamily="34" charset="0"/>
                <a:ea typeface="Calibri" pitchFamily="34" charset="-122"/>
                <a:cs typeface="Calibri" pitchFamily="34" charset="-120"/>
              </a:rPr>
              <a:t>React · TypeScript · Vite · Tailwind</a:t>
            </a:r>
            <a:endParaRPr lang="en-US" sz="1300" dirty="0"/>
          </a:p>
        </p:txBody>
      </p:sp>
      <p:sp>
        <p:nvSpPr>
          <p:cNvPr id="6" name="Shape 4"/>
          <p:cNvSpPr/>
          <p:nvPr/>
        </p:nvSpPr>
        <p:spPr>
          <a:xfrm>
            <a:off x="548640" y="1993392"/>
            <a:ext cx="3657600" cy="603504"/>
          </a:xfrm>
          <a:prstGeom prst="roundRect">
            <a:avLst>
              <a:gd name="adj" fmla="val 18182"/>
            </a:avLst>
          </a:prstGeom>
          <a:solidFill>
            <a:srgbClr val="E8F4F3"/>
          </a:solidFill>
          <a:ln w="12700">
            <a:solidFill>
              <a:srgbClr val="E8F4F3"/>
            </a:solidFill>
            <a:prstDash val="solid"/>
          </a:ln>
        </p:spPr>
      </p:sp>
      <p:sp>
        <p:nvSpPr>
          <p:cNvPr id="7" name="Text 5"/>
          <p:cNvSpPr txBox="1"/>
          <p:nvPr/>
        </p:nvSpPr>
        <p:spPr>
          <a:xfrm>
            <a:off x="731520" y="1993392"/>
            <a:ext cx="1097280" cy="603504"/>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Ma'lumot</a:t>
            </a:r>
            <a:endParaRPr lang="en-US" sz="1500" dirty="0"/>
          </a:p>
        </p:txBody>
      </p:sp>
      <p:sp>
        <p:nvSpPr>
          <p:cNvPr id="8" name="Text 6"/>
          <p:cNvSpPr txBox="1"/>
          <p:nvPr/>
        </p:nvSpPr>
        <p:spPr>
          <a:xfrm>
            <a:off x="1783080" y="1993392"/>
            <a:ext cx="2377440" cy="603504"/>
          </a:xfrm>
          <a:prstGeom prst="rect">
            <a:avLst/>
          </a:prstGeom>
          <a:noFill/>
          <a:ln/>
        </p:spPr>
        <p:txBody>
          <a:bodyPr wrap="square" lIns="0" tIns="0" rIns="0" bIns="0" rtlCol="0" anchor="ctr"/>
          <a:lstStyle/>
          <a:p>
            <a:pPr indent="0" marL="0">
              <a:buNone/>
            </a:pPr>
            <a:r>
              <a:rPr lang="en-US" sz="1300" dirty="0">
                <a:solidFill>
                  <a:srgbClr val="1B2B34"/>
                </a:solidFill>
                <a:latin typeface="Calibri" pitchFamily="34" charset="0"/>
                <a:ea typeface="Calibri" pitchFamily="34" charset="-122"/>
                <a:cs typeface="Calibri" pitchFamily="34" charset="-120"/>
              </a:rPr>
              <a:t>TanStack Query · Recharts</a:t>
            </a:r>
            <a:endParaRPr lang="en-US" sz="1300" dirty="0"/>
          </a:p>
        </p:txBody>
      </p:sp>
      <p:sp>
        <p:nvSpPr>
          <p:cNvPr id="9" name="Shape 7"/>
          <p:cNvSpPr/>
          <p:nvPr/>
        </p:nvSpPr>
        <p:spPr>
          <a:xfrm>
            <a:off x="548640" y="2706624"/>
            <a:ext cx="3657600" cy="603504"/>
          </a:xfrm>
          <a:prstGeom prst="roundRect">
            <a:avLst>
              <a:gd name="adj" fmla="val 18182"/>
            </a:avLst>
          </a:prstGeom>
          <a:solidFill>
            <a:srgbClr val="E8F4F3"/>
          </a:solidFill>
          <a:ln w="12700">
            <a:solidFill>
              <a:srgbClr val="E8F4F3"/>
            </a:solidFill>
            <a:prstDash val="solid"/>
          </a:ln>
        </p:spPr>
      </p:sp>
      <p:sp>
        <p:nvSpPr>
          <p:cNvPr id="10" name="Text 8"/>
          <p:cNvSpPr txBox="1"/>
          <p:nvPr/>
        </p:nvSpPr>
        <p:spPr>
          <a:xfrm>
            <a:off x="731520" y="2706624"/>
            <a:ext cx="1097280" cy="603504"/>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Backend</a:t>
            </a:r>
            <a:endParaRPr lang="en-US" sz="1500" dirty="0"/>
          </a:p>
        </p:txBody>
      </p:sp>
      <p:sp>
        <p:nvSpPr>
          <p:cNvPr id="11" name="Text 9"/>
          <p:cNvSpPr txBox="1"/>
          <p:nvPr/>
        </p:nvSpPr>
        <p:spPr>
          <a:xfrm>
            <a:off x="1783080" y="2706624"/>
            <a:ext cx="2377440" cy="603504"/>
          </a:xfrm>
          <a:prstGeom prst="rect">
            <a:avLst/>
          </a:prstGeom>
          <a:noFill/>
          <a:ln/>
        </p:spPr>
        <p:txBody>
          <a:bodyPr wrap="square" lIns="0" tIns="0" rIns="0" bIns="0" rtlCol="0" anchor="ctr"/>
          <a:lstStyle/>
          <a:p>
            <a:pPr indent="0" marL="0">
              <a:buNone/>
            </a:pPr>
            <a:r>
              <a:rPr lang="en-US" sz="1300" dirty="0">
                <a:solidFill>
                  <a:srgbClr val="1B2B34"/>
                </a:solidFill>
                <a:latin typeface="Calibri" pitchFamily="34" charset="0"/>
                <a:ea typeface="Calibri" pitchFamily="34" charset="-122"/>
                <a:cs typeface="Calibri" pitchFamily="34" charset="-120"/>
              </a:rPr>
              <a:t>Node.js · Express · Zod</a:t>
            </a:r>
            <a:endParaRPr lang="en-US" sz="1300" dirty="0"/>
          </a:p>
        </p:txBody>
      </p:sp>
      <p:sp>
        <p:nvSpPr>
          <p:cNvPr id="12" name="Shape 10"/>
          <p:cNvSpPr/>
          <p:nvPr/>
        </p:nvSpPr>
        <p:spPr>
          <a:xfrm>
            <a:off x="548640" y="3419856"/>
            <a:ext cx="3657600" cy="603504"/>
          </a:xfrm>
          <a:prstGeom prst="roundRect">
            <a:avLst>
              <a:gd name="adj" fmla="val 18182"/>
            </a:avLst>
          </a:prstGeom>
          <a:solidFill>
            <a:srgbClr val="E8F4F3"/>
          </a:solidFill>
          <a:ln w="12700">
            <a:solidFill>
              <a:srgbClr val="E8F4F3"/>
            </a:solidFill>
            <a:prstDash val="solid"/>
          </a:ln>
        </p:spPr>
      </p:sp>
      <p:sp>
        <p:nvSpPr>
          <p:cNvPr id="13" name="Text 11"/>
          <p:cNvSpPr txBox="1"/>
          <p:nvPr/>
        </p:nvSpPr>
        <p:spPr>
          <a:xfrm>
            <a:off x="731520" y="3419856"/>
            <a:ext cx="1097280" cy="603504"/>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Baza</a:t>
            </a:r>
            <a:endParaRPr lang="en-US" sz="1500" dirty="0"/>
          </a:p>
        </p:txBody>
      </p:sp>
      <p:sp>
        <p:nvSpPr>
          <p:cNvPr id="14" name="Text 12"/>
          <p:cNvSpPr txBox="1"/>
          <p:nvPr/>
        </p:nvSpPr>
        <p:spPr>
          <a:xfrm>
            <a:off x="1783080" y="3419856"/>
            <a:ext cx="2377440" cy="603504"/>
          </a:xfrm>
          <a:prstGeom prst="rect">
            <a:avLst/>
          </a:prstGeom>
          <a:noFill/>
          <a:ln/>
        </p:spPr>
        <p:txBody>
          <a:bodyPr wrap="square" lIns="0" tIns="0" rIns="0" bIns="0" rtlCol="0" anchor="ctr"/>
          <a:lstStyle/>
          <a:p>
            <a:pPr indent="0" marL="0">
              <a:buNone/>
            </a:pPr>
            <a:r>
              <a:rPr lang="en-US" sz="1300" dirty="0">
                <a:solidFill>
                  <a:srgbClr val="1B2B34"/>
                </a:solidFill>
                <a:latin typeface="Calibri" pitchFamily="34" charset="0"/>
                <a:ea typeface="Calibri" pitchFamily="34" charset="-122"/>
                <a:cs typeface="Calibri" pitchFamily="34" charset="-120"/>
              </a:rPr>
              <a:t>PostgreSQL · Prisma ORM</a:t>
            </a:r>
            <a:endParaRPr lang="en-US" sz="1300" dirty="0"/>
          </a:p>
        </p:txBody>
      </p:sp>
      <p:sp>
        <p:nvSpPr>
          <p:cNvPr id="15" name="Shape 13"/>
          <p:cNvSpPr/>
          <p:nvPr/>
        </p:nvSpPr>
        <p:spPr>
          <a:xfrm>
            <a:off x="548640" y="4133088"/>
            <a:ext cx="3657600" cy="603504"/>
          </a:xfrm>
          <a:prstGeom prst="roundRect">
            <a:avLst>
              <a:gd name="adj" fmla="val 18182"/>
            </a:avLst>
          </a:prstGeom>
          <a:solidFill>
            <a:srgbClr val="E8F4F3"/>
          </a:solidFill>
          <a:ln w="12700">
            <a:solidFill>
              <a:srgbClr val="E8F4F3"/>
            </a:solidFill>
            <a:prstDash val="solid"/>
          </a:ln>
        </p:spPr>
      </p:sp>
      <p:sp>
        <p:nvSpPr>
          <p:cNvPr id="16" name="Text 14"/>
          <p:cNvSpPr txBox="1"/>
          <p:nvPr/>
        </p:nvSpPr>
        <p:spPr>
          <a:xfrm>
            <a:off x="731520" y="4133088"/>
            <a:ext cx="1097280" cy="603504"/>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AI</a:t>
            </a:r>
            <a:endParaRPr lang="en-US" sz="1500" dirty="0"/>
          </a:p>
        </p:txBody>
      </p:sp>
      <p:sp>
        <p:nvSpPr>
          <p:cNvPr id="17" name="Text 15"/>
          <p:cNvSpPr txBox="1"/>
          <p:nvPr/>
        </p:nvSpPr>
        <p:spPr>
          <a:xfrm>
            <a:off x="1783080" y="4133088"/>
            <a:ext cx="2377440" cy="603504"/>
          </a:xfrm>
          <a:prstGeom prst="rect">
            <a:avLst/>
          </a:prstGeom>
          <a:noFill/>
          <a:ln/>
        </p:spPr>
        <p:txBody>
          <a:bodyPr wrap="square" lIns="0" tIns="0" rIns="0" bIns="0" rtlCol="0" anchor="ctr"/>
          <a:lstStyle/>
          <a:p>
            <a:pPr indent="0" marL="0">
              <a:buNone/>
            </a:pPr>
            <a:r>
              <a:rPr lang="en-US" sz="1300" dirty="0">
                <a:solidFill>
                  <a:srgbClr val="1B2B34"/>
                </a:solidFill>
                <a:latin typeface="Calibri" pitchFamily="34" charset="0"/>
                <a:ea typeface="Calibri" pitchFamily="34" charset="-122"/>
                <a:cs typeface="Calibri" pitchFamily="34" charset="-120"/>
              </a:rPr>
              <a:t>OpenRouter · bepul modellar</a:t>
            </a:r>
            <a:endParaRPr lang="en-US" sz="1300" dirty="0"/>
          </a:p>
        </p:txBody>
      </p:sp>
      <p:sp>
        <p:nvSpPr>
          <p:cNvPr id="18" name="Shape 16"/>
          <p:cNvSpPr/>
          <p:nvPr/>
        </p:nvSpPr>
        <p:spPr>
          <a:xfrm>
            <a:off x="4572000" y="1280160"/>
            <a:ext cx="2011680" cy="640080"/>
          </a:xfrm>
          <a:prstGeom prst="roundRect">
            <a:avLst>
              <a:gd name="adj" fmla="val 11429"/>
            </a:avLst>
          </a:prstGeom>
          <a:solidFill>
            <a:srgbClr val="0B3C49"/>
          </a:solidFill>
          <a:ln w="12700">
            <a:solidFill>
              <a:srgbClr val="FFFFFF"/>
            </a:solidFill>
            <a:prstDash val="solid"/>
          </a:ln>
        </p:spPr>
      </p:sp>
      <p:sp>
        <p:nvSpPr>
          <p:cNvPr id="19" name="Text 17"/>
          <p:cNvSpPr txBox="1"/>
          <p:nvPr/>
        </p:nvSpPr>
        <p:spPr>
          <a:xfrm>
            <a:off x="4572000" y="1280160"/>
            <a:ext cx="20116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users</a:t>
            </a:r>
            <a:endParaRPr lang="en-US" sz="1400" dirty="0"/>
          </a:p>
        </p:txBody>
      </p:sp>
      <p:sp>
        <p:nvSpPr>
          <p:cNvPr id="20" name="Shape 18"/>
          <p:cNvSpPr/>
          <p:nvPr/>
        </p:nvSpPr>
        <p:spPr>
          <a:xfrm>
            <a:off x="6766560" y="1280160"/>
            <a:ext cx="2011680" cy="640080"/>
          </a:xfrm>
          <a:prstGeom prst="roundRect">
            <a:avLst>
              <a:gd name="adj" fmla="val 11429"/>
            </a:avLst>
          </a:prstGeom>
          <a:solidFill>
            <a:srgbClr val="0B3C49"/>
          </a:solidFill>
          <a:ln w="12700">
            <a:solidFill>
              <a:srgbClr val="FFFFFF"/>
            </a:solidFill>
            <a:prstDash val="solid"/>
          </a:ln>
        </p:spPr>
      </p:sp>
      <p:sp>
        <p:nvSpPr>
          <p:cNvPr id="21" name="Text 19"/>
          <p:cNvSpPr txBox="1"/>
          <p:nvPr/>
        </p:nvSpPr>
        <p:spPr>
          <a:xfrm>
            <a:off x="6766560" y="1280160"/>
            <a:ext cx="20116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departments</a:t>
            </a:r>
            <a:endParaRPr lang="en-US" sz="1400" dirty="0"/>
          </a:p>
        </p:txBody>
      </p:sp>
      <p:sp>
        <p:nvSpPr>
          <p:cNvPr id="22" name="Shape 20"/>
          <p:cNvSpPr/>
          <p:nvPr/>
        </p:nvSpPr>
        <p:spPr>
          <a:xfrm>
            <a:off x="6766560" y="2286000"/>
            <a:ext cx="2011680" cy="640080"/>
          </a:xfrm>
          <a:prstGeom prst="roundRect">
            <a:avLst>
              <a:gd name="adj" fmla="val 11429"/>
            </a:avLst>
          </a:prstGeom>
          <a:solidFill>
            <a:srgbClr val="0B3C49"/>
          </a:solidFill>
          <a:ln w="12700">
            <a:solidFill>
              <a:srgbClr val="FFFFFF"/>
            </a:solidFill>
            <a:prstDash val="solid"/>
          </a:ln>
        </p:spPr>
      </p:sp>
      <p:sp>
        <p:nvSpPr>
          <p:cNvPr id="23" name="Text 21"/>
          <p:cNvSpPr txBox="1"/>
          <p:nvPr/>
        </p:nvSpPr>
        <p:spPr>
          <a:xfrm>
            <a:off x="6766560" y="2286000"/>
            <a:ext cx="20116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rooms</a:t>
            </a:r>
            <a:endParaRPr lang="en-US" sz="1400" dirty="0"/>
          </a:p>
        </p:txBody>
      </p:sp>
      <p:sp>
        <p:nvSpPr>
          <p:cNvPr id="24" name="Shape 22"/>
          <p:cNvSpPr/>
          <p:nvPr/>
        </p:nvSpPr>
        <p:spPr>
          <a:xfrm>
            <a:off x="4572000" y="2286000"/>
            <a:ext cx="2011680" cy="640080"/>
          </a:xfrm>
          <a:prstGeom prst="roundRect">
            <a:avLst>
              <a:gd name="adj" fmla="val 11429"/>
            </a:avLst>
          </a:prstGeom>
          <a:solidFill>
            <a:srgbClr val="0E7C86"/>
          </a:solidFill>
          <a:ln w="12700">
            <a:solidFill>
              <a:srgbClr val="FFFFFF"/>
            </a:solidFill>
            <a:prstDash val="solid"/>
          </a:ln>
        </p:spPr>
      </p:sp>
      <p:sp>
        <p:nvSpPr>
          <p:cNvPr id="25" name="Text 23"/>
          <p:cNvSpPr txBox="1"/>
          <p:nvPr/>
        </p:nvSpPr>
        <p:spPr>
          <a:xfrm>
            <a:off x="4572000" y="2286000"/>
            <a:ext cx="20116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equipment</a:t>
            </a:r>
            <a:endParaRPr lang="en-US" sz="1400" dirty="0"/>
          </a:p>
        </p:txBody>
      </p:sp>
      <p:sp>
        <p:nvSpPr>
          <p:cNvPr id="26" name="Shape 24"/>
          <p:cNvSpPr/>
          <p:nvPr/>
        </p:nvSpPr>
        <p:spPr>
          <a:xfrm>
            <a:off x="4572000" y="3291840"/>
            <a:ext cx="2011680" cy="640080"/>
          </a:xfrm>
          <a:prstGeom prst="roundRect">
            <a:avLst>
              <a:gd name="adj" fmla="val 11429"/>
            </a:avLst>
          </a:prstGeom>
          <a:solidFill>
            <a:srgbClr val="0B3C49"/>
          </a:solidFill>
          <a:ln w="12700">
            <a:solidFill>
              <a:srgbClr val="FFFFFF"/>
            </a:solidFill>
            <a:prstDash val="solid"/>
          </a:ln>
        </p:spPr>
      </p:sp>
      <p:sp>
        <p:nvSpPr>
          <p:cNvPr id="27" name="Text 25"/>
          <p:cNvSpPr txBox="1"/>
          <p:nvPr/>
        </p:nvSpPr>
        <p:spPr>
          <a:xfrm>
            <a:off x="4572000" y="3291840"/>
            <a:ext cx="20116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equipment_types</a:t>
            </a:r>
            <a:endParaRPr lang="en-US" sz="1400" dirty="0"/>
          </a:p>
        </p:txBody>
      </p:sp>
      <p:sp>
        <p:nvSpPr>
          <p:cNvPr id="28" name="Shape 26"/>
          <p:cNvSpPr/>
          <p:nvPr/>
        </p:nvSpPr>
        <p:spPr>
          <a:xfrm>
            <a:off x="6766560" y="3291840"/>
            <a:ext cx="2011680" cy="640080"/>
          </a:xfrm>
          <a:prstGeom prst="roundRect">
            <a:avLst>
              <a:gd name="adj" fmla="val 11429"/>
            </a:avLst>
          </a:prstGeom>
          <a:solidFill>
            <a:srgbClr val="0B3C49"/>
          </a:solidFill>
          <a:ln w="12700">
            <a:solidFill>
              <a:srgbClr val="FFFFFF"/>
            </a:solidFill>
            <a:prstDash val="solid"/>
          </a:ln>
        </p:spPr>
      </p:sp>
      <p:sp>
        <p:nvSpPr>
          <p:cNvPr id="29" name="Text 27"/>
          <p:cNvSpPr txBox="1"/>
          <p:nvPr/>
        </p:nvSpPr>
        <p:spPr>
          <a:xfrm>
            <a:off x="6766560" y="3291840"/>
            <a:ext cx="20116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repairs</a:t>
            </a:r>
            <a:endParaRPr lang="en-US" sz="1400" dirty="0"/>
          </a:p>
        </p:txBody>
      </p:sp>
      <p:sp>
        <p:nvSpPr>
          <p:cNvPr id="30" name="Shape 28"/>
          <p:cNvSpPr/>
          <p:nvPr/>
        </p:nvSpPr>
        <p:spPr>
          <a:xfrm>
            <a:off x="5669280" y="4297680"/>
            <a:ext cx="2011680" cy="640080"/>
          </a:xfrm>
          <a:prstGeom prst="roundRect">
            <a:avLst>
              <a:gd name="adj" fmla="val 11429"/>
            </a:avLst>
          </a:prstGeom>
          <a:solidFill>
            <a:srgbClr val="0B3C49"/>
          </a:solidFill>
          <a:ln w="12700">
            <a:solidFill>
              <a:srgbClr val="FFFFFF"/>
            </a:solidFill>
            <a:prstDash val="solid"/>
          </a:ln>
        </p:spPr>
      </p:sp>
      <p:sp>
        <p:nvSpPr>
          <p:cNvPr id="31" name="Text 29"/>
          <p:cNvSpPr txBox="1"/>
          <p:nvPr/>
        </p:nvSpPr>
        <p:spPr>
          <a:xfrm>
            <a:off x="5669280" y="4297680"/>
            <a:ext cx="20116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equipment_history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Inventarizatsiya hisoboti</a:t>
            </a:r>
            <a:endParaRPr lang="en-US" sz="3600" dirty="0"/>
          </a:p>
        </p:txBody>
      </p:sp>
      <p:sp>
        <p:nvSpPr>
          <p:cNvPr id="3" name="Shape 1"/>
          <p:cNvSpPr/>
          <p:nvPr/>
        </p:nvSpPr>
        <p:spPr>
          <a:xfrm>
            <a:off x="548640" y="1371600"/>
            <a:ext cx="1005840" cy="457200"/>
          </a:xfrm>
          <a:prstGeom prst="roundRect">
            <a:avLst>
              <a:gd name="adj" fmla="val 20000"/>
            </a:avLst>
          </a:prstGeom>
          <a:solidFill>
            <a:srgbClr val="E8F4F3"/>
          </a:solidFill>
          <a:ln w="12700">
            <a:solidFill>
              <a:srgbClr val="0E7C86"/>
            </a:solidFill>
            <a:prstDash val="solid"/>
          </a:ln>
        </p:spPr>
      </p:sp>
      <p:sp>
        <p:nvSpPr>
          <p:cNvPr id="4" name="Text 2"/>
          <p:cNvSpPr txBox="1"/>
          <p:nvPr/>
        </p:nvSpPr>
        <p:spPr>
          <a:xfrm>
            <a:off x="548640" y="1371600"/>
            <a:ext cx="1005840" cy="457200"/>
          </a:xfrm>
          <a:prstGeom prst="rect">
            <a:avLst/>
          </a:prstGeom>
          <a:noFill/>
          <a:ln/>
        </p:spPr>
        <p:txBody>
          <a:bodyPr wrap="square" lIns="0" tIns="0" rIns="0" bIns="0" rtlCol="0" anchor="ctr"/>
          <a:lstStyle/>
          <a:p>
            <a:pPr algn="ctr" indent="0" marL="0">
              <a:buNone/>
            </a:pPr>
            <a:r>
              <a:rPr lang="en-US" sz="1500" b="1" dirty="0">
                <a:solidFill>
                  <a:srgbClr val="0E7C86"/>
                </a:solidFill>
                <a:latin typeface="Calibri" pitchFamily="34" charset="0"/>
                <a:ea typeface="Calibri" pitchFamily="34" charset="-122"/>
                <a:cs typeface="Calibri" pitchFamily="34" charset="-120"/>
              </a:rPr>
              <a:t>Xona</a:t>
            </a:r>
            <a:endParaRPr lang="en-US" sz="1500" dirty="0"/>
          </a:p>
        </p:txBody>
      </p:sp>
      <p:sp>
        <p:nvSpPr>
          <p:cNvPr id="5" name="Shape 3"/>
          <p:cNvSpPr/>
          <p:nvPr/>
        </p:nvSpPr>
        <p:spPr>
          <a:xfrm>
            <a:off x="1645920" y="1371600"/>
            <a:ext cx="1005840" cy="457200"/>
          </a:xfrm>
          <a:prstGeom prst="roundRect">
            <a:avLst>
              <a:gd name="adj" fmla="val 20000"/>
            </a:avLst>
          </a:prstGeom>
          <a:solidFill>
            <a:srgbClr val="E8F4F3"/>
          </a:solidFill>
          <a:ln w="12700">
            <a:solidFill>
              <a:srgbClr val="0E7C86"/>
            </a:solidFill>
            <a:prstDash val="solid"/>
          </a:ln>
        </p:spPr>
      </p:sp>
      <p:sp>
        <p:nvSpPr>
          <p:cNvPr id="6" name="Text 4"/>
          <p:cNvSpPr txBox="1"/>
          <p:nvPr/>
        </p:nvSpPr>
        <p:spPr>
          <a:xfrm>
            <a:off x="1645920" y="1371600"/>
            <a:ext cx="1005840" cy="457200"/>
          </a:xfrm>
          <a:prstGeom prst="rect">
            <a:avLst/>
          </a:prstGeom>
          <a:noFill/>
          <a:ln/>
        </p:spPr>
        <p:txBody>
          <a:bodyPr wrap="square" lIns="0" tIns="0" rIns="0" bIns="0" rtlCol="0" anchor="ctr"/>
          <a:lstStyle/>
          <a:p>
            <a:pPr algn="ctr" indent="0" marL="0">
              <a:buNone/>
            </a:pPr>
            <a:r>
              <a:rPr lang="en-US" sz="1500" b="1" dirty="0">
                <a:solidFill>
                  <a:srgbClr val="0E7C86"/>
                </a:solidFill>
                <a:latin typeface="Calibri" pitchFamily="34" charset="0"/>
                <a:ea typeface="Calibri" pitchFamily="34" charset="-122"/>
                <a:cs typeface="Calibri" pitchFamily="34" charset="-120"/>
              </a:rPr>
              <a:t>Bo'lim</a:t>
            </a:r>
            <a:endParaRPr lang="en-US" sz="1500" dirty="0"/>
          </a:p>
        </p:txBody>
      </p:sp>
      <p:sp>
        <p:nvSpPr>
          <p:cNvPr id="7" name="Shape 5"/>
          <p:cNvSpPr/>
          <p:nvPr/>
        </p:nvSpPr>
        <p:spPr>
          <a:xfrm>
            <a:off x="548640" y="1920240"/>
            <a:ext cx="1005840" cy="457200"/>
          </a:xfrm>
          <a:prstGeom prst="roundRect">
            <a:avLst>
              <a:gd name="adj" fmla="val 20000"/>
            </a:avLst>
          </a:prstGeom>
          <a:solidFill>
            <a:srgbClr val="E8F4F3"/>
          </a:solidFill>
          <a:ln w="12700">
            <a:solidFill>
              <a:srgbClr val="0E7C86"/>
            </a:solidFill>
            <a:prstDash val="solid"/>
          </a:ln>
        </p:spPr>
      </p:sp>
      <p:sp>
        <p:nvSpPr>
          <p:cNvPr id="8" name="Text 6"/>
          <p:cNvSpPr txBox="1"/>
          <p:nvPr/>
        </p:nvSpPr>
        <p:spPr>
          <a:xfrm>
            <a:off x="548640" y="1920240"/>
            <a:ext cx="1005840" cy="457200"/>
          </a:xfrm>
          <a:prstGeom prst="rect">
            <a:avLst/>
          </a:prstGeom>
          <a:noFill/>
          <a:ln/>
        </p:spPr>
        <p:txBody>
          <a:bodyPr wrap="square" lIns="0" tIns="0" rIns="0" bIns="0" rtlCol="0" anchor="ctr"/>
          <a:lstStyle/>
          <a:p>
            <a:pPr algn="ctr" indent="0" marL="0">
              <a:buNone/>
            </a:pPr>
            <a:r>
              <a:rPr lang="en-US" sz="1500" b="1" dirty="0">
                <a:solidFill>
                  <a:srgbClr val="0E7C86"/>
                </a:solidFill>
                <a:latin typeface="Calibri" pitchFamily="34" charset="0"/>
                <a:ea typeface="Calibri" pitchFamily="34" charset="-122"/>
                <a:cs typeface="Calibri" pitchFamily="34" charset="-120"/>
              </a:rPr>
              <a:t>Tur</a:t>
            </a:r>
            <a:endParaRPr lang="en-US" sz="1500" dirty="0"/>
          </a:p>
        </p:txBody>
      </p:sp>
      <p:sp>
        <p:nvSpPr>
          <p:cNvPr id="9" name="Shape 7"/>
          <p:cNvSpPr/>
          <p:nvPr/>
        </p:nvSpPr>
        <p:spPr>
          <a:xfrm>
            <a:off x="1645920" y="1920240"/>
            <a:ext cx="1005840" cy="457200"/>
          </a:xfrm>
          <a:prstGeom prst="roundRect">
            <a:avLst>
              <a:gd name="adj" fmla="val 20000"/>
            </a:avLst>
          </a:prstGeom>
          <a:solidFill>
            <a:srgbClr val="E8F4F3"/>
          </a:solidFill>
          <a:ln w="12700">
            <a:solidFill>
              <a:srgbClr val="0E7C86"/>
            </a:solidFill>
            <a:prstDash val="solid"/>
          </a:ln>
        </p:spPr>
      </p:sp>
      <p:sp>
        <p:nvSpPr>
          <p:cNvPr id="10" name="Text 8"/>
          <p:cNvSpPr txBox="1"/>
          <p:nvPr/>
        </p:nvSpPr>
        <p:spPr>
          <a:xfrm>
            <a:off x="1645920" y="1920240"/>
            <a:ext cx="1005840" cy="457200"/>
          </a:xfrm>
          <a:prstGeom prst="rect">
            <a:avLst/>
          </a:prstGeom>
          <a:noFill/>
          <a:ln/>
        </p:spPr>
        <p:txBody>
          <a:bodyPr wrap="square" lIns="0" tIns="0" rIns="0" bIns="0" rtlCol="0" anchor="ctr"/>
          <a:lstStyle/>
          <a:p>
            <a:pPr algn="ctr" indent="0" marL="0">
              <a:buNone/>
            </a:pPr>
            <a:r>
              <a:rPr lang="en-US" sz="1500" b="1" dirty="0">
                <a:solidFill>
                  <a:srgbClr val="0E7C86"/>
                </a:solidFill>
                <a:latin typeface="Calibri" pitchFamily="34" charset="0"/>
                <a:ea typeface="Calibri" pitchFamily="34" charset="-122"/>
                <a:cs typeface="Calibri" pitchFamily="34" charset="-120"/>
              </a:rPr>
              <a:t>Holat</a:t>
            </a:r>
            <a:endParaRPr lang="en-US" sz="1500" dirty="0"/>
          </a:p>
        </p:txBody>
      </p:sp>
      <p:sp>
        <p:nvSpPr>
          <p:cNvPr id="11" name="Text 9"/>
          <p:cNvSpPr txBox="1"/>
          <p:nvPr/>
        </p:nvSpPr>
        <p:spPr>
          <a:xfrm>
            <a:off x="548640" y="2514600"/>
            <a:ext cx="4023360" cy="365760"/>
          </a:xfrm>
          <a:prstGeom prst="rect">
            <a:avLst/>
          </a:prstGeom>
          <a:noFill/>
          <a:ln/>
        </p:spPr>
        <p:txBody>
          <a:bodyPr wrap="square" lIns="0" tIns="0" rIns="0" bIns="0" rtlCol="0" anchor="ctr"/>
          <a:lstStyle/>
          <a:p>
            <a:pPr indent="0" marL="0">
              <a:buNone/>
            </a:pPr>
            <a:r>
              <a:rPr lang="en-US" sz="1600" dirty="0">
                <a:solidFill>
                  <a:srgbClr val="0B3C49"/>
                </a:solidFill>
                <a:latin typeface="Calibri" pitchFamily="34" charset="0"/>
                <a:ea typeface="Calibri" pitchFamily="34" charset="-122"/>
                <a:cs typeface="Calibri" pitchFamily="34" charset="-120"/>
              </a:rPr>
              <a:t>Filtrlang → ko'ring → yuklab oling</a:t>
            </a:r>
            <a:endParaRPr lang="en-US" sz="1600" dirty="0"/>
          </a:p>
        </p:txBody>
      </p:sp>
      <p:sp>
        <p:nvSpPr>
          <p:cNvPr id="12" name="Shape 10"/>
          <p:cNvSpPr/>
          <p:nvPr/>
        </p:nvSpPr>
        <p:spPr>
          <a:xfrm>
            <a:off x="4727448" y="1344168"/>
            <a:ext cx="3895344" cy="2980944"/>
          </a:xfrm>
          <a:prstGeom prst="rect">
            <a:avLst/>
          </a:prstGeom>
          <a:solidFill>
            <a:srgbClr val="B8CED3"/>
          </a:solidFill>
          <a:ln w="12700">
            <a:solidFill>
              <a:srgbClr val="B8CED3"/>
            </a:solidFill>
            <a:prstDash val="solid"/>
          </a:ln>
        </p:spPr>
      </p:sp>
      <p:pic>
        <p:nvPicPr>
          <p:cNvPr id="13" name="Image 0" descr="screenshots/report.png">    </p:cNvPr>
          <p:cNvPicPr>
            <a:picLocks noChangeAspect="1"/>
          </p:cNvPicPr>
          <p:nvPr/>
        </p:nvPicPr>
        <p:blipFill>
          <a:blip r:embed="rId1"/>
          <a:srcRect l="0" r="0" t="0" b="0"/>
          <a:stretch/>
        </p:blipFill>
        <p:spPr>
          <a:xfrm>
            <a:off x="4754880" y="1371600"/>
            <a:ext cx="3840480" cy="2926080"/>
          </a:xfrm>
          <a:prstGeom prst="rect">
            <a:avLst/>
          </a:prstGeom>
        </p:spPr>
      </p:pic>
      <p:sp>
        <p:nvSpPr>
          <p:cNvPr id="14" name="Shape 11"/>
          <p:cNvSpPr/>
          <p:nvPr/>
        </p:nvSpPr>
        <p:spPr>
          <a:xfrm>
            <a:off x="548640" y="3017520"/>
            <a:ext cx="731520" cy="731520"/>
          </a:xfrm>
          <a:prstGeom prst="ellipse">
            <a:avLst/>
          </a:prstGeom>
          <a:solidFill>
            <a:srgbClr val="3C9D6B"/>
          </a:solidFill>
          <a:ln w="12700">
            <a:solidFill>
              <a:srgbClr val="3C9D6B"/>
            </a:solidFill>
            <a:prstDash val="solid"/>
          </a:ln>
        </p:spPr>
      </p:sp>
      <p:pic>
        <p:nvPicPr>
          <p:cNvPr id="15" name="Image 1" descr="preencoded.png">    </p:cNvPr>
          <p:cNvPicPr>
            <a:picLocks noChangeAspect="1"/>
          </p:cNvPicPr>
          <p:nvPr/>
        </p:nvPicPr>
        <p:blipFill>
          <a:blip r:embed="rId2"/>
          <a:stretch>
            <a:fillRect/>
          </a:stretch>
        </p:blipFill>
        <p:spPr>
          <a:xfrm>
            <a:off x="731520" y="3200400"/>
            <a:ext cx="365760" cy="365760"/>
          </a:xfrm>
          <a:prstGeom prst="rect">
            <a:avLst/>
          </a:prstGeom>
        </p:spPr>
      </p:pic>
      <p:sp>
        <p:nvSpPr>
          <p:cNvPr id="16" name="Text 12"/>
          <p:cNvSpPr txBox="1"/>
          <p:nvPr/>
        </p:nvSpPr>
        <p:spPr>
          <a:xfrm>
            <a:off x="1463040" y="3017520"/>
            <a:ext cx="2286000" cy="73152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Excel (.xlsx)</a:t>
            </a:r>
            <a:endParaRPr lang="en-US" sz="1600" dirty="0"/>
          </a:p>
        </p:txBody>
      </p:sp>
      <p:sp>
        <p:nvSpPr>
          <p:cNvPr id="17" name="Shape 13"/>
          <p:cNvSpPr/>
          <p:nvPr/>
        </p:nvSpPr>
        <p:spPr>
          <a:xfrm>
            <a:off x="548640" y="3840480"/>
            <a:ext cx="731520" cy="731520"/>
          </a:xfrm>
          <a:prstGeom prst="ellipse">
            <a:avLst/>
          </a:prstGeom>
          <a:solidFill>
            <a:srgbClr val="C8553D"/>
          </a:solidFill>
          <a:ln w="12700">
            <a:solidFill>
              <a:srgbClr val="C8553D"/>
            </a:solidFill>
            <a:prstDash val="solid"/>
          </a:ln>
        </p:spPr>
      </p:sp>
      <p:pic>
        <p:nvPicPr>
          <p:cNvPr id="18" name="Image 2" descr="preencoded.png">    </p:cNvPr>
          <p:cNvPicPr>
            <a:picLocks noChangeAspect="1"/>
          </p:cNvPicPr>
          <p:nvPr/>
        </p:nvPicPr>
        <p:blipFill>
          <a:blip r:embed="rId3"/>
          <a:stretch>
            <a:fillRect/>
          </a:stretch>
        </p:blipFill>
        <p:spPr>
          <a:xfrm>
            <a:off x="731520" y="4023360"/>
            <a:ext cx="365760" cy="365760"/>
          </a:xfrm>
          <a:prstGeom prst="rect">
            <a:avLst/>
          </a:prstGeom>
        </p:spPr>
      </p:pic>
      <p:sp>
        <p:nvSpPr>
          <p:cNvPr id="19" name="Text 14"/>
          <p:cNvSpPr txBox="1"/>
          <p:nvPr/>
        </p:nvSpPr>
        <p:spPr>
          <a:xfrm>
            <a:off x="1463040" y="3840480"/>
            <a:ext cx="2286000" cy="73152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PDF</a:t>
            </a:r>
            <a:endParaRPr lang="en-US" sz="1600" dirty="0"/>
          </a:p>
        </p:txBody>
      </p:sp>
      <p:sp>
        <p:nvSpPr>
          <p:cNvPr id="20" name="Shape 15"/>
          <p:cNvSpPr/>
          <p:nvPr/>
        </p:nvSpPr>
        <p:spPr>
          <a:xfrm>
            <a:off x="2743200" y="3429000"/>
            <a:ext cx="731520" cy="731520"/>
          </a:xfrm>
          <a:prstGeom prst="ellipse">
            <a:avLst/>
          </a:prstGeom>
          <a:solidFill>
            <a:srgbClr val="0E7C86"/>
          </a:solidFill>
          <a:ln w="12700">
            <a:solidFill>
              <a:srgbClr val="0E7C86"/>
            </a:solidFill>
            <a:prstDash val="solid"/>
          </a:ln>
        </p:spPr>
      </p:sp>
      <p:pic>
        <p:nvPicPr>
          <p:cNvPr id="21" name="Image 3" descr="preencoded.png">    </p:cNvPr>
          <p:cNvPicPr>
            <a:picLocks noChangeAspect="1"/>
          </p:cNvPicPr>
          <p:nvPr/>
        </p:nvPicPr>
        <p:blipFill>
          <a:blip r:embed="rId4"/>
          <a:stretch>
            <a:fillRect/>
          </a:stretch>
        </p:blipFill>
        <p:spPr>
          <a:xfrm>
            <a:off x="2926080" y="3611880"/>
            <a:ext cx="365760" cy="365760"/>
          </a:xfrm>
          <a:prstGeom prst="rect">
            <a:avLst/>
          </a:prstGeom>
        </p:spPr>
      </p:pic>
      <p:sp>
        <p:nvSpPr>
          <p:cNvPr id="22" name="Text 16"/>
          <p:cNvSpPr txBox="1"/>
          <p:nvPr/>
        </p:nvSpPr>
        <p:spPr>
          <a:xfrm>
            <a:off x="3566160" y="3429000"/>
            <a:ext cx="1097280" cy="731520"/>
          </a:xfrm>
          <a:prstGeom prst="rect">
            <a:avLst/>
          </a:prstGeom>
          <a:noFill/>
          <a:ln/>
        </p:spPr>
        <p:txBody>
          <a:bodyPr wrap="square" lIns="0" tIns="0" rIns="0" bIns="0" rtlCol="0" anchor="ctr"/>
          <a:lstStyle/>
          <a:p>
            <a:pPr indent="0" marL="0">
              <a:buNone/>
            </a:pPr>
            <a:r>
              <a:rPr lang="en-US" sz="1600" b="1" dirty="0">
                <a:solidFill>
                  <a:srgbClr val="0B3C49"/>
                </a:solidFill>
                <a:latin typeface="Calibri" pitchFamily="34" charset="0"/>
                <a:ea typeface="Calibri" pitchFamily="34" charset="-122"/>
                <a:cs typeface="Calibri" pitchFamily="34" charset="-120"/>
              </a:rPr>
              <a:t>Chop etish</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Natija va kelajak rejalari</a:t>
            </a:r>
            <a:endParaRPr lang="en-US" sz="3600" dirty="0"/>
          </a:p>
        </p:txBody>
      </p:sp>
      <p:sp>
        <p:nvSpPr>
          <p:cNvPr id="3" name="Shape 1"/>
          <p:cNvSpPr/>
          <p:nvPr/>
        </p:nvSpPr>
        <p:spPr>
          <a:xfrm>
            <a:off x="548640" y="1371600"/>
            <a:ext cx="3840480" cy="2926080"/>
          </a:xfrm>
          <a:prstGeom prst="roundRect">
            <a:avLst>
              <a:gd name="adj" fmla="val 3750"/>
            </a:avLst>
          </a:prstGeom>
          <a:solidFill>
            <a:srgbClr val="E8F4F3"/>
          </a:solidFill>
          <a:ln w="12700">
            <a:solidFill>
              <a:srgbClr val="E8F4F3"/>
            </a:solidFill>
            <a:prstDash val="solid"/>
          </a:ln>
        </p:spPr>
      </p:sp>
      <p:sp>
        <p:nvSpPr>
          <p:cNvPr id="4" name="Shape 2"/>
          <p:cNvSpPr/>
          <p:nvPr/>
        </p:nvSpPr>
        <p:spPr>
          <a:xfrm>
            <a:off x="4754880" y="1371600"/>
            <a:ext cx="3840480" cy="2926080"/>
          </a:xfrm>
          <a:prstGeom prst="roundRect">
            <a:avLst>
              <a:gd name="adj" fmla="val 3750"/>
            </a:avLst>
          </a:prstGeom>
          <a:solidFill>
            <a:srgbClr val="FDF1DC"/>
          </a:solidFill>
          <a:ln w="12700">
            <a:solidFill>
              <a:srgbClr val="FDF1DC"/>
            </a:solidFill>
            <a:prstDash val="solid"/>
          </a:ln>
        </p:spPr>
      </p:sp>
      <p:sp>
        <p:nvSpPr>
          <p:cNvPr id="5" name="Text 3"/>
          <p:cNvSpPr txBox="1"/>
          <p:nvPr/>
        </p:nvSpPr>
        <p:spPr>
          <a:xfrm>
            <a:off x="822960" y="1554480"/>
            <a:ext cx="3291840" cy="457200"/>
          </a:xfrm>
          <a:prstGeom prst="rect">
            <a:avLst/>
          </a:prstGeom>
          <a:noFill/>
          <a:ln/>
        </p:spPr>
        <p:txBody>
          <a:bodyPr wrap="square" lIns="0" tIns="0" rIns="0" bIns="0" rtlCol="0" anchor="ctr"/>
          <a:lstStyle/>
          <a:p>
            <a:pPr indent="0" marL="0">
              <a:buNone/>
            </a:pPr>
            <a:r>
              <a:rPr lang="en-US" sz="2200" b="1" dirty="0">
                <a:solidFill>
                  <a:srgbClr val="0E7C86"/>
                </a:solidFill>
                <a:latin typeface="Calibri" pitchFamily="34" charset="0"/>
                <a:ea typeface="Calibri" pitchFamily="34" charset="-122"/>
                <a:cs typeface="Calibri" pitchFamily="34" charset="-120"/>
              </a:rPr>
              <a:t>Natija</a:t>
            </a:r>
            <a:endParaRPr lang="en-US" sz="2200" dirty="0"/>
          </a:p>
        </p:txBody>
      </p:sp>
      <p:sp>
        <p:nvSpPr>
          <p:cNvPr id="6" name="Text 4"/>
          <p:cNvSpPr txBox="1"/>
          <p:nvPr/>
        </p:nvSpPr>
        <p:spPr>
          <a:xfrm>
            <a:off x="822960" y="2103120"/>
            <a:ext cx="3291840" cy="2011680"/>
          </a:xfrm>
          <a:prstGeom prst="rect">
            <a:avLst/>
          </a:prstGeom>
          <a:noFill/>
          <a:ln/>
        </p:spPr>
        <p:txBody>
          <a:bodyPr wrap="square" lIns="0" tIns="0" rIns="0" bIns="0" rtlCol="0" anchor="ctr"/>
          <a:lstStyle/>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Yagona elektron hisob</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To'liq tarix</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Tez hisobot</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Xavfsiz kirish</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AI yordamchi</a:t>
            </a:r>
            <a:endParaRPr lang="en-US" sz="1800" dirty="0"/>
          </a:p>
        </p:txBody>
      </p:sp>
      <p:sp>
        <p:nvSpPr>
          <p:cNvPr id="7" name="Text 5"/>
          <p:cNvSpPr txBox="1"/>
          <p:nvPr/>
        </p:nvSpPr>
        <p:spPr>
          <a:xfrm>
            <a:off x="5029200" y="1554480"/>
            <a:ext cx="3291840" cy="457200"/>
          </a:xfrm>
          <a:prstGeom prst="rect">
            <a:avLst/>
          </a:prstGeom>
          <a:noFill/>
          <a:ln/>
        </p:spPr>
        <p:txBody>
          <a:bodyPr wrap="square" lIns="0" tIns="0" rIns="0" bIns="0" rtlCol="0" anchor="ctr"/>
          <a:lstStyle/>
          <a:p>
            <a:pPr indent="0" marL="0">
              <a:buNone/>
            </a:pPr>
            <a:r>
              <a:rPr lang="en-US" sz="2200" b="1" dirty="0">
                <a:solidFill>
                  <a:srgbClr val="B9770E"/>
                </a:solidFill>
                <a:latin typeface="Calibri" pitchFamily="34" charset="0"/>
                <a:ea typeface="Calibri" pitchFamily="34" charset="-122"/>
                <a:cs typeface="Calibri" pitchFamily="34" charset="-120"/>
              </a:rPr>
              <a:t>Kelajak</a:t>
            </a:r>
            <a:endParaRPr lang="en-US" sz="2200" dirty="0"/>
          </a:p>
        </p:txBody>
      </p:sp>
      <p:sp>
        <p:nvSpPr>
          <p:cNvPr id="8" name="Text 6"/>
          <p:cNvSpPr txBox="1"/>
          <p:nvPr/>
        </p:nvSpPr>
        <p:spPr>
          <a:xfrm>
            <a:off x="5029200" y="2103120"/>
            <a:ext cx="3291840" cy="2011680"/>
          </a:xfrm>
          <a:prstGeom prst="rect">
            <a:avLst/>
          </a:prstGeom>
          <a:noFill/>
          <a:ln/>
        </p:spPr>
        <p:txBody>
          <a:bodyPr wrap="square" lIns="0" tIns="0" rIns="0" bIns="0" rtlCol="0" anchor="ctr"/>
          <a:lstStyle/>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AI: tahliliy xulosalar</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QR / shtrix-kod skaner</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Bildirishnomalar</a:t>
            </a:r>
            <a:endParaRPr lang="en-US" sz="1800" dirty="0"/>
          </a:p>
          <a:p>
            <a:pPr marL="342900" indent="-342900">
              <a:spcAft>
                <a:spcPts val="600"/>
              </a:spcAft>
              <a:buSzPct val="100000"/>
              <a:buChar char="•"/>
            </a:pPr>
            <a:r>
              <a:rPr lang="en-US" sz="1800" dirty="0">
                <a:solidFill>
                  <a:srgbClr val="1B2B34"/>
                </a:solidFill>
                <a:latin typeface="Calibri" pitchFamily="34" charset="0"/>
                <a:ea typeface="Calibri" pitchFamily="34" charset="-122"/>
                <a:cs typeface="Calibri" pitchFamily="34" charset="-120"/>
              </a:rPr>
              <a:t>Mobil ilova</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0B3C49"/>
                </a:solidFill>
                <a:latin typeface="Cambria" pitchFamily="34" charset="0"/>
                <a:ea typeface="Cambria" pitchFamily="34" charset="-122"/>
                <a:cs typeface="Cambria" pitchFamily="34" charset="-120"/>
              </a:rPr>
              <a:t>Jamoa: 404 Found</a:t>
            </a:r>
            <a:endParaRPr lang="en-US" sz="3600" dirty="0"/>
          </a:p>
        </p:txBody>
      </p:sp>
      <p:sp>
        <p:nvSpPr>
          <p:cNvPr id="3" name="Shape 1"/>
          <p:cNvSpPr/>
          <p:nvPr/>
        </p:nvSpPr>
        <p:spPr>
          <a:xfrm>
            <a:off x="548640" y="1280160"/>
            <a:ext cx="2560320" cy="1600200"/>
          </a:xfrm>
          <a:prstGeom prst="roundRect">
            <a:avLst>
              <a:gd name="adj" fmla="val 6857"/>
            </a:avLst>
          </a:prstGeom>
          <a:solidFill>
            <a:srgbClr val="E8F4F3"/>
          </a:solidFill>
          <a:ln w="12700">
            <a:solidFill>
              <a:srgbClr val="E8F4F3"/>
            </a:solidFill>
            <a:prstDash val="solid"/>
          </a:ln>
        </p:spPr>
      </p:sp>
      <p:sp>
        <p:nvSpPr>
          <p:cNvPr id="4" name="Shape 2"/>
          <p:cNvSpPr/>
          <p:nvPr/>
        </p:nvSpPr>
        <p:spPr>
          <a:xfrm>
            <a:off x="731520" y="1463040"/>
            <a:ext cx="548640" cy="548640"/>
          </a:xfrm>
          <a:prstGeom prst="ellipse">
            <a:avLst/>
          </a:prstGeom>
          <a:solidFill>
            <a:srgbClr val="0E7C86"/>
          </a:solidFill>
          <a:ln w="12700">
            <a:solidFill>
              <a:srgbClr val="0E7C86"/>
            </a:solidFill>
            <a:prstDash val="solid"/>
          </a:ln>
        </p:spPr>
      </p:sp>
      <p:pic>
        <p:nvPicPr>
          <p:cNvPr id="5" name="Image 0" descr="preencoded.png">    </p:cNvPr>
          <p:cNvPicPr>
            <a:picLocks noChangeAspect="1"/>
          </p:cNvPicPr>
          <p:nvPr/>
        </p:nvPicPr>
        <p:blipFill>
          <a:blip r:embed="rId1"/>
          <a:stretch>
            <a:fillRect/>
          </a:stretch>
        </p:blipFill>
        <p:spPr>
          <a:xfrm>
            <a:off x="868680" y="1600200"/>
            <a:ext cx="274320" cy="274320"/>
          </a:xfrm>
          <a:prstGeom prst="rect">
            <a:avLst/>
          </a:prstGeom>
        </p:spPr>
      </p:pic>
      <p:sp>
        <p:nvSpPr>
          <p:cNvPr id="6" name="Text 3"/>
          <p:cNvSpPr txBox="1"/>
          <p:nvPr/>
        </p:nvSpPr>
        <p:spPr>
          <a:xfrm>
            <a:off x="1417320" y="1417320"/>
            <a:ext cx="1600200" cy="64008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Boynazarov Nurmuhammad</a:t>
            </a:r>
            <a:endParaRPr lang="en-US" sz="1300" dirty="0"/>
          </a:p>
        </p:txBody>
      </p:sp>
      <p:sp>
        <p:nvSpPr>
          <p:cNvPr id="7" name="Text 4"/>
          <p:cNvSpPr txBox="1"/>
          <p:nvPr/>
        </p:nvSpPr>
        <p:spPr>
          <a:xfrm>
            <a:off x="731520" y="2148840"/>
            <a:ext cx="2240280" cy="27432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Project Manager</a:t>
            </a:r>
            <a:endParaRPr lang="en-US" sz="1300" dirty="0"/>
          </a:p>
        </p:txBody>
      </p:sp>
      <p:sp>
        <p:nvSpPr>
          <p:cNvPr id="8" name="Text 5"/>
          <p:cNvSpPr txBox="1"/>
          <p:nvPr/>
        </p:nvSpPr>
        <p:spPr>
          <a:xfrm>
            <a:off x="731520" y="2423160"/>
            <a:ext cx="2240280" cy="411480"/>
          </a:xfrm>
          <a:prstGeom prst="rect">
            <a:avLst/>
          </a:prstGeom>
          <a:noFill/>
          <a:ln/>
        </p:spPr>
        <p:txBody>
          <a:bodyPr wrap="square" lIns="0" tIns="0" rIns="0" bIns="0" rtlCol="0" anchor="ctr"/>
          <a:lstStyle/>
          <a:p>
            <a:pPr indent="0" marL="0">
              <a:buNone/>
            </a:pPr>
            <a:r>
              <a:rPr lang="en-US" sz="1100" dirty="0">
                <a:solidFill>
                  <a:srgbClr val="5E7480"/>
                </a:solidFill>
                <a:latin typeface="Calibri" pitchFamily="34" charset="0"/>
                <a:ea typeface="Calibri" pitchFamily="34" charset="-122"/>
                <a:cs typeface="Calibri" pitchFamily="34" charset="-120"/>
              </a:rPr>
              <a:t>Reja, vazifalar taqsimoti, muddat va taqdimot</a:t>
            </a:r>
            <a:endParaRPr lang="en-US" sz="1100" dirty="0"/>
          </a:p>
        </p:txBody>
      </p:sp>
      <p:sp>
        <p:nvSpPr>
          <p:cNvPr id="9" name="Shape 6"/>
          <p:cNvSpPr/>
          <p:nvPr/>
        </p:nvSpPr>
        <p:spPr>
          <a:xfrm>
            <a:off x="3291840" y="1280160"/>
            <a:ext cx="2560320" cy="1600200"/>
          </a:xfrm>
          <a:prstGeom prst="roundRect">
            <a:avLst>
              <a:gd name="adj" fmla="val 6857"/>
            </a:avLst>
          </a:prstGeom>
          <a:solidFill>
            <a:srgbClr val="E8F4F3"/>
          </a:solidFill>
          <a:ln w="12700">
            <a:solidFill>
              <a:srgbClr val="E8F4F3"/>
            </a:solidFill>
            <a:prstDash val="solid"/>
          </a:ln>
        </p:spPr>
      </p:sp>
      <p:sp>
        <p:nvSpPr>
          <p:cNvPr id="10" name="Shape 7"/>
          <p:cNvSpPr/>
          <p:nvPr/>
        </p:nvSpPr>
        <p:spPr>
          <a:xfrm>
            <a:off x="3474720" y="1463040"/>
            <a:ext cx="548640" cy="548640"/>
          </a:xfrm>
          <a:prstGeom prst="ellipse">
            <a:avLst/>
          </a:prstGeom>
          <a:solidFill>
            <a:srgbClr val="14A3A8"/>
          </a:solidFill>
          <a:ln w="12700">
            <a:solidFill>
              <a:srgbClr val="14A3A8"/>
            </a:solidFill>
            <a:prstDash val="solid"/>
          </a:ln>
        </p:spPr>
      </p:sp>
      <p:pic>
        <p:nvPicPr>
          <p:cNvPr id="11" name="Image 1" descr="preencoded.png">    </p:cNvPr>
          <p:cNvPicPr>
            <a:picLocks noChangeAspect="1"/>
          </p:cNvPicPr>
          <p:nvPr/>
        </p:nvPicPr>
        <p:blipFill>
          <a:blip r:embed="rId2"/>
          <a:stretch>
            <a:fillRect/>
          </a:stretch>
        </p:blipFill>
        <p:spPr>
          <a:xfrm>
            <a:off x="3611880" y="1600200"/>
            <a:ext cx="274320" cy="274320"/>
          </a:xfrm>
          <a:prstGeom prst="rect">
            <a:avLst/>
          </a:prstGeom>
        </p:spPr>
      </p:pic>
      <p:sp>
        <p:nvSpPr>
          <p:cNvPr id="12" name="Text 8"/>
          <p:cNvSpPr txBox="1"/>
          <p:nvPr/>
        </p:nvSpPr>
        <p:spPr>
          <a:xfrm>
            <a:off x="4160520" y="1417320"/>
            <a:ext cx="1600200" cy="64008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Dalerbek Artikmuratov</a:t>
            </a:r>
            <a:endParaRPr lang="en-US" sz="1300" dirty="0"/>
          </a:p>
        </p:txBody>
      </p:sp>
      <p:sp>
        <p:nvSpPr>
          <p:cNvPr id="13" name="Text 9"/>
          <p:cNvSpPr txBox="1"/>
          <p:nvPr/>
        </p:nvSpPr>
        <p:spPr>
          <a:xfrm>
            <a:off x="3474720" y="2148840"/>
            <a:ext cx="2240280" cy="27432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Full-Stack va AI Engineer</a:t>
            </a:r>
            <a:endParaRPr lang="en-US" sz="1300" dirty="0"/>
          </a:p>
        </p:txBody>
      </p:sp>
      <p:sp>
        <p:nvSpPr>
          <p:cNvPr id="14" name="Text 10"/>
          <p:cNvSpPr txBox="1"/>
          <p:nvPr/>
        </p:nvSpPr>
        <p:spPr>
          <a:xfrm>
            <a:off x="3474720" y="2423160"/>
            <a:ext cx="2240280" cy="411480"/>
          </a:xfrm>
          <a:prstGeom prst="rect">
            <a:avLst/>
          </a:prstGeom>
          <a:noFill/>
          <a:ln/>
        </p:spPr>
        <p:txBody>
          <a:bodyPr wrap="square" lIns="0" tIns="0" rIns="0" bIns="0" rtlCol="0" anchor="ctr"/>
          <a:lstStyle/>
          <a:p>
            <a:pPr indent="0" marL="0">
              <a:buNone/>
            </a:pPr>
            <a:r>
              <a:rPr lang="en-US" sz="1100" dirty="0">
                <a:solidFill>
                  <a:srgbClr val="5E7480"/>
                </a:solidFill>
                <a:latin typeface="Calibri" pitchFamily="34" charset="0"/>
                <a:ea typeface="Calibri" pitchFamily="34" charset="-122"/>
                <a:cs typeface="Calibri" pitchFamily="34" charset="-120"/>
              </a:rPr>
              <a:t>Arxitektura, integratsiya, AI yordamchi</a:t>
            </a:r>
            <a:endParaRPr lang="en-US" sz="1100" dirty="0"/>
          </a:p>
        </p:txBody>
      </p:sp>
      <p:sp>
        <p:nvSpPr>
          <p:cNvPr id="15" name="Shape 11"/>
          <p:cNvSpPr/>
          <p:nvPr/>
        </p:nvSpPr>
        <p:spPr>
          <a:xfrm>
            <a:off x="6035040" y="1280160"/>
            <a:ext cx="2560320" cy="1600200"/>
          </a:xfrm>
          <a:prstGeom prst="roundRect">
            <a:avLst>
              <a:gd name="adj" fmla="val 6857"/>
            </a:avLst>
          </a:prstGeom>
          <a:solidFill>
            <a:srgbClr val="E8F4F3"/>
          </a:solidFill>
          <a:ln w="12700">
            <a:solidFill>
              <a:srgbClr val="E8F4F3"/>
            </a:solidFill>
            <a:prstDash val="solid"/>
          </a:ln>
        </p:spPr>
      </p:sp>
      <p:sp>
        <p:nvSpPr>
          <p:cNvPr id="16" name="Shape 12"/>
          <p:cNvSpPr/>
          <p:nvPr/>
        </p:nvSpPr>
        <p:spPr>
          <a:xfrm>
            <a:off x="6217920" y="1463040"/>
            <a:ext cx="548640" cy="548640"/>
          </a:xfrm>
          <a:prstGeom prst="ellipse">
            <a:avLst/>
          </a:prstGeom>
          <a:solidFill>
            <a:srgbClr val="0E7C86"/>
          </a:solidFill>
          <a:ln w="12700">
            <a:solidFill>
              <a:srgbClr val="0E7C86"/>
            </a:solidFill>
            <a:prstDash val="solid"/>
          </a:ln>
        </p:spPr>
      </p:sp>
      <p:pic>
        <p:nvPicPr>
          <p:cNvPr id="17" name="Image 2" descr="preencoded.png">    </p:cNvPr>
          <p:cNvPicPr>
            <a:picLocks noChangeAspect="1"/>
          </p:cNvPicPr>
          <p:nvPr/>
        </p:nvPicPr>
        <p:blipFill>
          <a:blip r:embed="rId3"/>
          <a:stretch>
            <a:fillRect/>
          </a:stretch>
        </p:blipFill>
        <p:spPr>
          <a:xfrm>
            <a:off x="6355080" y="1600200"/>
            <a:ext cx="274320" cy="274320"/>
          </a:xfrm>
          <a:prstGeom prst="rect">
            <a:avLst/>
          </a:prstGeom>
        </p:spPr>
      </p:pic>
      <p:sp>
        <p:nvSpPr>
          <p:cNvPr id="18" name="Text 13"/>
          <p:cNvSpPr txBox="1"/>
          <p:nvPr/>
        </p:nvSpPr>
        <p:spPr>
          <a:xfrm>
            <a:off x="6903720" y="1417320"/>
            <a:ext cx="1600200" cy="64008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Ro’ziboyev G’olibjon</a:t>
            </a:r>
            <a:endParaRPr lang="en-US" sz="1300" dirty="0"/>
          </a:p>
        </p:txBody>
      </p:sp>
      <p:sp>
        <p:nvSpPr>
          <p:cNvPr id="19" name="Text 14"/>
          <p:cNvSpPr txBox="1"/>
          <p:nvPr/>
        </p:nvSpPr>
        <p:spPr>
          <a:xfrm>
            <a:off x="6217920" y="2148840"/>
            <a:ext cx="2240280" cy="27432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Backend Developer</a:t>
            </a:r>
            <a:endParaRPr lang="en-US" sz="1300" dirty="0"/>
          </a:p>
        </p:txBody>
      </p:sp>
      <p:sp>
        <p:nvSpPr>
          <p:cNvPr id="20" name="Text 15"/>
          <p:cNvSpPr txBox="1"/>
          <p:nvPr/>
        </p:nvSpPr>
        <p:spPr>
          <a:xfrm>
            <a:off x="6217920" y="2423160"/>
            <a:ext cx="2240280" cy="411480"/>
          </a:xfrm>
          <a:prstGeom prst="rect">
            <a:avLst/>
          </a:prstGeom>
          <a:noFill/>
          <a:ln/>
        </p:spPr>
        <p:txBody>
          <a:bodyPr wrap="square" lIns="0" tIns="0" rIns="0" bIns="0" rtlCol="0" anchor="ctr"/>
          <a:lstStyle/>
          <a:p>
            <a:pPr indent="0" marL="0">
              <a:buNone/>
            </a:pPr>
            <a:r>
              <a:rPr lang="en-US" sz="1100" dirty="0">
                <a:solidFill>
                  <a:srgbClr val="5E7480"/>
                </a:solidFill>
                <a:latin typeface="Calibri" pitchFamily="34" charset="0"/>
                <a:ea typeface="Calibri" pitchFamily="34" charset="-122"/>
                <a:cs typeface="Calibri" pitchFamily="34" charset="-120"/>
              </a:rPr>
              <a:t>API, ma'lumotlar bazasi, xavfsizlik</a:t>
            </a:r>
            <a:endParaRPr lang="en-US" sz="1100" dirty="0"/>
          </a:p>
        </p:txBody>
      </p:sp>
      <p:sp>
        <p:nvSpPr>
          <p:cNvPr id="21" name="Shape 16"/>
          <p:cNvSpPr/>
          <p:nvPr/>
        </p:nvSpPr>
        <p:spPr>
          <a:xfrm>
            <a:off x="548640" y="3063240"/>
            <a:ext cx="2560320" cy="1600200"/>
          </a:xfrm>
          <a:prstGeom prst="roundRect">
            <a:avLst>
              <a:gd name="adj" fmla="val 6857"/>
            </a:avLst>
          </a:prstGeom>
          <a:solidFill>
            <a:srgbClr val="E8F4F3"/>
          </a:solidFill>
          <a:ln w="12700">
            <a:solidFill>
              <a:srgbClr val="E8F4F3"/>
            </a:solidFill>
            <a:prstDash val="solid"/>
          </a:ln>
        </p:spPr>
      </p:sp>
      <p:sp>
        <p:nvSpPr>
          <p:cNvPr id="22" name="Shape 17"/>
          <p:cNvSpPr/>
          <p:nvPr/>
        </p:nvSpPr>
        <p:spPr>
          <a:xfrm>
            <a:off x="731520" y="3246120"/>
            <a:ext cx="548640" cy="548640"/>
          </a:xfrm>
          <a:prstGeom prst="ellipse">
            <a:avLst/>
          </a:prstGeom>
          <a:solidFill>
            <a:srgbClr val="14A3A8"/>
          </a:solidFill>
          <a:ln w="12700">
            <a:solidFill>
              <a:srgbClr val="14A3A8"/>
            </a:solidFill>
            <a:prstDash val="solid"/>
          </a:ln>
        </p:spPr>
      </p:sp>
      <p:pic>
        <p:nvPicPr>
          <p:cNvPr id="23" name="Image 3" descr="preencoded.png">    </p:cNvPr>
          <p:cNvPicPr>
            <a:picLocks noChangeAspect="1"/>
          </p:cNvPicPr>
          <p:nvPr/>
        </p:nvPicPr>
        <p:blipFill>
          <a:blip r:embed="rId4"/>
          <a:stretch>
            <a:fillRect/>
          </a:stretch>
        </p:blipFill>
        <p:spPr>
          <a:xfrm>
            <a:off x="868680" y="3383280"/>
            <a:ext cx="274320" cy="274320"/>
          </a:xfrm>
          <a:prstGeom prst="rect">
            <a:avLst/>
          </a:prstGeom>
        </p:spPr>
      </p:pic>
      <p:sp>
        <p:nvSpPr>
          <p:cNvPr id="24" name="Text 18"/>
          <p:cNvSpPr txBox="1"/>
          <p:nvPr/>
        </p:nvSpPr>
        <p:spPr>
          <a:xfrm>
            <a:off x="1417320" y="3200400"/>
            <a:ext cx="1600200" cy="64008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Yo’ldosheva Sanobar</a:t>
            </a:r>
            <a:endParaRPr lang="en-US" sz="1300" dirty="0"/>
          </a:p>
        </p:txBody>
      </p:sp>
      <p:sp>
        <p:nvSpPr>
          <p:cNvPr id="25" name="Text 19"/>
          <p:cNvSpPr txBox="1"/>
          <p:nvPr/>
        </p:nvSpPr>
        <p:spPr>
          <a:xfrm>
            <a:off x="731520" y="3931920"/>
            <a:ext cx="2240280" cy="27432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Frontend Developer</a:t>
            </a:r>
            <a:endParaRPr lang="en-US" sz="1300" dirty="0"/>
          </a:p>
        </p:txBody>
      </p:sp>
      <p:sp>
        <p:nvSpPr>
          <p:cNvPr id="26" name="Text 20"/>
          <p:cNvSpPr txBox="1"/>
          <p:nvPr/>
        </p:nvSpPr>
        <p:spPr>
          <a:xfrm>
            <a:off x="731520" y="4206240"/>
            <a:ext cx="2240280" cy="411480"/>
          </a:xfrm>
          <a:prstGeom prst="rect">
            <a:avLst/>
          </a:prstGeom>
          <a:noFill/>
          <a:ln/>
        </p:spPr>
        <p:txBody>
          <a:bodyPr wrap="square" lIns="0" tIns="0" rIns="0" bIns="0" rtlCol="0" anchor="ctr"/>
          <a:lstStyle/>
          <a:p>
            <a:pPr indent="0" marL="0">
              <a:buNone/>
            </a:pPr>
            <a:r>
              <a:rPr lang="en-US" sz="1100" dirty="0">
                <a:solidFill>
                  <a:srgbClr val="5E7480"/>
                </a:solidFill>
                <a:latin typeface="Calibri" pitchFamily="34" charset="0"/>
                <a:ea typeface="Calibri" pitchFamily="34" charset="-122"/>
                <a:cs typeface="Calibri" pitchFamily="34" charset="-120"/>
              </a:rPr>
              <a:t>Interfeys, dashboard, responsive dizayn</a:t>
            </a:r>
            <a:endParaRPr lang="en-US" sz="1100" dirty="0"/>
          </a:p>
        </p:txBody>
      </p:sp>
      <p:sp>
        <p:nvSpPr>
          <p:cNvPr id="27" name="Shape 21"/>
          <p:cNvSpPr/>
          <p:nvPr/>
        </p:nvSpPr>
        <p:spPr>
          <a:xfrm>
            <a:off x="3291840" y="3063240"/>
            <a:ext cx="2560320" cy="1600200"/>
          </a:xfrm>
          <a:prstGeom prst="roundRect">
            <a:avLst>
              <a:gd name="adj" fmla="val 6857"/>
            </a:avLst>
          </a:prstGeom>
          <a:solidFill>
            <a:srgbClr val="E8F4F3"/>
          </a:solidFill>
          <a:ln w="12700">
            <a:solidFill>
              <a:srgbClr val="E8F4F3"/>
            </a:solidFill>
            <a:prstDash val="solid"/>
          </a:ln>
        </p:spPr>
      </p:sp>
      <p:sp>
        <p:nvSpPr>
          <p:cNvPr id="28" name="Shape 22"/>
          <p:cNvSpPr/>
          <p:nvPr/>
        </p:nvSpPr>
        <p:spPr>
          <a:xfrm>
            <a:off x="3474720" y="3246120"/>
            <a:ext cx="548640" cy="548640"/>
          </a:xfrm>
          <a:prstGeom prst="ellipse">
            <a:avLst/>
          </a:prstGeom>
          <a:solidFill>
            <a:srgbClr val="0E7C86"/>
          </a:solidFill>
          <a:ln w="12700">
            <a:solidFill>
              <a:srgbClr val="0E7C86"/>
            </a:solidFill>
            <a:prstDash val="solid"/>
          </a:ln>
        </p:spPr>
      </p:sp>
      <p:pic>
        <p:nvPicPr>
          <p:cNvPr id="29" name="Image 4" descr="preencoded.png">    </p:cNvPr>
          <p:cNvPicPr>
            <a:picLocks noChangeAspect="1"/>
          </p:cNvPicPr>
          <p:nvPr/>
        </p:nvPicPr>
        <p:blipFill>
          <a:blip r:embed="rId5"/>
          <a:stretch>
            <a:fillRect/>
          </a:stretch>
        </p:blipFill>
        <p:spPr>
          <a:xfrm>
            <a:off x="3611880" y="3383280"/>
            <a:ext cx="274320" cy="274320"/>
          </a:xfrm>
          <a:prstGeom prst="rect">
            <a:avLst/>
          </a:prstGeom>
        </p:spPr>
      </p:pic>
      <p:sp>
        <p:nvSpPr>
          <p:cNvPr id="30" name="Text 23"/>
          <p:cNvSpPr txBox="1"/>
          <p:nvPr/>
        </p:nvSpPr>
        <p:spPr>
          <a:xfrm>
            <a:off x="4160520" y="3200400"/>
            <a:ext cx="1600200" cy="64008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Eshnazarova Feruza</a:t>
            </a:r>
            <a:endParaRPr lang="en-US" sz="1300" dirty="0"/>
          </a:p>
        </p:txBody>
      </p:sp>
      <p:sp>
        <p:nvSpPr>
          <p:cNvPr id="31" name="Text 24"/>
          <p:cNvSpPr txBox="1"/>
          <p:nvPr/>
        </p:nvSpPr>
        <p:spPr>
          <a:xfrm>
            <a:off x="3474720" y="3931920"/>
            <a:ext cx="2240280" cy="27432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Data Analyst</a:t>
            </a:r>
            <a:endParaRPr lang="en-US" sz="1300" dirty="0"/>
          </a:p>
        </p:txBody>
      </p:sp>
      <p:sp>
        <p:nvSpPr>
          <p:cNvPr id="32" name="Text 25"/>
          <p:cNvSpPr txBox="1"/>
          <p:nvPr/>
        </p:nvSpPr>
        <p:spPr>
          <a:xfrm>
            <a:off x="3474720" y="4206240"/>
            <a:ext cx="2240280" cy="411480"/>
          </a:xfrm>
          <a:prstGeom prst="rect">
            <a:avLst/>
          </a:prstGeom>
          <a:noFill/>
          <a:ln/>
        </p:spPr>
        <p:txBody>
          <a:bodyPr wrap="square" lIns="0" tIns="0" rIns="0" bIns="0" rtlCol="0" anchor="ctr"/>
          <a:lstStyle/>
          <a:p>
            <a:pPr indent="0" marL="0">
              <a:buNone/>
            </a:pPr>
            <a:r>
              <a:rPr lang="en-US" sz="1100" dirty="0">
                <a:solidFill>
                  <a:srgbClr val="5E7480"/>
                </a:solidFill>
                <a:latin typeface="Calibri" pitchFamily="34" charset="0"/>
                <a:ea typeface="Calibri" pitchFamily="34" charset="-122"/>
                <a:cs typeface="Calibri" pitchFamily="34" charset="-120"/>
              </a:rPr>
              <a:t>Hisobotlar, ko'rsatkichlar, ma'lumot tahlili</a:t>
            </a:r>
            <a:endParaRPr lang="en-US" sz="1100" dirty="0"/>
          </a:p>
        </p:txBody>
      </p:sp>
      <p:sp>
        <p:nvSpPr>
          <p:cNvPr id="33" name="Shape 26"/>
          <p:cNvSpPr/>
          <p:nvPr/>
        </p:nvSpPr>
        <p:spPr>
          <a:xfrm>
            <a:off x="6035040" y="3063240"/>
            <a:ext cx="2560320" cy="1600200"/>
          </a:xfrm>
          <a:prstGeom prst="roundRect">
            <a:avLst>
              <a:gd name="adj" fmla="val 6857"/>
            </a:avLst>
          </a:prstGeom>
          <a:solidFill>
            <a:srgbClr val="E8F4F3"/>
          </a:solidFill>
          <a:ln w="12700">
            <a:solidFill>
              <a:srgbClr val="E8F4F3"/>
            </a:solidFill>
            <a:prstDash val="solid"/>
          </a:ln>
        </p:spPr>
      </p:sp>
      <p:sp>
        <p:nvSpPr>
          <p:cNvPr id="34" name="Shape 27"/>
          <p:cNvSpPr/>
          <p:nvPr/>
        </p:nvSpPr>
        <p:spPr>
          <a:xfrm>
            <a:off x="6217920" y="3246120"/>
            <a:ext cx="548640" cy="548640"/>
          </a:xfrm>
          <a:prstGeom prst="ellipse">
            <a:avLst/>
          </a:prstGeom>
          <a:solidFill>
            <a:srgbClr val="14A3A8"/>
          </a:solidFill>
          <a:ln w="12700">
            <a:solidFill>
              <a:srgbClr val="14A3A8"/>
            </a:solidFill>
            <a:prstDash val="solid"/>
          </a:ln>
        </p:spPr>
      </p:sp>
      <p:pic>
        <p:nvPicPr>
          <p:cNvPr id="35" name="Image 5" descr="preencoded.png">    </p:cNvPr>
          <p:cNvPicPr>
            <a:picLocks noChangeAspect="1"/>
          </p:cNvPicPr>
          <p:nvPr/>
        </p:nvPicPr>
        <p:blipFill>
          <a:blip r:embed="rId6"/>
          <a:stretch>
            <a:fillRect/>
          </a:stretch>
        </p:blipFill>
        <p:spPr>
          <a:xfrm>
            <a:off x="6355080" y="3383280"/>
            <a:ext cx="274320" cy="274320"/>
          </a:xfrm>
          <a:prstGeom prst="rect">
            <a:avLst/>
          </a:prstGeom>
        </p:spPr>
      </p:pic>
      <p:sp>
        <p:nvSpPr>
          <p:cNvPr id="36" name="Text 28"/>
          <p:cNvSpPr txBox="1"/>
          <p:nvPr/>
        </p:nvSpPr>
        <p:spPr>
          <a:xfrm>
            <a:off x="6903720" y="3200400"/>
            <a:ext cx="1600200" cy="64008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Tursunov Atham</a:t>
            </a:r>
            <a:endParaRPr lang="en-US" sz="1300" dirty="0"/>
          </a:p>
        </p:txBody>
      </p:sp>
      <p:sp>
        <p:nvSpPr>
          <p:cNvPr id="37" name="Text 29"/>
          <p:cNvSpPr txBox="1"/>
          <p:nvPr/>
        </p:nvSpPr>
        <p:spPr>
          <a:xfrm>
            <a:off x="6217920" y="3931920"/>
            <a:ext cx="2240280" cy="27432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QA va hujjatlar</a:t>
            </a:r>
            <a:endParaRPr lang="en-US" sz="1300" dirty="0"/>
          </a:p>
        </p:txBody>
      </p:sp>
      <p:sp>
        <p:nvSpPr>
          <p:cNvPr id="38" name="Text 30"/>
          <p:cNvSpPr txBox="1"/>
          <p:nvPr/>
        </p:nvSpPr>
        <p:spPr>
          <a:xfrm>
            <a:off x="6217920" y="4206240"/>
            <a:ext cx="2240280" cy="411480"/>
          </a:xfrm>
          <a:prstGeom prst="rect">
            <a:avLst/>
          </a:prstGeom>
          <a:noFill/>
          <a:ln/>
        </p:spPr>
        <p:txBody>
          <a:bodyPr wrap="square" lIns="0" tIns="0" rIns="0" bIns="0" rtlCol="0" anchor="ctr"/>
          <a:lstStyle/>
          <a:p>
            <a:pPr indent="0" marL="0">
              <a:buNone/>
            </a:pPr>
            <a:r>
              <a:rPr lang="en-US" sz="1100" dirty="0">
                <a:solidFill>
                  <a:srgbClr val="5E7480"/>
                </a:solidFill>
                <a:latin typeface="Calibri" pitchFamily="34" charset="0"/>
                <a:ea typeface="Calibri" pitchFamily="34" charset="-122"/>
                <a:cs typeface="Calibri" pitchFamily="34" charset="-120"/>
              </a:rPr>
              <a:t>Testlash, foydalanuvchi qo'llanmasi, demo ma'lumotlar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1371600" y="2926080"/>
            <a:ext cx="4114800" cy="4114800"/>
          </a:xfrm>
          <a:prstGeom prst="ellipse">
            <a:avLst/>
          </a:prstGeom>
          <a:solidFill>
            <a:srgbClr val="0E7C86"/>
          </a:solidFill>
          <a:ln w="12700">
            <a:solidFill>
              <a:srgbClr val="0E7C86"/>
            </a:solidFill>
            <a:prstDash val="solid"/>
          </a:ln>
        </p:spPr>
      </p:sp>
      <p:sp>
        <p:nvSpPr>
          <p:cNvPr id="3" name="Text 1"/>
          <p:cNvSpPr txBox="1"/>
          <p:nvPr/>
        </p:nvSpPr>
        <p:spPr>
          <a:xfrm>
            <a:off x="731520" y="1463040"/>
            <a:ext cx="768096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E'tiboringiz uchun rahmat!</a:t>
            </a:r>
            <a:endParaRPr lang="en-US" sz="4400" dirty="0"/>
          </a:p>
        </p:txBody>
      </p:sp>
      <p:sp>
        <p:nvSpPr>
          <p:cNvPr id="4" name="Text 2"/>
          <p:cNvSpPr txBox="1"/>
          <p:nvPr/>
        </p:nvSpPr>
        <p:spPr>
          <a:xfrm>
            <a:off x="731520" y="2651760"/>
            <a:ext cx="7680960" cy="548640"/>
          </a:xfrm>
          <a:prstGeom prst="rect">
            <a:avLst/>
          </a:prstGeom>
          <a:noFill/>
          <a:ln/>
        </p:spPr>
        <p:txBody>
          <a:bodyPr wrap="square" lIns="0" tIns="0" rIns="0" bIns="0" rtlCol="0" anchor="ctr"/>
          <a:lstStyle/>
          <a:p>
            <a:pPr algn="ctr" indent="0" marL="0">
              <a:buNone/>
            </a:pPr>
            <a:r>
              <a:rPr lang="en-US" sz="2400" dirty="0">
                <a:solidFill>
                  <a:srgbClr val="F2A541"/>
                </a:solidFill>
                <a:latin typeface="Calibri" pitchFamily="34" charset="0"/>
                <a:ea typeface="Calibri" pitchFamily="34" charset="-122"/>
                <a:cs typeface="Calibri" pitchFamily="34" charset="-120"/>
              </a:rPr>
              <a:t>Savol-javob</a:t>
            </a:r>
            <a:endParaRPr lang="en-US" sz="2400" dirty="0"/>
          </a:p>
        </p:txBody>
      </p:sp>
      <p:sp>
        <p:nvSpPr>
          <p:cNvPr id="5" name="Text 3"/>
          <p:cNvSpPr txBox="1"/>
          <p:nvPr/>
        </p:nvSpPr>
        <p:spPr>
          <a:xfrm>
            <a:off x="731520" y="4023360"/>
            <a:ext cx="7680960" cy="365760"/>
          </a:xfrm>
          <a:prstGeom prst="rect">
            <a:avLst/>
          </a:prstGeom>
          <a:noFill/>
          <a:ln/>
        </p:spPr>
        <p:txBody>
          <a:bodyPr wrap="square" lIns="0" tIns="0" rIns="0" bIns="0" rtlCol="0" anchor="ctr"/>
          <a:lstStyle/>
          <a:p>
            <a:pPr algn="ctr" indent="0" marL="0">
              <a:buNone/>
            </a:pPr>
            <a:r>
              <a:rPr lang="en-US" sz="1600" dirty="0">
                <a:solidFill>
                  <a:srgbClr val="BFE6E4"/>
                </a:solidFill>
                <a:latin typeface="Calibri" pitchFamily="34" charset="0"/>
                <a:ea typeface="Calibri" pitchFamily="34" charset="-122"/>
                <a:cs typeface="Calibri" pitchFamily="34" charset="-120"/>
              </a:rPr>
              <a:t>InvenTrack · 404 Found</a:t>
            </a:r>
            <a:endParaRPr lang="en-US" sz="1600" dirty="0"/>
          </a:p>
        </p:txBody>
      </p:sp>
    </p:spTree>
  </p:cSld>
  <p:clrMapOvr>
    <a:masterClrMapping/>
  </p:clrMapOvr>
</p:sld>
</file>

<file path=ppt/theme/theme1.xml><?xml version="1.0" encoding="utf-8"?>
<a:theme xmlns:a="http://schemas.openxmlformats.org/drawingml/2006/main" name="InvenTrack">
  <a:themeElements>
    <a:clrScheme name="InvenTrack">
      <a:dk1>
        <a:srgbClr val="1B2B34"/>
      </a:dk1>
      <a:lt1>
        <a:srgbClr val="FFFFFF"/>
      </a:lt1>
      <a:dk2>
        <a:srgbClr val="0B3C49"/>
      </a:dk2>
      <a:lt2>
        <a:srgbClr val="E8F4F3"/>
      </a:lt2>
      <a:accent1>
        <a:srgbClr val="0E7C86"/>
      </a:accent1>
      <a:accent2>
        <a:srgbClr val="14A3A8"/>
      </a:accent2>
      <a:accent3>
        <a:srgbClr val="F2A541"/>
      </a:accent3>
      <a:accent4>
        <a:srgbClr val="5B7C99"/>
      </a:accent4>
      <a:accent5>
        <a:srgbClr val="C8553D"/>
      </a:accent5>
      <a:accent6>
        <a:srgbClr val="3C9D6B"/>
      </a:accent6>
      <a:hlink>
        <a:srgbClr val="0E7C86"/>
      </a:hlink>
      <a:folHlink>
        <a:srgbClr val="5B7C99"/>
      </a:folHlink>
    </a:clrScheme>
    <a:fontScheme name="InvenTr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InvenTrack</dc:title>
  <dc:subject>PptxGenJS Presentation</dc:subject>
  <dc:creator>404 Found</dc:creator>
  <cp:lastModifiedBy>404 Found</cp:lastModifiedBy>
  <cp:revision>1</cp:revision>
  <dcterms:created xsi:type="dcterms:W3CDTF">2026-10-14T08:12:04Z</dcterms:created>
  <dcterms:modified xsi:type="dcterms:W3CDTF">2026-10-14T08:12:04Z</dcterms:modified>
</cp:coreProperties>
</file>